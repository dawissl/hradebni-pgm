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4"/>
  </p:sldMasterIdLst>
  <p:sldIdLst>
    <p:sldId id="262" r:id="rId5"/>
    <p:sldId id="264" r:id="rId6"/>
    <p:sldId id="263" r:id="rId7"/>
    <p:sldId id="265" r:id="rId8"/>
    <p:sldId id="266" r:id="rId9"/>
    <p:sldId id="267" r:id="rId10"/>
    <p:sldId id="268" r:id="rId11"/>
  </p:sldIdLst>
  <p:sldSz cx="12192000" cy="6858000"/>
  <p:notesSz cx="7559675" cy="106918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99A78-AA4E-E5B1-E038-3EFADB21DCB2}" v="241" dt="2025-10-08T18:09:16.535"/>
    <p1510:client id="{52690CBD-F93D-4ACF-9D96-3E21FD6512D0}" v="14" dt="2025-10-08T18:10:19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5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161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88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92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57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873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42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09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32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58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58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44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D5C296-F4B1-4AE5-8EEB-9FEB7ED17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101010 datové řádky do nekonečna">
            <a:extLst>
              <a:ext uri="{FF2B5EF4-FFF2-40B4-BE49-F238E27FC236}">
                <a16:creationId xmlns:a16="http://schemas.microsoft.com/office/drawing/2014/main" id="{1BB65B34-9E3F-9201-511D-01C09717B44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20746" r="9094" b="197"/>
          <a:stretch>
            <a:fillRect/>
          </a:stretch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C1ACE66-194D-48C4-A14A-6933B3528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>
              <a:lumMod val="50000"/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A567F48-5112-B3BA-4275-92116BD52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1298448"/>
            <a:ext cx="3765280" cy="3255264"/>
          </a:xfrm>
        </p:spPr>
        <p:txBody>
          <a:bodyPr>
            <a:normAutofit/>
          </a:bodyPr>
          <a:lstStyle/>
          <a:p>
            <a:r>
              <a:rPr lang="cs-CZ" sz="4600" dirty="0"/>
              <a:t>Lambda funkce</a:t>
            </a:r>
            <a:br>
              <a:rPr lang="cs-CZ" sz="4600" dirty="0"/>
            </a:br>
            <a:r>
              <a:rPr lang="cs-CZ" sz="4600" dirty="0"/>
              <a:t>LINQ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EBDC762-5A73-D41C-44AE-DF00CD9EA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670246"/>
            <a:ext cx="3685069" cy="914400"/>
          </a:xfrm>
        </p:spPr>
        <p:txBody>
          <a:bodyPr>
            <a:normAutofit/>
          </a:bodyPr>
          <a:lstStyle/>
          <a:p>
            <a:r>
              <a:rPr lang="cs-CZ" dirty="0"/>
              <a:t>Programování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5B886A-7ED1-4B77-819B-76ACBEFB0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0A03681-4C7E-7902-9201-D73B6956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FCB3348-DD7F-43CE-81EF-37688976BC99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10/8/2025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06906D5-1B44-132B-28FE-ECC8857F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97A42C4-2CA9-C626-0C23-EAE1DB5D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42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59C4D4B-E0F4-4F1C-BA68-1E99FCEAD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>
                <a:solidFill>
                  <a:schemeClr val="tx1">
                    <a:lumMod val="85000"/>
                    <a:lumOff val="15000"/>
                  </a:schemeClr>
                </a:solidFill>
              </a:rPr>
              <a:t>Původ lambda funkcí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E4D03E-FE03-08D5-69F7-3BB71E474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Lambda kalkul = matematický model pro popis funkcí a výpočtů</a:t>
            </a:r>
          </a:p>
          <a:p>
            <a:r>
              <a:rPr lang="cs-CZ" dirty="0">
                <a:ea typeface="+mn-lt"/>
                <a:cs typeface="+mn-lt"/>
              </a:rPr>
              <a:t>Lambda kalkul se stal teoretickým základem </a:t>
            </a:r>
            <a:r>
              <a:rPr lang="cs-CZ" b="1" dirty="0">
                <a:ea typeface="+mn-lt"/>
                <a:cs typeface="+mn-lt"/>
              </a:rPr>
              <a:t>funkcionálního programování</a:t>
            </a:r>
          </a:p>
          <a:p>
            <a:r>
              <a:rPr lang="cs-CZ" b="1" dirty="0" err="1"/>
              <a:t>Haskell</a:t>
            </a:r>
            <a:endParaRPr lang="cs-CZ" b="1"/>
          </a:p>
          <a:p>
            <a:r>
              <a:rPr lang="cs-CZ" dirty="0"/>
              <a:t>Velmi časté využívání rekurzivních funkcí </a:t>
            </a:r>
          </a:p>
          <a:p>
            <a:r>
              <a:rPr lang="cs-CZ" dirty="0"/>
              <a:t>V C# součástí od roku 2007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30F2192-B92C-D10A-AC90-4BBB80CEB4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0D66A54-EA52-4112-88D8-5210ABC9533D}" type="datetime1">
              <a:pPr>
                <a:spcAft>
                  <a:spcPts val="600"/>
                </a:spcAft>
              </a:pPr>
              <a:t>08.10.2025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2798F1A-17EE-AB6C-9480-16BE146B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D0A825-9C87-A7A7-5018-E81CDE49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69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C6140BF-37E5-608F-7C51-23E38F831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randview Display"/>
              </a:rPr>
              <a:t>Přínos lambda funkcí v C#</a:t>
            </a:r>
          </a:p>
          <a:p>
            <a:pPr algn="r"/>
            <a:endParaRPr lang="cs-CZ" sz="2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B85E51-6534-4308-D43B-76C4578B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>
                <a:latin typeface="Grandview Display"/>
              </a:rPr>
              <a:t>Malé anonymní funkce, které se chovají jako běžné funkce</a:t>
            </a:r>
          </a:p>
          <a:p>
            <a:r>
              <a:rPr lang="cs-CZ">
                <a:latin typeface="Grandview Display"/>
              </a:rPr>
              <a:t>Nejčastěji se využívají pro krátké funkce</a:t>
            </a:r>
          </a:p>
          <a:p>
            <a:r>
              <a:rPr lang="cs-CZ">
                <a:latin typeface="Grandview Display"/>
              </a:rPr>
              <a:t>Vyjadřují v čistší podobě použití dané funkce</a:t>
            </a:r>
          </a:p>
          <a:p>
            <a:r>
              <a:rPr lang="cs-CZ">
                <a:latin typeface="Grandview Display"/>
              </a:rPr>
              <a:t>Lambda funkcím můžeme přiřadit jméno</a:t>
            </a:r>
            <a:endParaRPr lang="cs-CZ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26FC607-D1C8-C07B-461C-184A15BE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EADA429-8AAD-4E09-ADF7-22AA09CAE344}" type="datetime1">
              <a:pPr>
                <a:spcAft>
                  <a:spcPts val="600"/>
                </a:spcAft>
              </a:pPr>
              <a:t>08.10.2025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3ECA97-3A78-ACC0-4F1F-6FC19691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B6A36FA-C53A-9620-DF45-3B0C1D79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4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5A33F52-A009-3B05-B973-387026E0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>
                <a:solidFill>
                  <a:schemeClr val="tx1">
                    <a:lumMod val="85000"/>
                    <a:lumOff val="15000"/>
                  </a:schemeClr>
                </a:solidFill>
              </a:rPr>
              <a:t>Syntaxe lambda funkcí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190C726-B252-80C6-B134-5F75290F6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>
                <a:latin typeface="Grandview Display"/>
              </a:rPr>
              <a:t>Datový typ vstupních parametrů je odvozen na základě</a:t>
            </a:r>
          </a:p>
          <a:p>
            <a:r>
              <a:rPr lang="cs-CZ">
                <a:latin typeface="Grandview Display"/>
              </a:rPr>
              <a:t>Vložené hodnoty</a:t>
            </a:r>
          </a:p>
          <a:p>
            <a:r>
              <a:rPr lang="cs-CZ">
                <a:latin typeface="Grandview Display"/>
              </a:rPr>
              <a:t>Použitých operátorů</a:t>
            </a:r>
          </a:p>
          <a:p>
            <a:endParaRPr lang="cs-CZ" dirty="0">
              <a:latin typeface="Grandview Display"/>
            </a:endParaRPr>
          </a:p>
          <a:p>
            <a:r>
              <a:rPr lang="cs-CZ" b="1">
                <a:latin typeface="Grandview Display"/>
              </a:rPr>
              <a:t>(parametry) =&gt; výraz</a:t>
            </a:r>
          </a:p>
          <a:p>
            <a:r>
              <a:rPr lang="cs-CZ">
                <a:latin typeface="Grandview Display"/>
              </a:rPr>
              <a:t>Parametry jsou vstupními argumenty</a:t>
            </a:r>
          </a:p>
          <a:p>
            <a:r>
              <a:rPr lang="cs-CZ">
                <a:latin typeface="Grandview Display"/>
              </a:rPr>
              <a:t>Výraz je krátký kód pracující s parametry</a:t>
            </a:r>
          </a:p>
          <a:p>
            <a:endParaRPr lang="cs-CZ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DDE1980-4C03-AE9C-7FFC-6C38B4B9B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7682C15-5040-453D-951B-0F3D9B73CADD}" type="datetime1">
              <a:pPr>
                <a:spcAft>
                  <a:spcPts val="600"/>
                </a:spcAft>
              </a:pPr>
              <a:t>08.10.2025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DCE088-D12C-7E85-AA00-A5C0A987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88AA30A-448F-9913-060B-5B087924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76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6A9C2DA-C712-AC78-9FF6-F250CEBB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>
                <a:solidFill>
                  <a:schemeClr val="tx1">
                    <a:lumMod val="85000"/>
                    <a:lumOff val="15000"/>
                  </a:schemeClr>
                </a:solidFill>
              </a:rPr>
              <a:t>Příklad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88CD2B-EE7A-7511-6D80-19908079E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b="1" dirty="0"/>
              <a:t>X =&gt; X * X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Funkce vrací mocninu vložené hodnoty</a:t>
            </a:r>
          </a:p>
          <a:p>
            <a:r>
              <a:rPr lang="cs-CZ" b="1" dirty="0"/>
              <a:t>(X, Y) =&gt; X + Y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Funkce vrací součet dvou hodnot</a:t>
            </a:r>
          </a:p>
          <a:p>
            <a:r>
              <a:rPr lang="cs-CZ" b="1" dirty="0" err="1"/>
              <a:t>Func</a:t>
            </a:r>
            <a:r>
              <a:rPr lang="cs-CZ" b="1" dirty="0"/>
              <a:t>&lt;</a:t>
            </a:r>
            <a:r>
              <a:rPr lang="cs-CZ" b="1" dirty="0" err="1"/>
              <a:t>int</a:t>
            </a:r>
            <a:r>
              <a:rPr lang="cs-CZ" b="1" dirty="0"/>
              <a:t>, </a:t>
            </a:r>
            <a:r>
              <a:rPr lang="cs-CZ" b="1" dirty="0" err="1"/>
              <a:t>int</a:t>
            </a:r>
            <a:r>
              <a:rPr lang="cs-CZ" b="1" dirty="0"/>
              <a:t>, </a:t>
            </a:r>
            <a:r>
              <a:rPr lang="cs-CZ" b="1" dirty="0" err="1"/>
              <a:t>bool</a:t>
            </a:r>
            <a:r>
              <a:rPr lang="cs-CZ" b="1" dirty="0"/>
              <a:t>&gt; shodne = (x, y) =&gt; x == y;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Přiřazení jména lambda funkci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907D5D6-8BC4-BE16-D984-E3885FAE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360CD2E-677A-433F-9237-521AE69A0964}" type="datetime1">
              <a:pPr>
                <a:spcAft>
                  <a:spcPts val="600"/>
                </a:spcAft>
              </a:pPr>
              <a:t>08.10.2025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360CDE6-A75A-741C-6920-85E15CF3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D5729F-C14C-9DB2-E225-56A11C58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00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40CE6CD-79C3-158B-F77B-B3AD10095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LINQ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AC2EF1-E577-D177-2BAF-690EA95E2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b="1" err="1"/>
              <a:t>Language-Integrated</a:t>
            </a:r>
            <a:r>
              <a:rPr lang="cs-CZ" b="1" dirty="0"/>
              <a:t> </a:t>
            </a:r>
            <a:r>
              <a:rPr lang="cs-CZ" b="1" err="1"/>
              <a:t>Query</a:t>
            </a:r>
            <a:endParaRPr lang="cs-CZ" b="1" dirty="0"/>
          </a:p>
          <a:p>
            <a:r>
              <a:rPr lang="cs-CZ" dirty="0"/>
              <a:t>Tvorba dotazovacích výrazů podobných SQL</a:t>
            </a:r>
          </a:p>
          <a:p>
            <a:r>
              <a:rPr lang="cs-CZ" dirty="0"/>
              <a:t>Vhodné pro práci s kolekcemi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Vyhledávání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Seřazení dle parametru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Výběr počtu prvků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Filtrování</a:t>
            </a:r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Hromadná úprava nad prvky</a:t>
            </a:r>
          </a:p>
          <a:p>
            <a:endParaRPr lang="cs-CZ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731E4FA-8CCA-1B76-AE25-EFB60C60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7DEE0F4-DEED-4209-98D6-059278500C92}" type="datetime1">
              <a:pPr>
                <a:spcAft>
                  <a:spcPts val="600"/>
                </a:spcAft>
              </a:pPr>
              <a:t>08.10.2025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5D6B586-4D19-46CF-E877-55388D98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5AA926F-7990-FDFC-A34B-D0F5961E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33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A2E4916-71C1-A566-7DCB-808237EA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cs-CZ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Lambda funkce s LINQ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4FD56A-A2CE-02C3-56E4-B943F60F7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cs-CZ" dirty="0"/>
              <a:t>Mějme třídu Animal, která má atributy </a:t>
            </a:r>
            <a:r>
              <a:rPr lang="cs-CZ" dirty="0" err="1"/>
              <a:t>jmeno</a:t>
            </a:r>
            <a:r>
              <a:rPr lang="cs-CZ" dirty="0"/>
              <a:t>, vek</a:t>
            </a:r>
            <a:endParaRPr lang="cs-CZ"/>
          </a:p>
          <a:p>
            <a:r>
              <a:rPr lang="cs-CZ" dirty="0"/>
              <a:t>Mějme seznam zvířat Listr&lt;Animal&gt; </a:t>
            </a:r>
            <a:r>
              <a:rPr lang="cs-CZ" dirty="0" err="1"/>
              <a:t>zvirata</a:t>
            </a:r>
            <a:endParaRPr lang="cs-CZ" err="1"/>
          </a:p>
          <a:p>
            <a:endParaRPr lang="cs-CZ"/>
          </a:p>
          <a:p>
            <a:r>
              <a:rPr lang="cs-CZ" i="1" err="1"/>
              <a:t>Zvirata.OderBy</a:t>
            </a:r>
            <a:r>
              <a:rPr lang="cs-CZ" i="1" dirty="0"/>
              <a:t>(x =&gt; </a:t>
            </a:r>
            <a:r>
              <a:rPr lang="cs-CZ" i="1" err="1"/>
              <a:t>x.vek</a:t>
            </a:r>
            <a:r>
              <a:rPr lang="cs-CZ" i="1" dirty="0"/>
              <a:t>)</a:t>
            </a:r>
            <a:endParaRPr lang="cs-CZ" i="1"/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Seřazení podle parametru věk</a:t>
            </a:r>
            <a:endParaRPr lang="cs-CZ"/>
          </a:p>
          <a:p>
            <a:r>
              <a:rPr lang="cs-CZ" i="1" err="1"/>
              <a:t>Zvirata.Where</a:t>
            </a:r>
            <a:r>
              <a:rPr lang="cs-CZ" i="1" dirty="0"/>
              <a:t>( x =&gt; </a:t>
            </a:r>
            <a:r>
              <a:rPr lang="cs-CZ" i="1" err="1"/>
              <a:t>x.vek</a:t>
            </a:r>
            <a:r>
              <a:rPr lang="cs-CZ" i="1" dirty="0"/>
              <a:t> &gt; 10)</a:t>
            </a:r>
            <a:endParaRPr lang="cs-CZ" i="1"/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Získání zvířat starších než 10 let</a:t>
            </a:r>
            <a:endParaRPr lang="cs-CZ"/>
          </a:p>
          <a:p>
            <a:r>
              <a:rPr lang="cs-CZ" i="1" err="1"/>
              <a:t>Zvirata.Select</a:t>
            </a:r>
            <a:r>
              <a:rPr lang="cs-CZ" i="1" dirty="0"/>
              <a:t>(x =&gt; x.name == „</a:t>
            </a:r>
            <a:r>
              <a:rPr lang="cs-CZ" i="1" err="1"/>
              <a:t>Mo</a:t>
            </a:r>
            <a:r>
              <a:rPr lang="cs-CZ" i="1" dirty="0"/>
              <a:t>“ &amp;&amp; </a:t>
            </a:r>
            <a:r>
              <a:rPr lang="cs-CZ" i="1" err="1"/>
              <a:t>x.vek</a:t>
            </a:r>
            <a:r>
              <a:rPr lang="cs-CZ" i="1" dirty="0"/>
              <a:t> == 4)</a:t>
            </a:r>
            <a:endParaRPr lang="cs-CZ" i="1"/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Nelezení zvířat se jménem </a:t>
            </a:r>
            <a:r>
              <a:rPr lang="cs-CZ" err="1"/>
              <a:t>Mo</a:t>
            </a:r>
            <a:r>
              <a:rPr lang="cs-CZ" dirty="0"/>
              <a:t> a s věkem 4 roky</a:t>
            </a:r>
            <a:endParaRPr lang="cs-CZ"/>
          </a:p>
          <a:p>
            <a:r>
              <a:rPr lang="cs-CZ" i="1" err="1"/>
              <a:t>Zvirata.OderByDescending</a:t>
            </a:r>
            <a:r>
              <a:rPr lang="cs-CZ" i="1" dirty="0"/>
              <a:t>(x =&gt; </a:t>
            </a:r>
            <a:r>
              <a:rPr lang="cs-CZ" i="1" err="1"/>
              <a:t>x.vek</a:t>
            </a:r>
            <a:r>
              <a:rPr lang="cs-CZ" i="1" dirty="0"/>
              <a:t>).</a:t>
            </a:r>
            <a:r>
              <a:rPr lang="cs-CZ" i="1" err="1"/>
              <a:t>Take</a:t>
            </a:r>
            <a:r>
              <a:rPr lang="cs-CZ" i="1" dirty="0"/>
              <a:t>(5)</a:t>
            </a:r>
            <a:endParaRPr lang="cs-CZ" i="1"/>
          </a:p>
          <a:p>
            <a:pPr marL="493395" lvl="1">
              <a:buFont typeface="Wingdings 2,Sans-Serif" panose="020B0604020202020204" pitchFamily="34" charset="0"/>
              <a:buChar char=""/>
            </a:pPr>
            <a:r>
              <a:rPr lang="cs-CZ" dirty="0"/>
              <a:t>Seřaď podle věku od nejstaršího a vezmi prvních pět výsledků</a:t>
            </a:r>
            <a:endParaRPr lang="cs-CZ"/>
          </a:p>
          <a:p>
            <a:endParaRPr lang="cs-CZ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4FDFB5D-272C-6ED7-645D-7A60DDD8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08D1A5A-80D8-4AFD-A562-C2C26F08C9D2}" type="datetime1">
              <a:rPr lang="cs-CZ"/>
              <a:pPr>
                <a:spcAft>
                  <a:spcPts val="600"/>
                </a:spcAft>
              </a:pPr>
              <a:t>08.10.2025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9BC253A-16AD-4153-957F-7BEDBA30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A0385A6-47E6-2A51-390B-EC15C08B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55992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CE2A45C9465344C82E13FF5CD6CAB18" ma:contentTypeVersion="3" ma:contentTypeDescription="Vytvoří nový dokument" ma:contentTypeScope="" ma:versionID="0b660b16efff6f7d33e0f3f91cc750db">
  <xsd:schema xmlns:xsd="http://www.w3.org/2001/XMLSchema" xmlns:xs="http://www.w3.org/2001/XMLSchema" xmlns:p="http://schemas.microsoft.com/office/2006/metadata/properties" xmlns:ns2="9f06fd36-3974-42fc-9473-a33c4fd7fa23" targetNamespace="http://schemas.microsoft.com/office/2006/metadata/properties" ma:root="true" ma:fieldsID="56697927089977016a4d38cd467d94e5" ns2:_="">
    <xsd:import namespace="9f06fd36-3974-42fc-9473-a33c4fd7fa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06fd36-3974-42fc-9473-a33c4fd7f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EB07952-96BC-4F21-A4B0-407265679E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06fd36-3974-42fc-9473-a33c4fd7fa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BBD418-77F0-4964-9CF1-DD7D7062F9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F462B3-982F-441F-BB08-F3D47180F08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TM03457475[[fn=Rámeček]]</Template>
  <TotalTime>205</TotalTime>
  <Words>245</Words>
  <Application>Microsoft Office PowerPoint</Application>
  <PresentationFormat>Širokoúhlá obrazovka</PresentationFormat>
  <Paragraphs>43</Paragraphs>
  <Slides>7</Slides>
  <Notes>0</Notes>
  <HiddenSlides>0</HiddenSlide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8" baseType="lpstr">
      <vt:lpstr>Frame</vt:lpstr>
      <vt:lpstr>Lambda funkce LINQ</vt:lpstr>
      <vt:lpstr>Původ lambda funkcí</vt:lpstr>
      <vt:lpstr>Přínos lambda funkcí v C# </vt:lpstr>
      <vt:lpstr>Syntaxe lambda funkcí</vt:lpstr>
      <vt:lpstr>Příklad</vt:lpstr>
      <vt:lpstr>LINQ</vt:lpstr>
      <vt:lpstr>Lambda funkce s LINQ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subject/>
  <dc:creator>Sládeček David</dc:creator>
  <dc:description/>
  <cp:lastModifiedBy/>
  <cp:revision>98</cp:revision>
  <dcterms:created xsi:type="dcterms:W3CDTF">2023-09-07T05:32:21Z</dcterms:created>
  <dcterms:modified xsi:type="dcterms:W3CDTF">2025-10-08T18:10:30Z</dcterms:modified>
  <dc:language>cs-CZ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Širokoúhlá obrazovka</vt:lpwstr>
  </property>
  <property fmtid="{D5CDD505-2E9C-101B-9397-08002B2CF9AE}" pid="3" name="Slides">
    <vt:i4>6</vt:i4>
  </property>
  <property fmtid="{D5CDD505-2E9C-101B-9397-08002B2CF9AE}" pid="4" name="ContentTypeId">
    <vt:lpwstr>0x0101008CE2A45C9465344C82E13FF5CD6CAB18</vt:lpwstr>
  </property>
</Properties>
</file>