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12"/>
  </p:notesMasterIdLst>
  <p:sldIdLst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03T05:44:59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00000000-0000-0000-0000-000000000000}"/>
    <pc:docChg chg="mod modSld addMainMaster delMainMaster">
      <pc:chgData name="Sládeček David" userId="S::sladecek@hradebni.cz::474d93f0-3a32-49cc-b837-47806091b590" providerId="AD" clId="Web-{00000000-0000-0000-0000-000000000000}" dt="2026-09-03T05:46:01.088" v="17"/>
      <pc:docMkLst>
        <pc:docMk/>
      </pc:docMkLst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4:55.555" v="13" actId="20577"/>
        <pc:sldMkLst>
          <pc:docMk/>
          <pc:sldMk cId="1179415898" sldId="256"/>
        </pc:sldMkLst>
        <pc:spChg chg="mod ord">
          <ac:chgData name="Sládeček David" userId="S::sladecek@hradebni.cz::474d93f0-3a32-49cc-b837-47806091b590" providerId="AD" clId="Web-{00000000-0000-0000-0000-000000000000}" dt="2026-09-03T05:44:46.039" v="10" actId="20577"/>
          <ac:spMkLst>
            <pc:docMk/>
            <pc:sldMk cId="1179415898" sldId="256"/>
            <ac:spMk id="2" creationId="{37C90CD6-0E54-5071-9182-36048610B614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55.555" v="13" actId="20577"/>
          <ac:spMkLst>
            <pc:docMk/>
            <pc:sldMk cId="1179415898" sldId="256"/>
            <ac:spMk id="3" creationId="{EE364F67-BE5F-AA7F-9525-0F7D636F30F1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8" creationId="{85AE27A1-125B-7955-BB01-DB47E1984921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9" creationId="{C0782607-67EF-47AC-96DF-A7DE2A282CCB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0" creationId="{090B1A9B-4205-8525-E5AA-27B99868A41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1" creationId="{65351FED-1024-4E4A-BE3B-371ABFCDF67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4:37.226" v="2"/>
          <ac:spMkLst>
            <pc:docMk/>
            <pc:sldMk cId="1179415898" sldId="256"/>
            <ac:spMk id="12" creationId="{2B584676-79BC-4E35-6927-8126B364614D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179415898" sldId="256"/>
            <ac:spMk id="13" creationId="{6692CD4C-1BDD-4687-BFFE-33F1462F855E}"/>
          </ac:spMkLst>
        </pc:spChg>
        <pc:picChg chg="del">
          <ac:chgData name="Sládeček David" userId="S::sladecek@hradebni.cz::474d93f0-3a32-49cc-b837-47806091b590" providerId="AD" clId="Web-{00000000-0000-0000-0000-000000000000}" dt="2026-09-03T05:44:31.741" v="1"/>
          <ac:picMkLst>
            <pc:docMk/>
            <pc:sldMk cId="1179415898" sldId="256"/>
            <ac:picMk id="5" creationId="{DF8F8E36-46E3-C140-472F-2A2C04AC366E}"/>
          </ac:picMkLst>
        </pc:pic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31.931" v="14"/>
        <pc:sldMkLst>
          <pc:docMk/>
          <pc:sldMk cId="1193411076" sldId="257"/>
        </pc:sldMkLst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2" creationId="{C2ABE8DD-861D-6DE5-4EB8-111F9340CB2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3" creationId="{65972E93-DAC9-E513-56E0-FAE4C410CF5A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8" creationId="{B04C8FDB-7636-E099-933A-56FA7B97D75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0" creationId="{D695048C-4ED8-1785-CE5A-487FCF825C4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2" creationId="{67D57CBD-615F-100D-50B2-90B3CAFEB46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31.931" v="14"/>
          <ac:spMkLst>
            <pc:docMk/>
            <pc:sldMk cId="1193411076" sldId="257"/>
            <ac:spMk id="14" creationId="{16149381-361D-52A0-14E9-6E4EB5378B3B}"/>
          </ac:spMkLst>
        </pc:spChg>
      </pc:sldChg>
      <pc:sldChg chg="addSp modSp mod modClrScheme chgLayout">
        <pc:chgData name="Sládeček David" userId="S::sladecek@hradebni.cz::474d93f0-3a32-49cc-b837-47806091b590" providerId="AD" clId="Web-{00000000-0000-0000-0000-000000000000}" dt="2026-09-03T05:45:42.978" v="15"/>
        <pc:sldMkLst>
          <pc:docMk/>
          <pc:sldMk cId="3505840516" sldId="258"/>
        </pc:sldMkLst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2" creationId="{AB386235-FE3A-529E-ABE4-2D0F0B9610CE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3" creationId="{232C0A67-6AAD-4B74-66BE-EE8315B5FD2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1" creationId="{C4915C41-4C4D-22DA-6C1D-8EDCD60CBD6F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3" creationId="{70C36DC6-11A5-C29B-C763-7C78570966D0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42.978" v="15"/>
          <ac:spMkLst>
            <pc:docMk/>
            <pc:sldMk cId="3505840516" sldId="258"/>
            <ac:spMk id="1035" creationId="{E622008F-6F8C-F456-F22A-BD8F931FB1F8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42.978" v="15"/>
          <ac:picMkLst>
            <pc:docMk/>
            <pc:sldMk cId="3505840516" sldId="258"/>
            <ac:picMk id="1026" creationId="{B200EB5D-7C8D-FFC8-A35F-45486B972532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196183517" sldId="259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2" creationId="{CC085EB1-21A1-CD43-A142-E14178B802F8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4" creationId="{F5FE7AC0-A3B1-E3C0-FBD1-32FCB56D6E93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6183517" sldId="259"/>
            <ac:spMk id="6" creationId="{50EDE671-98A9-5358-733F-213EF1E92BAD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9" creationId="{3648A306-1FEE-D803-2355-BF6400B690C5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196183517" sldId="259"/>
            <ac:picMk id="11" creationId="{2DA7B9AA-1866-F0CF-B410-4AC99794489B}"/>
          </ac:picMkLst>
        </pc:picChg>
      </pc:sldChg>
      <pc:sldChg chg="modSp mod modClrScheme chgLayout">
        <pc:chgData name="Sládeček David" userId="S::sladecek@hradebni.cz::474d93f0-3a32-49cc-b837-47806091b590" providerId="AD" clId="Web-{00000000-0000-0000-0000-000000000000}" dt="2026-09-03T05:44:24.397" v="0"/>
        <pc:sldMkLst>
          <pc:docMk/>
          <pc:sldMk cId="946532546" sldId="261"/>
        </pc:sldMkLst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2" creationId="{3E495D63-421F-19F8-9DDA-3496A16EE21A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4" creationId="{10C756C9-0A46-08F9-4580-4EBB5A356F4B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946532546" sldId="261"/>
            <ac:spMk id="6" creationId="{20518221-AF82-FBC4-9E4A-D0692794CDC2}"/>
          </ac:spMkLst>
        </pc:sp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9" creationId="{0B85BDB5-7257-A0A1-E77A-D60E437849AB}"/>
          </ac:picMkLst>
        </pc:picChg>
        <pc:picChg chg="mod ord">
          <ac:chgData name="Sládeček David" userId="S::sladecek@hradebni.cz::474d93f0-3a32-49cc-b837-47806091b590" providerId="AD" clId="Web-{00000000-0000-0000-0000-000000000000}" dt="2026-09-03T05:44:24.397" v="0"/>
          <ac:picMkLst>
            <pc:docMk/>
            <pc:sldMk cId="946532546" sldId="261"/>
            <ac:picMk id="11" creationId="{BB6D7327-302B-509A-422C-D85A5C7DEA80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5:54.619" v="16"/>
        <pc:sldMkLst>
          <pc:docMk/>
          <pc:sldMk cId="1985706453" sldId="262"/>
        </pc:sldMkLst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2" creationId="{97C71524-CE29-7204-814A-2C171F5C7AA0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3" creationId="{FCE06F1C-D258-274F-C40F-A7826AB59DB8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7" creationId="{8B9CD985-E840-BEAC-7B97-8E147416AE8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8" creationId="{F4ACA565-9F73-792B-C518-BC1899CB5307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5:54.619" v="16"/>
          <ac:spMkLst>
            <pc:docMk/>
            <pc:sldMk cId="1985706453" sldId="262"/>
            <ac:spMk id="9" creationId="{C5C07FE7-A99F-A56B-27A0-8B9C7EECD56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1985706453" sldId="262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5:54.619" v="16"/>
          <ac:picMkLst>
            <pc:docMk/>
            <pc:sldMk cId="1985706453" sldId="262"/>
            <ac:picMk id="5" creationId="{D171B47B-9E9F-AB8E-C232-952551B6B406}"/>
          </ac:picMkLst>
        </pc:picChg>
      </pc:sldChg>
      <pc:sldChg chg="addSp delSp modSp mod setBg modClrScheme delDesignElem chgLayout">
        <pc:chgData name="Sládeček David" userId="S::sladecek@hradebni.cz::474d93f0-3a32-49cc-b837-47806091b590" providerId="AD" clId="Web-{00000000-0000-0000-0000-000000000000}" dt="2026-09-03T05:46:01.088" v="17"/>
        <pc:sldMkLst>
          <pc:docMk/>
          <pc:sldMk cId="466483557" sldId="263"/>
        </pc:sldMkLst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2" creationId="{C9B8D8AD-726C-7AB6-573B-2C2C8B0A62DF}"/>
          </ac:spMkLst>
        </pc:spChg>
        <pc:spChg chg="mod or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3" creationId="{1B96F939-8674-C729-00B3-8A15A0B833A3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7" creationId="{4A4A226E-3196-1301-70D8-6BD862BB3BB5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8" creationId="{A464A21D-B1CD-D3AA-1F36-03255A9BAD04}"/>
          </ac:spMkLst>
        </pc:spChg>
        <pc:spChg chg="add mod">
          <ac:chgData name="Sládeček David" userId="S::sladecek@hradebni.cz::474d93f0-3a32-49cc-b837-47806091b590" providerId="AD" clId="Web-{00000000-0000-0000-0000-000000000000}" dt="2026-09-03T05:46:01.088" v="17"/>
          <ac:spMkLst>
            <pc:docMk/>
            <pc:sldMk cId="466483557" sldId="263"/>
            <ac:spMk id="9" creationId="{2A6C7FF9-654B-7D48-B2BB-A1DE4357B440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0" creationId="{FBFE3618-8387-4153-870E-99EA1B9784F5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2" creationId="{BB99A42A-5548-4BB8-9115-A05821C360AB}"/>
          </ac:spMkLst>
        </pc:spChg>
        <pc:spChg chg="del">
          <ac:chgData name="Sládeček David" userId="S::sladecek@hradebni.cz::474d93f0-3a32-49cc-b837-47806091b590" providerId="AD" clId="Web-{00000000-0000-0000-0000-000000000000}" dt="2026-09-03T05:44:24.397" v="0"/>
          <ac:spMkLst>
            <pc:docMk/>
            <pc:sldMk cId="466483557" sldId="263"/>
            <ac:spMk id="14" creationId="{D49441E5-946F-46B3-BDD2-BAD088532367}"/>
          </ac:spMkLst>
        </pc:spChg>
        <pc:picChg chg="mod">
          <ac:chgData name="Sládeček David" userId="S::sladecek@hradebni.cz::474d93f0-3a32-49cc-b837-47806091b590" providerId="AD" clId="Web-{00000000-0000-0000-0000-000000000000}" dt="2026-09-03T05:46:01.088" v="17"/>
          <ac:picMkLst>
            <pc:docMk/>
            <pc:sldMk cId="466483557" sldId="263"/>
            <ac:picMk id="5" creationId="{BF1C7110-9407-DC37-2AC1-6DF260A3441E}"/>
          </ac:picMkLst>
        </pc:picChg>
      </pc:sldChg>
      <pc:sldMasterChg chg="del del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954265959" sldId="2147483711"/>
        </pc:sldMasterMkLst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411100" sldId="214748371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13661319" sldId="214748371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689447562" sldId="214748371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480985426" sldId="214748371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05088054" sldId="214748371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416400854" sldId="2147483717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081409244" sldId="2147483718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755766572" sldId="2147483719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088420204" sldId="2147483720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031568211" sldId="2147483721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553191059" sldId="2147483722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2927911751" sldId="2147483723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866580" sldId="2147483724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430736733" sldId="2147483725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3326302660" sldId="2147483726"/>
          </pc:sldLayoutMkLst>
        </pc:sldLayoutChg>
        <pc:sldLayoutChg chg="del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954265959" sldId="2147483711"/>
            <pc:sldLayoutMk cId="1757991005" sldId="2147483727"/>
          </pc:sldLayoutMkLst>
        </pc:sldLayoutChg>
      </pc:sldMasterChg>
      <pc:sldMasterChg chg="add addSldLayout modSldLayout">
        <pc:chgData name="Sládeček David" userId="S::sladecek@hradebni.cz::474d93f0-3a32-49cc-b837-47806091b590" providerId="AD" clId="Web-{00000000-0000-0000-0000-000000000000}" dt="2026-09-03T05:44:24.397" v="0"/>
        <pc:sldMasterMkLst>
          <pc:docMk/>
          <pc:sldMasterMk cId="2125188827" sldId="2147483728"/>
        </pc:sldMasterMkLst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510413956" sldId="2147483729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677659548" sldId="2147483730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30259315" sldId="2147483731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867444874" sldId="2147483732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277176555" sldId="2147483733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737139801" sldId="2147483734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526234535" sldId="2147483735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380103632" sldId="2147483736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1180637993" sldId="2147483737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2251727048" sldId="2147483738"/>
          </pc:sldLayoutMkLst>
        </pc:sldLayoutChg>
        <pc:sldLayoutChg chg="add mod replId">
          <pc:chgData name="Sládeček David" userId="S::sladecek@hradebni.cz::474d93f0-3a32-49cc-b837-47806091b590" providerId="AD" clId="Web-{00000000-0000-0000-0000-000000000000}" dt="2026-09-03T05:44:24.397" v="0"/>
          <pc:sldLayoutMkLst>
            <pc:docMk/>
            <pc:sldMasterMk cId="2125188827" sldId="2147483728"/>
            <pc:sldLayoutMk cId="61680780" sldId="2147483739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BD7E-8EC4-40D0-831C-FC6BF586B823}" type="datetimeFigureOut">
              <a:rPr lang="cs-CZ" smtClean="0"/>
              <a:t>02.09.2026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19CD6-A7A2-478E-9294-6B57494289C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3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Bez větve _ kompilátor upozorní, že switch nepokrývá všechny hodnoty (warning CS8509); při neošetřené hodnotě za běhu vznikne SwitchExpressionException.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Možné řešení:</a:t>
            </a:r>
          </a:p>
          <a:p>
            <a:r>
              <a:t>double Sleva(int vek, bool student) =&gt; (vek, student) switch</a:t>
            </a:r>
          </a:p>
          <a:p>
            <a:r>
              <a:t>{</a:t>
            </a:r>
          </a:p>
          <a:p>
            <a:r>
              <a:t>    (&lt; 0, _) =&gt; throw new ArgumentException(),</a:t>
            </a:r>
          </a:p>
          <a:p>
            <a:r>
              <a:t>    (&lt; 6, _) =&gt; 1.0,</a:t>
            </a:r>
          </a:p>
          <a:p>
            <a:r>
              <a:t>    (&lt; 18, _) =&gt; 0.5,</a:t>
            </a:r>
          </a:p>
          <a:p>
            <a:r>
              <a:t>    (&lt; 26, true) =&gt; 0.5,</a:t>
            </a:r>
          </a:p>
          <a:p>
            <a:r>
              <a:t>    (&gt;= 65, _) =&gt; 0.75,</a:t>
            </a:r>
          </a:p>
          <a:p>
            <a:r>
              <a:t>    _ =&gt; 0.0</a:t>
            </a:r>
          </a:p>
          <a:p>
            <a:r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13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5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4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17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3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3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3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2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07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8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matching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PROGRAMOVÁNÍ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je pattern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700"/>
              <a:t>Porovnání hodnoty podle </a:t>
            </a:r>
            <a:r>
              <a:rPr b="1" sz="1700"/>
              <a:t>typu, tvaru a obsahu</a:t>
            </a:r>
          </a:p>
          <a:p>
            <a:pPr>
              <a:lnSpc>
                <a:spcPct val="110000"/>
              </a:lnSpc>
            </a:pPr>
            <a:r>
              <a:rPr sz="1700"/>
              <a:t>Už znáte drobné části:</a:t>
            </a:r>
          </a:p>
          <a:p>
            <a:pPr lvl="1">
              <a:lnSpc>
                <a:spcPct val="110000"/>
              </a:lnSpc>
            </a:pPr>
            <a:r>
              <a:rPr sz="1500">
                <a:latin typeface="Consolas"/>
              </a:rPr>
              <a:t>switch</a:t>
            </a:r>
            <a:r>
              <a:rPr sz="1500"/>
              <a:t> expression z podmínek</a:t>
            </a:r>
          </a:p>
          <a:p>
            <a:pPr lvl="1">
              <a:lnSpc>
                <a:spcPct val="110000"/>
              </a:lnSpc>
            </a:pPr>
            <a:r>
              <a:rPr sz="1500">
                <a:latin typeface="Consolas"/>
              </a:rPr>
              <a:t>x is Manazer m</a:t>
            </a:r>
            <a:r>
              <a:rPr sz="1500"/>
              <a:t> z polymorfismu</a:t>
            </a:r>
          </a:p>
          <a:p>
            <a:pPr>
              <a:lnSpc>
                <a:spcPct val="110000"/>
              </a:lnSpc>
            </a:pPr>
            <a:r>
              <a:rPr sz="1700"/>
              <a:t>C# je umí skládat do čitelných výrazů</a:t>
            </a:r>
          </a:p>
          <a:p>
            <a:pPr>
              <a:lnSpc>
                <a:spcPct val="110000"/>
              </a:lnSpc>
            </a:pPr>
            <a:r>
              <a:rPr b="1" sz="1700"/>
              <a:t>Není to náhrada polymorfismu!</a:t>
            </a:r>
          </a:p>
          <a:p>
            <a:pPr lvl="1">
              <a:lnSpc>
                <a:spcPct val="110000"/>
              </a:lnSpc>
            </a:pPr>
            <a:r>
              <a:rPr sz="1500"/>
              <a:t>chování, které patří objektu → virtual / override</a:t>
            </a:r>
          </a:p>
          <a:p>
            <a:pPr lvl="1">
              <a:lnSpc>
                <a:spcPct val="110000"/>
              </a:lnSpc>
            </a:pPr>
            <a:r>
              <a:rPr sz="1500"/>
              <a:t>rozhodování podle dat nebo cizích typů → pattern matching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Typový pattern –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>
                <a:latin typeface="Consolas"/>
              </a:rPr>
              <a:t>is Typ promenna</a:t>
            </a:r>
            <a:r>
              <a:rPr sz="1600"/>
              <a:t> ověří typ a rovnou deklaruje proměnnou</a:t>
            </a:r>
          </a:p>
          <a:p>
            <a:pPr>
              <a:lnSpc>
                <a:spcPct val="110000"/>
              </a:lnSpc>
            </a:pPr>
            <a:r>
              <a:rPr sz="1600"/>
              <a:t>Proměnná platí jen ve větvi, kde test prošel</a:t>
            </a:r>
          </a:p>
          <a:p>
            <a:pPr>
              <a:lnSpc>
                <a:spcPct val="110000"/>
              </a:lnSpc>
            </a:pPr>
            <a:r>
              <a:rPr sz="1600">
                <a:latin typeface="Consolas"/>
              </a:rPr>
              <a:t>is null</a:t>
            </a:r>
            <a:r>
              <a:rPr sz="1600"/>
              <a:t> / </a:t>
            </a:r>
            <a:r>
              <a:rPr sz="1600">
                <a:latin typeface="Consolas"/>
              </a:rPr>
              <a:t>is not null</a:t>
            </a:r>
            <a:r>
              <a:rPr sz="1600"/>
              <a:t> – čitelný test na null</a:t>
            </a:r>
          </a:p>
          <a:p>
            <a:pPr>
              <a:lnSpc>
                <a:spcPct val="110000"/>
              </a:lnSpc>
            </a:pPr>
            <a:r>
              <a:rPr sz="1600"/>
              <a:t>Nahrazuje starší zápis s operátorem </a:t>
            </a:r>
            <a:r>
              <a:rPr sz="1600">
                <a:latin typeface="Consolas"/>
              </a:rPr>
              <a:t>as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350">
                <a:solidFill>
                  <a:srgbClr val="0000FF"/>
                </a:solidFill>
                <a:latin typeface="Consolas"/>
              </a:rPr>
              <a:t>object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zam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new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2B91AF"/>
                </a:solidFill>
                <a:latin typeface="Consolas"/>
              </a:rPr>
              <a:t>Manazer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Jmeno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"Pavel"</a:t>
            </a:r>
            <a:r>
              <a:rPr sz="1350">
                <a:solidFill>
                  <a:srgbClr val="1E1E1E"/>
                </a:solidFill>
                <a:latin typeface="Consolas"/>
              </a:rPr>
              <a:t>,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Bonus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5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}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350">
                <a:solidFill>
                  <a:srgbClr val="0000FF"/>
                </a:solidFill>
                <a:latin typeface="Consolas"/>
              </a:rPr>
              <a:t>if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zam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is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2B91AF"/>
                </a:solidFill>
                <a:latin typeface="Consolas"/>
              </a:rPr>
              <a:t>Manazer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m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2B91AF"/>
                </a:solidFill>
                <a:latin typeface="Consolas"/>
              </a:rPr>
              <a:t>Console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74531F"/>
                </a:solidFill>
                <a:latin typeface="Consolas"/>
              </a:rPr>
              <a:t>WriteLine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$</a:t>
            </a:r>
            <a:r>
              <a:rPr sz="1350">
                <a:solidFill>
                  <a:srgbClr val="A31515"/>
                </a:solidFill>
                <a:latin typeface="Consolas"/>
              </a:rPr>
              <a:t>"Bonus: {m.Bonus}"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350">
                <a:solidFill>
                  <a:srgbClr val="008000"/>
                </a:solidFill>
                <a:latin typeface="Consolas"/>
              </a:rPr>
              <a:t>// starší zápis</a:t>
            </a:r>
          </a:p>
          <a:p>
            <a:pPr algn="l"/>
            <a:r>
              <a:rPr sz="1350">
                <a:solidFill>
                  <a:srgbClr val="2B91AF"/>
                </a:solidFill>
                <a:latin typeface="Consolas"/>
              </a:rPr>
              <a:t>Manazer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m2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zam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as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2B91AF"/>
                </a:solidFill>
                <a:latin typeface="Consolas"/>
              </a:rPr>
              <a:t>Manazer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0000FF"/>
                </a:solidFill>
                <a:latin typeface="Consolas"/>
              </a:rPr>
              <a:t>if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m2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!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null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{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/</a:t>
            </a:r>
            <a:r>
              <a:rPr sz="1350">
                <a:solidFill>
                  <a:srgbClr val="1E1E1E"/>
                </a:solidFill>
                <a:latin typeface="Consolas"/>
              </a:rPr>
              <a:t>*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*</a:t>
            </a:r>
            <a:r>
              <a:rPr sz="1350">
                <a:solidFill>
                  <a:srgbClr val="1E1E1E"/>
                </a:solidFill>
                <a:latin typeface="Consolas"/>
              </a:rPr>
              <a:t>/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350">
                <a:solidFill>
                  <a:srgbClr val="0000FF"/>
                </a:solidFill>
                <a:latin typeface="Consolas"/>
              </a:rPr>
              <a:t>if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student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is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not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null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2B91AF"/>
                </a:solidFill>
                <a:latin typeface="Consolas"/>
              </a:rPr>
              <a:t>Console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74531F"/>
                </a:solidFill>
                <a:latin typeface="Consolas"/>
              </a:rPr>
              <a:t>WriteLine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student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1E1E1E"/>
                </a:solidFill>
                <a:latin typeface="Consolas"/>
              </a:rPr>
              <a:t>Jmeno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Vlastnostní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Testuje i </a:t>
            </a:r>
            <a:r>
              <a:rPr b="1" sz="1600"/>
              <a:t>hodnoty vlastností</a:t>
            </a:r>
            <a:r>
              <a:rPr sz="1600"/>
              <a:t> objektu</a:t>
            </a:r>
          </a:p>
          <a:p>
            <a:pPr>
              <a:lnSpc>
                <a:spcPct val="110000"/>
              </a:lnSpc>
            </a:pPr>
            <a:r>
              <a:rPr sz="1600"/>
              <a:t>Ověří typ </a:t>
            </a:r>
            <a:r>
              <a:rPr b="1" sz="1600"/>
              <a:t>a zároveň</a:t>
            </a:r>
            <a:r>
              <a:rPr sz="1600"/>
              <a:t> obsah</a:t>
            </a:r>
          </a:p>
          <a:p>
            <a:pPr>
              <a:lnSpc>
                <a:spcPct val="110000"/>
              </a:lnSpc>
            </a:pPr>
            <a:r>
              <a:rPr sz="1600"/>
              <a:t>Ušetří pomocnou proměnnou a operátor &amp;&amp;</a:t>
            </a:r>
          </a:p>
          <a:p>
            <a:pPr>
              <a:lnSpc>
                <a:spcPct val="110000"/>
              </a:lnSpc>
            </a:pPr>
            <a:r>
              <a:rPr sz="1600"/>
              <a:t>Vlastnosti lze vnořovat</a:t>
            </a:r>
          </a:p>
          <a:p>
            <a:pPr>
              <a:lnSpc>
                <a:spcPct val="110000"/>
              </a:lnSpc>
            </a:pPr>
            <a:r>
              <a:rPr sz="1600"/>
              <a:t>Hodnotu lze vytáhnout do proměnné pomocí </a:t>
            </a:r>
            <a:r>
              <a:rPr sz="1600">
                <a:latin typeface="Consolas"/>
              </a:rPr>
              <a:t>var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zam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is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Manazer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Bonus</a:t>
            </a:r>
            <a:r>
              <a:rPr sz="1600">
                <a:solidFill>
                  <a:srgbClr val="1E1E1E"/>
                </a:solidFill>
                <a:latin typeface="Consolas"/>
              </a:rPr>
              <a:t>: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A31515"/>
                </a:solidFill>
                <a:latin typeface="Consolas"/>
              </a:rPr>
              <a:t>"Vysoký bonus"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totéž bez patternu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zam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is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Manazer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m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&amp;</a:t>
            </a:r>
            <a:r>
              <a:rPr sz="1600">
                <a:solidFill>
                  <a:srgbClr val="1E1E1E"/>
                </a:solidFill>
                <a:latin typeface="Consolas"/>
              </a:rPr>
              <a:t>&amp;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m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Bonus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&gt;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1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0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A31515"/>
                </a:solidFill>
                <a:latin typeface="Consolas"/>
              </a:rPr>
              <a:t>"Vysoký bonus"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008000"/>
                </a:solidFill>
                <a:latin typeface="Consolas"/>
              </a:rPr>
              <a:t>// vnořená vlastnost</a:t>
            </a:r>
          </a:p>
          <a:p>
            <a:pPr algn="l"/>
            <a:r>
              <a:rPr sz="1600">
                <a:solidFill>
                  <a:srgbClr val="0000FF"/>
                </a:solidFill>
                <a:latin typeface="Consolas"/>
              </a:rPr>
              <a:t>if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1E1E1E"/>
                </a:solidFill>
                <a:latin typeface="Consolas"/>
              </a:rPr>
              <a:t>obj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0000FF"/>
                </a:solidFill>
                <a:latin typeface="Consolas"/>
              </a:rPr>
              <a:t>is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Objednavka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{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Zakaznik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1E1E1E"/>
                </a:solidFill>
                <a:latin typeface="Consolas"/>
              </a:rPr>
              <a:t>Mesto</a:t>
            </a:r>
            <a:r>
              <a:rPr sz="1600">
                <a:solidFill>
                  <a:srgbClr val="1E1E1E"/>
                </a:solidFill>
                <a:latin typeface="Consolas"/>
              </a:rPr>
              <a:t>: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A31515"/>
                </a:solidFill>
                <a:latin typeface="Consolas"/>
              </a:rPr>
              <a:t>"Praha"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}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1E1E1E"/>
                </a:solidFill>
                <a:latin typeface="Consolas"/>
              </a:rPr>
              <a:t> </a:t>
            </a:r>
            <a:r>
              <a:rPr sz="1600">
                <a:solidFill>
                  <a:srgbClr val="2B91AF"/>
                </a:solidFill>
                <a:latin typeface="Consolas"/>
              </a:rPr>
              <a:t>Console</a:t>
            </a:r>
            <a:r>
              <a:rPr sz="1600">
                <a:solidFill>
                  <a:srgbClr val="1E1E1E"/>
                </a:solidFill>
                <a:latin typeface="Consolas"/>
              </a:rPr>
              <a:t>.</a:t>
            </a:r>
            <a:r>
              <a:rPr sz="1600">
                <a:solidFill>
                  <a:srgbClr val="74531F"/>
                </a:solidFill>
                <a:latin typeface="Consolas"/>
              </a:rPr>
              <a:t>WriteLine</a:t>
            </a:r>
            <a:r>
              <a:rPr sz="1600">
                <a:solidFill>
                  <a:srgbClr val="1E1E1E"/>
                </a:solidFill>
                <a:latin typeface="Consolas"/>
              </a:rPr>
              <a:t>(</a:t>
            </a:r>
            <a:r>
              <a:rPr sz="1600">
                <a:solidFill>
                  <a:srgbClr val="A31515"/>
                </a:solidFill>
                <a:latin typeface="Consolas"/>
              </a:rPr>
              <a:t>"Doprava zdarma"</a:t>
            </a:r>
            <a:r>
              <a:rPr sz="1600">
                <a:solidFill>
                  <a:srgbClr val="1E1E1E"/>
                </a:solidFill>
                <a:latin typeface="Consolas"/>
              </a:rPr>
              <a:t>)</a:t>
            </a:r>
            <a:r>
              <a:rPr sz="16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Relační patterny ve switch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Řetězec if / else if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expression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12628" y="3080000"/>
            <a:ext cx="5084947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Opakování proměnné, snadno se udělá chyba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80000"/>
            <a:ext cx="5183188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/>
              <a:t>Větve se zkouší shora dolů, _ = jinak</a:t>
            </a:r>
          </a:p>
        </p:txBody>
      </p:sp>
      <p:sp>
        <p:nvSpPr>
          <p:cNvPr id="17" name="Kód"/>
          <p:cNvSpPr/>
          <p:nvPr/>
        </p:nvSpPr>
        <p:spPr>
          <a:xfrm>
            <a:off x="912628" y="3750000"/>
            <a:ext cx="5084947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350">
                <a:solidFill>
                  <a:srgbClr val="0000FF"/>
                </a:solidFill>
                <a:latin typeface="Consolas"/>
              </a:rPr>
              <a:t>string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74531F"/>
                </a:solidFill>
                <a:latin typeface="Consolas"/>
              </a:rPr>
              <a:t>Klasifikuj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0000FF"/>
                </a:solidFill>
                <a:latin typeface="Consolas"/>
              </a:rPr>
              <a:t>int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body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if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body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9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return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"Výborně"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else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if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body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7</a:t>
            </a:r>
            <a:r>
              <a:rPr sz="1350">
                <a:solidFill>
                  <a:srgbClr val="1E1E1E"/>
                </a:solidFill>
                <a:latin typeface="Consolas"/>
              </a:rPr>
              <a:t>5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return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"Chvalitebně"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else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if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body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6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return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"Dobře"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else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if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1E1E1E"/>
                </a:solidFill>
                <a:latin typeface="Consolas"/>
              </a:rPr>
              <a:t>body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4</a:t>
            </a:r>
            <a:r>
              <a:rPr sz="1350">
                <a:solidFill>
                  <a:srgbClr val="1E1E1E"/>
                </a:solidFill>
                <a:latin typeface="Consolas"/>
              </a:rPr>
              <a:t>5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return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"Dostatečně"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else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return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"Nedostatečně"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  <p:sp>
        <p:nvSpPr>
          <p:cNvPr id="18" name="Kód"/>
          <p:cNvSpPr/>
          <p:nvPr/>
        </p:nvSpPr>
        <p:spPr>
          <a:xfrm>
            <a:off x="6172200" y="3750000"/>
            <a:ext cx="5183188" cy="240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500">
                <a:solidFill>
                  <a:srgbClr val="0000FF"/>
                </a:solidFill>
                <a:latin typeface="Consolas"/>
              </a:rPr>
              <a:t>string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74531F"/>
                </a:solidFill>
                <a:latin typeface="Consolas"/>
              </a:rPr>
              <a:t>Klasifikuj</a:t>
            </a:r>
            <a:r>
              <a:rPr sz="1500">
                <a:solidFill>
                  <a:srgbClr val="1E1E1E"/>
                </a:solidFill>
                <a:latin typeface="Consolas"/>
              </a:rPr>
              <a:t>(</a:t>
            </a:r>
            <a:r>
              <a:rPr sz="1500">
                <a:solidFill>
                  <a:srgbClr val="0000FF"/>
                </a:solidFill>
                <a:latin typeface="Consolas"/>
              </a:rPr>
              <a:t>int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body</a:t>
            </a:r>
            <a:r>
              <a:rPr sz="1500">
                <a:solidFill>
                  <a:srgbClr val="1E1E1E"/>
                </a:solidFill>
                <a:latin typeface="Consolas"/>
              </a:rPr>
              <a:t>)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body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switch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9</a:t>
            </a:r>
            <a:r>
              <a:rPr sz="1500">
                <a:solidFill>
                  <a:srgbClr val="1E1E1E"/>
                </a:solidFill>
                <a:latin typeface="Consolas"/>
              </a:rPr>
              <a:t>0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"Výborně"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7</a:t>
            </a:r>
            <a:r>
              <a:rPr sz="1500">
                <a:solidFill>
                  <a:srgbClr val="1E1E1E"/>
                </a:solidFill>
                <a:latin typeface="Consolas"/>
              </a:rPr>
              <a:t>5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"Chvalitebně"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6</a:t>
            </a:r>
            <a:r>
              <a:rPr sz="1500">
                <a:solidFill>
                  <a:srgbClr val="1E1E1E"/>
                </a:solidFill>
                <a:latin typeface="Consolas"/>
              </a:rPr>
              <a:t>0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"Dobře"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4</a:t>
            </a:r>
            <a:r>
              <a:rPr sz="1500">
                <a:solidFill>
                  <a:srgbClr val="1E1E1E"/>
                </a:solidFill>
                <a:latin typeface="Consolas"/>
              </a:rPr>
              <a:t>5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"Dostatečně"</a:t>
            </a:r>
            <a:r>
              <a:rPr sz="150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0000FF"/>
                </a:solidFill>
                <a:latin typeface="Consolas"/>
              </a:rPr>
              <a:t>_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1E1E1E"/>
                </a:solidFill>
                <a:latin typeface="Consolas"/>
              </a:rPr>
              <a:t>=</a:t>
            </a:r>
            <a:r>
              <a:rPr sz="1500">
                <a:solidFill>
                  <a:srgbClr val="1E1E1E"/>
                </a:solidFill>
                <a:latin typeface="Consolas"/>
              </a:rPr>
              <a:t>&gt;</a:t>
            </a:r>
            <a:r>
              <a:rPr sz="1500">
                <a:solidFill>
                  <a:srgbClr val="1E1E1E"/>
                </a:solidFill>
                <a:latin typeface="Consolas"/>
              </a:rPr>
              <a:t> </a:t>
            </a:r>
            <a:r>
              <a:rPr sz="1500">
                <a:solidFill>
                  <a:srgbClr val="A31515"/>
                </a:solidFill>
                <a:latin typeface="Consolas"/>
              </a:rPr>
              <a:t>"Nedostatečně"</a:t>
            </a:r>
          </a:p>
          <a:p>
            <a:pPr algn="l"/>
            <a:r>
              <a:rPr sz="1500">
                <a:solidFill>
                  <a:srgbClr val="1E1E1E"/>
                </a:solidFill>
                <a:latin typeface="Consolas"/>
              </a:rPr>
              <a:t>}</a:t>
            </a:r>
            <a:r>
              <a:rPr sz="15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Kombinátory and, or,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Logické skládání přímo v patternu</a:t>
            </a:r>
          </a:p>
          <a:p>
            <a:pPr>
              <a:lnSpc>
                <a:spcPct val="110000"/>
              </a:lnSpc>
            </a:pPr>
            <a:r>
              <a:rPr sz="1600">
                <a:latin typeface="Consolas"/>
              </a:rPr>
              <a:t>and</a:t>
            </a:r>
            <a:r>
              <a:rPr sz="1600"/>
              <a:t> ~ &amp;&amp;, </a:t>
            </a:r>
            <a:r>
              <a:rPr sz="1600">
                <a:latin typeface="Consolas"/>
              </a:rPr>
              <a:t>or</a:t>
            </a:r>
            <a:r>
              <a:rPr sz="1600"/>
              <a:t> ~ ||, </a:t>
            </a:r>
            <a:r>
              <a:rPr sz="1600">
                <a:latin typeface="Consolas"/>
              </a:rPr>
              <a:t>not</a:t>
            </a:r>
            <a:r>
              <a:rPr sz="1600"/>
              <a:t> ~ !</a:t>
            </a:r>
          </a:p>
          <a:p>
            <a:pPr>
              <a:lnSpc>
                <a:spcPct val="110000"/>
              </a:lnSpc>
            </a:pPr>
            <a:r>
              <a:rPr sz="1600"/>
              <a:t>Hodí se pro rozsahy hodnot</a:t>
            </a:r>
          </a:p>
          <a:p>
            <a:pPr>
              <a:lnSpc>
                <a:spcPct val="110000"/>
              </a:lnSpc>
            </a:pPr>
            <a:r>
              <a:rPr sz="1600"/>
              <a:t>Kompilátor upozorní na nedosažitelné větve</a:t>
            </a:r>
          </a:p>
          <a:p>
            <a:pPr>
              <a:lnSpc>
                <a:spcPct val="110000"/>
              </a:lnSpc>
            </a:pPr>
            <a:r>
              <a:rPr sz="1600"/>
              <a:t>…a na případy, které nepokrývá žádná větev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400">
                <a:solidFill>
                  <a:srgbClr val="0000FF"/>
                </a:solidFill>
                <a:latin typeface="Consolas"/>
              </a:rPr>
              <a:t>string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74531F"/>
                </a:solidFill>
                <a:latin typeface="Consolas"/>
              </a:rPr>
              <a:t>Teplota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0000FF"/>
                </a:solidFill>
                <a:latin typeface="Consolas"/>
              </a:rPr>
              <a:t>int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t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t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switch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&lt;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0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A31515"/>
                </a:solidFill>
                <a:latin typeface="Consolas"/>
              </a:rPr>
              <a:t>"mrzne"</a:t>
            </a:r>
            <a:r>
              <a:rPr sz="140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0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and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&lt;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1</a:t>
            </a:r>
            <a:r>
              <a:rPr sz="1400">
                <a:solidFill>
                  <a:srgbClr val="1E1E1E"/>
                </a:solidFill>
                <a:latin typeface="Consolas"/>
              </a:rPr>
              <a:t>5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A31515"/>
                </a:solidFill>
                <a:latin typeface="Consolas"/>
              </a:rPr>
              <a:t>"chladno"</a:t>
            </a:r>
            <a:r>
              <a:rPr sz="140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1</a:t>
            </a:r>
            <a:r>
              <a:rPr sz="1400">
                <a:solidFill>
                  <a:srgbClr val="1E1E1E"/>
                </a:solidFill>
                <a:latin typeface="Consolas"/>
              </a:rPr>
              <a:t>5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and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&lt;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2</a:t>
            </a:r>
            <a:r>
              <a:rPr sz="1400">
                <a:solidFill>
                  <a:srgbClr val="1E1E1E"/>
                </a:solidFill>
                <a:latin typeface="Consolas"/>
              </a:rPr>
              <a:t>5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A31515"/>
                </a:solidFill>
                <a:latin typeface="Consolas"/>
              </a:rPr>
              <a:t>"příjemně"</a:t>
            </a:r>
            <a:r>
              <a:rPr sz="140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2</a:t>
            </a:r>
            <a:r>
              <a:rPr sz="1400">
                <a:solidFill>
                  <a:srgbClr val="1E1E1E"/>
                </a:solidFill>
                <a:latin typeface="Consolas"/>
              </a:rPr>
              <a:t>5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A31515"/>
                </a:solidFill>
                <a:latin typeface="Consolas"/>
              </a:rPr>
              <a:t>"horko"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}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0000FF"/>
                </a:solidFill>
                <a:latin typeface="Consolas"/>
              </a:rPr>
              <a:t>bool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74531F"/>
                </a:solidFill>
                <a:latin typeface="Consolas"/>
              </a:rPr>
              <a:t>JeVikend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2B91AF"/>
                </a:solidFill>
                <a:latin typeface="Consolas"/>
              </a:rPr>
              <a:t>DayOfWeek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d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d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is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2B91AF"/>
                </a:solidFill>
                <a:latin typeface="Consolas"/>
              </a:rPr>
              <a:t>DayOfWeek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Saturday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or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2B91AF"/>
                </a:solidFill>
                <a:latin typeface="Consolas"/>
              </a:rPr>
              <a:t>DayOfWeek</a:t>
            </a:r>
            <a:r>
              <a:rPr sz="1400">
                <a:solidFill>
                  <a:srgbClr val="1E1E1E"/>
                </a:solidFill>
                <a:latin typeface="Consolas"/>
              </a:rPr>
              <a:t>.</a:t>
            </a:r>
            <a:r>
              <a:rPr sz="1400">
                <a:solidFill>
                  <a:srgbClr val="1E1E1E"/>
                </a:solidFill>
                <a:latin typeface="Consolas"/>
              </a:rPr>
              <a:t>Sunday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0000FF"/>
                </a:solidFill>
                <a:latin typeface="Consolas"/>
              </a:rPr>
              <a:t>bool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74531F"/>
                </a:solidFill>
                <a:latin typeface="Consolas"/>
              </a:rPr>
              <a:t>NeniNula</a:t>
            </a:r>
            <a:r>
              <a:rPr sz="1400">
                <a:solidFill>
                  <a:srgbClr val="1E1E1E"/>
                </a:solidFill>
                <a:latin typeface="Consolas"/>
              </a:rPr>
              <a:t>(</a:t>
            </a:r>
            <a:r>
              <a:rPr sz="1400">
                <a:solidFill>
                  <a:srgbClr val="0000FF"/>
                </a:solidFill>
                <a:latin typeface="Consolas"/>
              </a:rPr>
              <a:t>int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)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=</a:t>
            </a:r>
            <a:r>
              <a:rPr sz="1400">
                <a:solidFill>
                  <a:srgbClr val="1E1E1E"/>
                </a:solidFill>
                <a:latin typeface="Consolas"/>
              </a:rPr>
              <a:t>&gt;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x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is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0000FF"/>
                </a:solidFill>
                <a:latin typeface="Consolas"/>
              </a:rPr>
              <a:t>not</a:t>
            </a:r>
            <a:r>
              <a:rPr sz="1400">
                <a:solidFill>
                  <a:srgbClr val="1E1E1E"/>
                </a:solidFill>
                <a:latin typeface="Consolas"/>
              </a:rPr>
              <a:t> </a:t>
            </a:r>
            <a:r>
              <a:rPr sz="1400">
                <a:solidFill>
                  <a:srgbClr val="1E1E1E"/>
                </a:solidFill>
                <a:latin typeface="Consolas"/>
              </a:rPr>
              <a:t>0</a:t>
            </a:r>
            <a:r>
              <a:rPr sz="140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 pattern a discard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Rozhodování podle </a:t>
            </a:r>
            <a:r>
              <a:rPr b="1" sz="1600"/>
              <a:t>více hodnot najednou</a:t>
            </a:r>
          </a:p>
          <a:p>
            <a:pPr>
              <a:lnSpc>
                <a:spcPct val="110000"/>
              </a:lnSpc>
            </a:pPr>
            <a:r>
              <a:rPr sz="1600"/>
              <a:t>Hodnoty zabalíme do tuple </a:t>
            </a:r>
            <a:r>
              <a:rPr sz="1600">
                <a:latin typeface="Consolas"/>
              </a:rPr>
              <a:t>(x, y)</a:t>
            </a:r>
          </a:p>
          <a:p>
            <a:pPr>
              <a:lnSpc>
                <a:spcPct val="110000"/>
              </a:lnSpc>
            </a:pPr>
            <a:r>
              <a:rPr sz="1600">
                <a:latin typeface="Consolas"/>
              </a:rPr>
              <a:t>_</a:t>
            </a:r>
            <a:r>
              <a:rPr sz="1600"/>
              <a:t> (discard) – na hodnotě nezáleží</a:t>
            </a:r>
          </a:p>
          <a:p>
            <a:pPr>
              <a:lnSpc>
                <a:spcPct val="110000"/>
              </a:lnSpc>
            </a:pPr>
            <a:r>
              <a:rPr sz="1600">
                <a:latin typeface="Consolas"/>
              </a:rPr>
              <a:t>when</a:t>
            </a:r>
            <a:r>
              <a:rPr sz="1600"/>
              <a:t> – doplňující podmínka</a:t>
            </a:r>
          </a:p>
          <a:p>
            <a:pPr>
              <a:lnSpc>
                <a:spcPct val="110000"/>
              </a:lnSpc>
            </a:pPr>
            <a:r>
              <a:rPr sz="1600"/>
              <a:t>Typické použití: stavové automaty, hry, souřadnice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250">
                <a:solidFill>
                  <a:srgbClr val="0000FF"/>
                </a:solidFill>
                <a:latin typeface="Consolas"/>
              </a:rPr>
              <a:t>string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74531F"/>
                </a:solidFill>
                <a:latin typeface="Consolas"/>
              </a:rPr>
              <a:t>Bod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0000FF"/>
                </a:solidFill>
                <a:latin typeface="Consolas"/>
              </a:rPr>
              <a:t>int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x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int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y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x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y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switch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0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0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A31515"/>
                </a:solidFill>
                <a:latin typeface="Consolas"/>
              </a:rPr>
              <a:t>"počátek"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0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_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A31515"/>
                </a:solidFill>
                <a:latin typeface="Consolas"/>
              </a:rPr>
              <a:t>"na ose Y"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0000FF"/>
                </a:solidFill>
                <a:latin typeface="Consolas"/>
              </a:rPr>
              <a:t>_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0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A31515"/>
                </a:solidFill>
                <a:latin typeface="Consolas"/>
              </a:rPr>
              <a:t>"na ose X"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_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when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x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y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A31515"/>
                </a:solidFill>
                <a:latin typeface="Consolas"/>
              </a:rPr>
              <a:t>"na diagonále"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_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A31515"/>
                </a:solidFill>
                <a:latin typeface="Consolas"/>
              </a:rPr>
              <a:t>"obecný bod"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}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</a:p>
          <a:p>
            <a:pPr algn="l"/>
            <a:r>
              <a:rPr sz="1250">
                <a:solidFill>
                  <a:srgbClr val="0000FF"/>
                </a:solidFill>
                <a:latin typeface="Consolas"/>
              </a:rPr>
              <a:t>string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74531F"/>
                </a:solidFill>
                <a:latin typeface="Consolas"/>
              </a:rPr>
              <a:t>Kamen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0000FF"/>
                </a:solidFill>
                <a:latin typeface="Consolas"/>
              </a:rPr>
              <a:t>string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a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string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b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a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b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switch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var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1E1E1E"/>
                </a:solidFill>
                <a:latin typeface="Consolas"/>
              </a:rPr>
              <a:t>x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y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when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x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y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A31515"/>
                </a:solidFill>
                <a:latin typeface="Consolas"/>
              </a:rPr>
              <a:t>"remíza"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A31515"/>
                </a:solidFill>
                <a:latin typeface="Consolas"/>
              </a:rPr>
              <a:t>"kámen"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A31515"/>
                </a:solidFill>
                <a:latin typeface="Consolas"/>
              </a:rPr>
              <a:t>"nůžky"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A31515"/>
                </a:solidFill>
                <a:latin typeface="Consolas"/>
              </a:rPr>
              <a:t>"vyhrává A"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A31515"/>
                </a:solidFill>
                <a:latin typeface="Consolas"/>
              </a:rPr>
              <a:t>"nůžky"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A31515"/>
                </a:solidFill>
                <a:latin typeface="Consolas"/>
              </a:rPr>
              <a:t>"papír"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A31515"/>
                </a:solidFill>
                <a:latin typeface="Consolas"/>
              </a:rPr>
              <a:t>"vyhrává A"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(</a:t>
            </a:r>
            <a:r>
              <a:rPr sz="1250">
                <a:solidFill>
                  <a:srgbClr val="A31515"/>
                </a:solidFill>
                <a:latin typeface="Consolas"/>
              </a:rPr>
              <a:t>"papír"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A31515"/>
                </a:solidFill>
                <a:latin typeface="Consolas"/>
              </a:rPr>
              <a:t>"kámen"</a:t>
            </a:r>
            <a:r>
              <a:rPr sz="1250">
                <a:solidFill>
                  <a:srgbClr val="1E1E1E"/>
                </a:solidFill>
                <a:latin typeface="Consolas"/>
              </a:rPr>
              <a:t>)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A31515"/>
                </a:solidFill>
                <a:latin typeface="Consolas"/>
              </a:rPr>
              <a:t>"vyhrává A"</a:t>
            </a:r>
            <a:r>
              <a:rPr sz="125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0000FF"/>
                </a:solidFill>
                <a:latin typeface="Consolas"/>
              </a:rPr>
              <a:t>_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1E1E1E"/>
                </a:solidFill>
                <a:latin typeface="Consolas"/>
              </a:rPr>
              <a:t>=</a:t>
            </a:r>
            <a:r>
              <a:rPr sz="1250">
                <a:solidFill>
                  <a:srgbClr val="1E1E1E"/>
                </a:solidFill>
                <a:latin typeface="Consolas"/>
              </a:rPr>
              <a:t>&gt;</a:t>
            </a:r>
            <a:r>
              <a:rPr sz="1250">
                <a:solidFill>
                  <a:srgbClr val="1E1E1E"/>
                </a:solidFill>
                <a:latin typeface="Consolas"/>
              </a:rPr>
              <a:t> </a:t>
            </a:r>
            <a:r>
              <a:rPr sz="1250">
                <a:solidFill>
                  <a:srgbClr val="A31515"/>
                </a:solidFill>
                <a:latin typeface="Consolas"/>
              </a:rPr>
              <a:t>"vyhrává B"</a:t>
            </a:r>
          </a:p>
          <a:p>
            <a:pPr algn="l"/>
            <a:r>
              <a:rPr sz="1250">
                <a:solidFill>
                  <a:srgbClr val="1E1E1E"/>
                </a:solidFill>
                <a:latin typeface="Consolas"/>
              </a:rPr>
              <a:t>}</a:t>
            </a:r>
            <a:r>
              <a:rPr sz="125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 na typy – kdy je v pořádku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Třídy </a:t>
            </a:r>
            <a:r>
              <a:rPr b="1" sz="1600"/>
              <a:t>nevlastníme</a:t>
            </a:r>
            <a:r>
              <a:rPr sz="1600"/>
              <a:t> – nemůžeme přidat virtual metodu</a:t>
            </a:r>
          </a:p>
          <a:p>
            <a:pPr>
              <a:lnSpc>
                <a:spcPct val="110000"/>
              </a:lnSpc>
            </a:pPr>
            <a:r>
              <a:rPr sz="1600"/>
              <a:t>Rozhodnutí je </a:t>
            </a:r>
            <a:r>
              <a:rPr b="1" sz="1600"/>
              <a:t>jednorázové</a:t>
            </a:r>
            <a:r>
              <a:rPr sz="1600"/>
              <a:t>, na jednom místě</a:t>
            </a:r>
          </a:p>
          <a:p>
            <a:pPr>
              <a:lnSpc>
                <a:spcPct val="110000"/>
              </a:lnSpc>
            </a:pPr>
            <a:r>
              <a:rPr sz="1600"/>
              <a:t>Rozhodujeme podle </a:t>
            </a:r>
            <a:r>
              <a:rPr b="1" sz="1600"/>
              <a:t>tvaru dat</a:t>
            </a:r>
            <a:r>
              <a:rPr sz="1600"/>
              <a:t>, ne chování</a:t>
            </a:r>
          </a:p>
          <a:p>
            <a:pPr>
              <a:lnSpc>
                <a:spcPct val="110000"/>
              </a:lnSpc>
            </a:pPr>
            <a:r>
              <a:rPr sz="1600"/>
              <a:t>Vlastnosti lze vytáhnout do proměnných</a:t>
            </a:r>
          </a:p>
          <a:p>
            <a:pPr>
              <a:lnSpc>
                <a:spcPct val="110000"/>
              </a:lnSpc>
            </a:pPr>
            <a:r>
              <a:rPr sz="1600"/>
              <a:t>Pořadí větví: od konkrétních k obecným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350">
                <a:solidFill>
                  <a:srgbClr val="0000FF"/>
                </a:solidFill>
                <a:latin typeface="Consolas"/>
              </a:rPr>
              <a:t>string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74531F"/>
                </a:solidFill>
                <a:latin typeface="Consolas"/>
              </a:rPr>
              <a:t>Popis</a:t>
            </a:r>
            <a:r>
              <a:rPr sz="1350">
                <a:solidFill>
                  <a:srgbClr val="1E1E1E"/>
                </a:solidFill>
                <a:latin typeface="Consolas"/>
              </a:rPr>
              <a:t>(</a:t>
            </a:r>
            <a:r>
              <a:rPr sz="1350">
                <a:solidFill>
                  <a:srgbClr val="0000FF"/>
                </a:solidFill>
                <a:latin typeface="Consolas"/>
              </a:rPr>
              <a:t>object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tvar</a:t>
            </a:r>
            <a:r>
              <a:rPr sz="1350">
                <a:solidFill>
                  <a:srgbClr val="1E1E1E"/>
                </a:solidFill>
                <a:latin typeface="Consolas"/>
              </a:rPr>
              <a:t>)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tvar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switch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2B91AF"/>
                </a:solidFill>
                <a:latin typeface="Consolas"/>
              </a:rPr>
              <a:t>Kruh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k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when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k</a:t>
            </a:r>
            <a:r>
              <a:rPr sz="1350">
                <a:solidFill>
                  <a:srgbClr val="1E1E1E"/>
                </a:solidFill>
                <a:latin typeface="Consolas"/>
              </a:rPr>
              <a:t>.</a:t>
            </a:r>
            <a:r>
              <a:rPr sz="1350">
                <a:solidFill>
                  <a:srgbClr val="1E1E1E"/>
                </a:solidFill>
                <a:latin typeface="Consolas"/>
              </a:rPr>
              <a:t>Polomer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1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0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"velký kruh"</a:t>
            </a:r>
            <a:r>
              <a:rPr sz="135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2B91AF"/>
                </a:solidFill>
                <a:latin typeface="Consolas"/>
              </a:rPr>
              <a:t>Kruh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"kruh"</a:t>
            </a:r>
            <a:r>
              <a:rPr sz="135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2B91AF"/>
                </a:solidFill>
                <a:latin typeface="Consolas"/>
              </a:rPr>
              <a:t>Obdelnik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{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Sirka</a:t>
            </a:r>
            <a:r>
              <a:rPr sz="1350">
                <a:solidFill>
                  <a:srgbClr val="1E1E1E"/>
                </a:solidFill>
                <a:latin typeface="Consolas"/>
              </a:rPr>
              <a:t>: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var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s</a:t>
            </a:r>
            <a:r>
              <a:rPr sz="1350">
                <a:solidFill>
                  <a:srgbClr val="1E1E1E"/>
                </a:solidFill>
                <a:latin typeface="Consolas"/>
              </a:rPr>
              <a:t>,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Vyska</a:t>
            </a:r>
            <a:r>
              <a:rPr sz="1350">
                <a:solidFill>
                  <a:srgbClr val="1E1E1E"/>
                </a:solidFill>
                <a:latin typeface="Consolas"/>
              </a:rPr>
              <a:t>: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var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v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when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s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v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"čtverec"</a:t>
            </a:r>
            <a:r>
              <a:rPr sz="135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2B91AF"/>
                </a:solidFill>
                <a:latin typeface="Consolas"/>
              </a:rPr>
              <a:t>Obdelnik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"obdélník"</a:t>
            </a:r>
            <a:r>
              <a:rPr sz="135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null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"nic"</a:t>
            </a:r>
            <a:r>
              <a:rPr sz="1350">
                <a:solidFill>
                  <a:srgbClr val="1E1E1E"/>
                </a:solidFill>
                <a:latin typeface="Consolas"/>
              </a:rPr>
              <a:t>,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0000FF"/>
                </a:solidFill>
                <a:latin typeface="Consolas"/>
              </a:rPr>
              <a:t>_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1E1E1E"/>
                </a:solidFill>
                <a:latin typeface="Consolas"/>
              </a:rPr>
              <a:t>=</a:t>
            </a:r>
            <a:r>
              <a:rPr sz="1350">
                <a:solidFill>
                  <a:srgbClr val="1E1E1E"/>
                </a:solidFill>
                <a:latin typeface="Consolas"/>
              </a:rPr>
              <a:t>&gt;</a:t>
            </a:r>
            <a:r>
              <a:rPr sz="1350">
                <a:solidFill>
                  <a:srgbClr val="1E1E1E"/>
                </a:solidFill>
                <a:latin typeface="Consolas"/>
              </a:rPr>
              <a:t> </a:t>
            </a:r>
            <a:r>
              <a:rPr sz="1350">
                <a:solidFill>
                  <a:srgbClr val="A31515"/>
                </a:solidFill>
                <a:latin typeface="Consolas"/>
              </a:rPr>
              <a:t>"neznámý tvar"</a:t>
            </a:r>
          </a:p>
          <a:p>
            <a:pPr algn="l"/>
            <a:r>
              <a:rPr sz="1350">
                <a:solidFill>
                  <a:srgbClr val="1E1E1E"/>
                </a:solidFill>
                <a:latin typeface="Consolas"/>
              </a:rPr>
              <a:t>}</a:t>
            </a:r>
            <a:r>
              <a:rPr sz="1350">
                <a:solidFill>
                  <a:srgbClr val="1E1E1E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Polymorfismus, nebo pattern matching?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virtual / override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Chování </a:t>
            </a:r>
            <a:r>
              <a:rPr b="1" sz="1600"/>
              <a:t>patří objektu</a:t>
            </a:r>
          </a:p>
          <a:p>
            <a:pPr>
              <a:lnSpc>
                <a:spcPct val="110000"/>
              </a:lnSpc>
            </a:pPr>
            <a:r>
              <a:rPr sz="1600"/>
              <a:t>Stejné rozhodnutí by se opakovalo na více místech</a:t>
            </a:r>
          </a:p>
          <a:p>
            <a:pPr>
              <a:lnSpc>
                <a:spcPct val="110000"/>
              </a:lnSpc>
            </a:pPr>
            <a:r>
              <a:rPr sz="1600"/>
              <a:t>Nový typ = nová třída, starý kód se nemění</a:t>
            </a:r>
          </a:p>
          <a:p>
            <a:pPr>
              <a:lnSpc>
                <a:spcPct val="110000"/>
              </a:lnSpc>
            </a:pPr>
            <a:r>
              <a:rPr sz="1600"/>
              <a:t>Hierarchii tříd máme pod kontrolou</a:t>
            </a:r>
          </a:p>
          <a:p>
            <a:pPr>
              <a:lnSpc>
                <a:spcPct val="110000"/>
              </a:lnSpc>
            </a:pPr>
            <a:r>
              <a:rPr sz="1600"/>
              <a:t>Příklad: </a:t>
            </a:r>
            <a:r>
              <a:rPr sz="1600">
                <a:latin typeface="Consolas"/>
              </a:rPr>
              <a:t>zvire.Zvuk()</a:t>
            </a:r>
            <a:r>
              <a:rPr sz="1600"/>
              <a:t>, </a:t>
            </a:r>
            <a:r>
              <a:rPr sz="1600">
                <a:latin typeface="Consolas"/>
              </a:rPr>
              <a:t>tvar.Obsah()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 matching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Rozhodujeme podle </a:t>
            </a:r>
            <a:r>
              <a:rPr b="1" sz="1600"/>
              <a:t>hodnot dat</a:t>
            </a:r>
          </a:p>
          <a:p>
            <a:pPr>
              <a:lnSpc>
                <a:spcPct val="110000"/>
              </a:lnSpc>
            </a:pPr>
            <a:r>
              <a:rPr sz="1600"/>
              <a:t>Typy nevlastníme nebo nemají společného předka</a:t>
            </a:r>
          </a:p>
          <a:p>
            <a:pPr>
              <a:lnSpc>
                <a:spcPct val="110000"/>
              </a:lnSpc>
            </a:pPr>
            <a:r>
              <a:rPr sz="1600"/>
              <a:t>Rozhodnutí na </a:t>
            </a:r>
            <a:r>
              <a:rPr b="1" sz="1600"/>
              <a:t>jednom místě</a:t>
            </a:r>
            <a:r>
              <a:rPr sz="1600"/>
              <a:t> v programu</a:t>
            </a:r>
          </a:p>
          <a:p>
            <a:pPr>
              <a:lnSpc>
                <a:spcPct val="110000"/>
              </a:lnSpc>
            </a:pPr>
            <a:r>
              <a:rPr sz="1600"/>
              <a:t>Kombinace více hodnot (tuple)</a:t>
            </a:r>
          </a:p>
          <a:p>
            <a:pPr>
              <a:lnSpc>
                <a:spcPct val="110000"/>
              </a:lnSpc>
            </a:pPr>
            <a:r>
              <a:rPr sz="1600"/>
              <a:t>Příklad: klasifikace bodů, vyhodnocení tahu hry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Přehled patternů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2600000"/>
          <a:ext cx="10363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640"/>
                <a:gridCol w="4663440"/>
                <a:gridCol w="3627120"/>
              </a:tblGrid>
              <a:tr h="3886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Pattern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Zápis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Co ověří</a:t>
                      </a:r>
                    </a:p>
                  </a:txBody>
                  <a:tcPr marL="91440" marR="91440" anchor="ctr">
                    <a:solidFill>
                      <a:srgbClr val="1973E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Typový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x is Manazer 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typ a zpřístupní proměnnou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Vlastnostní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x is Manazer { Bonus: &gt; 1000 }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typ i hodnotu vlastnosti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Relační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&gt;= 90 =&gt; …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porovnání &lt;, &gt;, &lt;=, &gt;=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Kombinátory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and, or, not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logické skládání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Tuple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(x, y) switch { (0, 0) =&gt; … }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kombinaci více hodnot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Discard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_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na hodnotě nezáleží</a:t>
                      </a:r>
                    </a:p>
                  </a:txBody>
                  <a:tcPr marL="91440" marR="91440" anchor="ctr">
                    <a:solidFill>
                      <a:srgbClr val="F4F5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500"/>
                        <a:t>Podmínka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Kruh k when k.Polomer &gt; 100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doplňující podmínku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Procvičování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000"/>
              <a:t>Pomocí switch expression napište: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1. Převod známky 1–5 na slovní hodnocení, jinak výjimka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2. Cenu jízdenky podle věku: dítě, student, dospělý, senior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3. Vyhodnocení hry kámen–nůžky–papír pro dva hráče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4. Popis objektu: string (délka), int (sudé/liché), null, ostatní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5. Kvadrant bodu (x, y) včetně os a počátku</a:t>
            </a:r>
          </a:p>
          <a:p>
            <a:pPr>
              <a:lnSpc>
                <a:spcPct val="110000"/>
              </a:lnSpc>
            </a:pPr>
            <a:r>
              <a:rPr sz="2000"/>
              <a:t>U každé úlohy: co se stane, když vynecháte větev _ ?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Refaktoring – přepište pomocí 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2650000"/>
            <a:ext cx="4700000" cy="3550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sz="1600"/>
              <a:t>Kód funguje, ale je těžko čitelný</a:t>
            </a:r>
          </a:p>
          <a:p>
            <a:pPr>
              <a:lnSpc>
                <a:spcPct val="110000"/>
              </a:lnSpc>
            </a:pPr>
            <a:r>
              <a:rPr sz="1600"/>
              <a:t>Přepište ho pomocí pattern matchingu</a:t>
            </a:r>
          </a:p>
          <a:p>
            <a:pPr>
              <a:lnSpc>
                <a:spcPct val="110000"/>
              </a:lnSpc>
            </a:pPr>
            <a:r>
              <a:rPr sz="1600"/>
              <a:t>Zachovejte </a:t>
            </a:r>
            <a:r>
              <a:rPr b="1" sz="1600"/>
              <a:t>stejné chování</a:t>
            </a:r>
          </a:p>
          <a:p>
            <a:pPr>
              <a:lnSpc>
                <a:spcPct val="110000"/>
              </a:lnSpc>
            </a:pPr>
            <a:r>
              <a:rPr sz="1600"/>
              <a:t>Ověřte na hraničních hodnotách</a:t>
            </a:r>
          </a:p>
          <a:p>
            <a:pPr lvl="1">
              <a:lnSpc>
                <a:spcPct val="110000"/>
              </a:lnSpc>
            </a:pPr>
            <a:r>
              <a:rPr sz="1500"/>
              <a:t>0, 17, 18, 64, 65, záporný věk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Kód"/>
          <p:cNvSpPr/>
          <p:nvPr/>
        </p:nvSpPr>
        <p:spPr>
          <a:xfrm>
            <a:off x="5800000" y="2650000"/>
            <a:ext cx="5477600" cy="3550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164592" bIns="164592"/>
          <a:lstStyle/>
          <a:p>
            <a:pPr algn="l"/>
            <a:r>
              <a:rPr sz="1450">
                <a:solidFill>
                  <a:srgbClr val="0000FF"/>
                </a:solidFill>
                <a:latin typeface="Consolas"/>
              </a:rPr>
              <a:t>double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74531F"/>
                </a:solidFill>
                <a:latin typeface="Consolas"/>
              </a:rPr>
              <a:t>Sleva</a:t>
            </a:r>
            <a:r>
              <a:rPr sz="1450">
                <a:solidFill>
                  <a:srgbClr val="1E1E1E"/>
                </a:solidFill>
                <a:latin typeface="Consolas"/>
              </a:rPr>
              <a:t>(</a:t>
            </a:r>
            <a:r>
              <a:rPr sz="1450">
                <a:solidFill>
                  <a:srgbClr val="0000FF"/>
                </a:solidFill>
                <a:latin typeface="Consolas"/>
              </a:rPr>
              <a:t>int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vek</a:t>
            </a:r>
            <a:r>
              <a:rPr sz="1450">
                <a:solidFill>
                  <a:srgbClr val="1E1E1E"/>
                </a:solidFill>
                <a:latin typeface="Consolas"/>
              </a:rPr>
              <a:t>,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bool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student</a:t>
            </a:r>
            <a:r>
              <a:rPr sz="14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if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(</a:t>
            </a:r>
            <a:r>
              <a:rPr sz="1450">
                <a:solidFill>
                  <a:srgbClr val="1E1E1E"/>
                </a:solidFill>
                <a:latin typeface="Consolas"/>
              </a:rPr>
              <a:t>vek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&lt;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0</a:t>
            </a:r>
            <a:r>
              <a:rPr sz="14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throw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new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2B91AF"/>
                </a:solidFill>
                <a:latin typeface="Consolas"/>
              </a:rPr>
              <a:t>ArgumentException</a:t>
            </a:r>
            <a:r>
              <a:rPr sz="1450">
                <a:solidFill>
                  <a:srgbClr val="1E1E1E"/>
                </a:solidFill>
                <a:latin typeface="Consolas"/>
              </a:rPr>
              <a:t>(</a:t>
            </a:r>
            <a:r>
              <a:rPr sz="1450">
                <a:solidFill>
                  <a:srgbClr val="1E1E1E"/>
                </a:solidFill>
                <a:latin typeface="Consolas"/>
              </a:rPr>
              <a:t>)</a:t>
            </a:r>
            <a:r>
              <a:rPr sz="14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if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(</a:t>
            </a:r>
            <a:r>
              <a:rPr sz="1450">
                <a:solidFill>
                  <a:srgbClr val="1E1E1E"/>
                </a:solidFill>
                <a:latin typeface="Consolas"/>
              </a:rPr>
              <a:t>vek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&lt;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6</a:t>
            </a:r>
            <a:r>
              <a:rPr sz="14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return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1</a:t>
            </a:r>
            <a:r>
              <a:rPr sz="1450">
                <a:solidFill>
                  <a:srgbClr val="1E1E1E"/>
                </a:solidFill>
                <a:latin typeface="Consolas"/>
              </a:rPr>
              <a:t>.</a:t>
            </a:r>
            <a:r>
              <a:rPr sz="1450">
                <a:solidFill>
                  <a:srgbClr val="1E1E1E"/>
                </a:solidFill>
                <a:latin typeface="Consolas"/>
              </a:rPr>
              <a:t>0</a:t>
            </a:r>
            <a:r>
              <a:rPr sz="14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else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{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if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(</a:t>
            </a:r>
            <a:r>
              <a:rPr sz="1450">
                <a:solidFill>
                  <a:srgbClr val="1E1E1E"/>
                </a:solidFill>
                <a:latin typeface="Consolas"/>
              </a:rPr>
              <a:t>vek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&lt;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1</a:t>
            </a:r>
            <a:r>
              <a:rPr sz="1450">
                <a:solidFill>
                  <a:srgbClr val="1E1E1E"/>
                </a:solidFill>
                <a:latin typeface="Consolas"/>
              </a:rPr>
              <a:t>8</a:t>
            </a:r>
            <a:r>
              <a:rPr sz="1450">
                <a:solidFill>
                  <a:srgbClr val="1E1E1E"/>
                </a:solidFill>
                <a:latin typeface="Consolas"/>
              </a:rPr>
              <a:t>)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return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0</a:t>
            </a:r>
            <a:r>
              <a:rPr sz="1450">
                <a:solidFill>
                  <a:srgbClr val="1E1E1E"/>
                </a:solidFill>
                <a:latin typeface="Consolas"/>
              </a:rPr>
              <a:t>.</a:t>
            </a:r>
            <a:r>
              <a:rPr sz="1450">
                <a:solidFill>
                  <a:srgbClr val="1E1E1E"/>
                </a:solidFill>
                <a:latin typeface="Consolas"/>
              </a:rPr>
              <a:t>5</a:t>
            </a:r>
            <a:r>
              <a:rPr sz="14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else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if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(</a:t>
            </a:r>
            <a:r>
              <a:rPr sz="1450">
                <a:solidFill>
                  <a:srgbClr val="1E1E1E"/>
                </a:solidFill>
                <a:latin typeface="Consolas"/>
              </a:rPr>
              <a:t>student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=</a:t>
            </a:r>
            <a:r>
              <a:rPr sz="1450">
                <a:solidFill>
                  <a:srgbClr val="1E1E1E"/>
                </a:solidFill>
                <a:latin typeface="Consolas"/>
              </a:rPr>
              <a:t>=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true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&amp;</a:t>
            </a:r>
            <a:r>
              <a:rPr sz="1450">
                <a:solidFill>
                  <a:srgbClr val="1E1E1E"/>
                </a:solidFill>
                <a:latin typeface="Consolas"/>
              </a:rPr>
              <a:t>&amp;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vek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&lt;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2</a:t>
            </a:r>
            <a:r>
              <a:rPr sz="1450">
                <a:solidFill>
                  <a:srgbClr val="1E1E1E"/>
                </a:solidFill>
                <a:latin typeface="Consolas"/>
              </a:rPr>
              <a:t>6</a:t>
            </a:r>
            <a:r>
              <a:rPr sz="1450">
                <a:solidFill>
                  <a:srgbClr val="1E1E1E"/>
                </a:solidFill>
                <a:latin typeface="Consolas"/>
              </a:rPr>
              <a:t>)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return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0</a:t>
            </a:r>
            <a:r>
              <a:rPr sz="1450">
                <a:solidFill>
                  <a:srgbClr val="1E1E1E"/>
                </a:solidFill>
                <a:latin typeface="Consolas"/>
              </a:rPr>
              <a:t>.</a:t>
            </a:r>
            <a:r>
              <a:rPr sz="1450">
                <a:solidFill>
                  <a:srgbClr val="1E1E1E"/>
                </a:solidFill>
                <a:latin typeface="Consolas"/>
              </a:rPr>
              <a:t>5</a:t>
            </a:r>
            <a:r>
              <a:rPr sz="14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else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if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(</a:t>
            </a:r>
            <a:r>
              <a:rPr sz="1450">
                <a:solidFill>
                  <a:srgbClr val="1E1E1E"/>
                </a:solidFill>
                <a:latin typeface="Consolas"/>
              </a:rPr>
              <a:t>vek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&gt;</a:t>
            </a:r>
            <a:r>
              <a:rPr sz="1450">
                <a:solidFill>
                  <a:srgbClr val="1E1E1E"/>
                </a:solidFill>
                <a:latin typeface="Consolas"/>
              </a:rPr>
              <a:t>=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6</a:t>
            </a:r>
            <a:r>
              <a:rPr sz="1450">
                <a:solidFill>
                  <a:srgbClr val="1E1E1E"/>
                </a:solidFill>
                <a:latin typeface="Consolas"/>
              </a:rPr>
              <a:t>5</a:t>
            </a:r>
            <a:r>
              <a:rPr sz="1450">
                <a:solidFill>
                  <a:srgbClr val="1E1E1E"/>
                </a:solidFill>
                <a:latin typeface="Consolas"/>
              </a:rPr>
              <a:t>)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return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0</a:t>
            </a:r>
            <a:r>
              <a:rPr sz="1450">
                <a:solidFill>
                  <a:srgbClr val="1E1E1E"/>
                </a:solidFill>
                <a:latin typeface="Consolas"/>
              </a:rPr>
              <a:t>.</a:t>
            </a:r>
            <a:r>
              <a:rPr sz="1450">
                <a:solidFill>
                  <a:srgbClr val="1E1E1E"/>
                </a:solidFill>
                <a:latin typeface="Consolas"/>
              </a:rPr>
              <a:t>7</a:t>
            </a:r>
            <a:r>
              <a:rPr sz="1450">
                <a:solidFill>
                  <a:srgbClr val="1E1E1E"/>
                </a:solidFill>
                <a:latin typeface="Consolas"/>
              </a:rPr>
              <a:t>5</a:t>
            </a:r>
            <a:r>
              <a:rPr sz="14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else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0000FF"/>
                </a:solidFill>
                <a:latin typeface="Consolas"/>
              </a:rPr>
              <a:t>return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0</a:t>
            </a:r>
            <a:r>
              <a:rPr sz="1450">
                <a:solidFill>
                  <a:srgbClr val="1E1E1E"/>
                </a:solidFill>
                <a:latin typeface="Consolas"/>
              </a:rPr>
              <a:t>.</a:t>
            </a:r>
            <a:r>
              <a:rPr sz="1450">
                <a:solidFill>
                  <a:srgbClr val="1E1E1E"/>
                </a:solidFill>
                <a:latin typeface="Consolas"/>
              </a:rPr>
              <a:t>0</a:t>
            </a:r>
            <a:r>
              <a:rPr sz="1450">
                <a:solidFill>
                  <a:srgbClr val="1E1E1E"/>
                </a:solidFill>
                <a:latin typeface="Consolas"/>
              </a:rPr>
              <a:t>;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 </a:t>
            </a:r>
            <a:r>
              <a:rPr sz="1450">
                <a:solidFill>
                  <a:srgbClr val="1E1E1E"/>
                </a:solidFill>
                <a:latin typeface="Consolas"/>
              </a:rPr>
              <a:t>}</a:t>
            </a:r>
          </a:p>
          <a:p>
            <a:pPr algn="l"/>
            <a:r>
              <a:rPr sz="1450">
                <a:solidFill>
                  <a:srgbClr val="1E1E1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Praxe – textová hra s příkazy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sz="2000"/>
              <a:t>Konzolová (nebo WFA) adventura ovládaná textovými příkazy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vstup „jdi sever“, „vezmi klíč“, „použij klíč dveře“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rozdělení na slova → tuple nebo pole</a:t>
            </a:r>
          </a:p>
          <a:p>
            <a:pPr>
              <a:lnSpc>
                <a:spcPct val="110000"/>
              </a:lnSpc>
            </a:pPr>
            <a:r>
              <a:rPr sz="2000"/>
              <a:t>Vyhodnocení příkazu pomocí switch s tuple patterny</a:t>
            </a:r>
          </a:p>
          <a:p>
            <a:pPr lvl="1">
              <a:lnSpc>
                <a:spcPct val="110000"/>
              </a:lnSpc>
              <a:buNone/>
            </a:pPr>
            <a:r>
              <a:rPr sz="1800"/>
              <a:t>neznámý příkaz → nápověda</a:t>
            </a:r>
          </a:p>
          <a:p>
            <a:pPr>
              <a:lnSpc>
                <a:spcPct val="110000"/>
              </a:lnSpc>
            </a:pPr>
            <a:r>
              <a:rPr sz="2000"/>
              <a:t>Herní objekty jako třídy – chování přes override, příkazy přes pattern matching</a:t>
            </a:r>
          </a:p>
          <a:p>
            <a:pPr>
              <a:lnSpc>
                <a:spcPct val="110000"/>
              </a:lnSpc>
            </a:pPr>
            <a:r>
              <a:rPr sz="2000"/>
              <a:t>Bonus: uložení stavu hry do souboru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D695048C-4ED8-1785-CE5A-487FCF82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64C5578-5F64-41E3-8B71-FCD12A72B81F}" type="datetime1">
              <a:rPr lang="en-US" smtClean="0"/>
              <a:pPr>
                <a:spcAft>
                  <a:spcPts val="600"/>
                </a:spcAft>
              </a:pPr>
              <a:t>9/2/2026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16149381-361D-52A0-14E9-6E4EB537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F53EF-9926-4E19-812B-E852BC969F5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171</Words>
  <Application>Microsoft Office PowerPoint</Application>
  <PresentationFormat>Širokoúhlá obrazovka</PresentationFormat>
  <Paragraphs>31</Paragraphs>
  <Slides>7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DashVTI</vt:lpstr>
      <vt:lpstr>Soubory a složky</vt:lpstr>
      <vt:lpstr>Stream</vt:lpstr>
      <vt:lpstr>StreamReader, StreamWriter</vt:lpstr>
      <vt:lpstr>Příklad čtení a zápisu do textového</vt:lpstr>
      <vt:lpstr>Neexistující soubor pro zápis</vt:lpstr>
      <vt:lpstr>File</vt:lpstr>
      <vt:lpstr>Directory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42</cp:revision>
  <dcterms:created xsi:type="dcterms:W3CDTF">2022-09-21T15:44:15Z</dcterms:created>
  <dcterms:modified xsi:type="dcterms:W3CDTF">2026-09-03T05:46:04Z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  <property fmtid="{D5CDD505-2E9C-101B-9397-08002B2CF9AE}" pid="3" name="Order">
    <vt:r8>5200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