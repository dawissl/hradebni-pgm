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1.xml" ContentType="application/xml"/>
  <Override PartName="/customXml/itemProps1.xml" ContentType="application/vnd.openxmlformats-officedocument.customXmlProperties+xml"/>
  <Override PartName="/customXml/item2.xml" ContentType="application/xml"/>
  <Override PartName="/customXml/_rels/item3.xml.rels" ContentType="application/vnd.openxmlformats-package.relationships+xml"/>
  <Override PartName="/customXml/_rels/item2.xml.rels" ContentType="application/vnd.openxmlformats-package.relationships+xml"/>
  <Override PartName="/customXml/_rels/item1.xml.rels" ContentType="application/vnd.openxmlformats-package.relationships+xml"/>
  <Override PartName="/customXml/itemProps2.xml" ContentType="application/vnd.openxmlformats-officedocument.customXmlProperties+xml"/>
  <Override PartName="/customXml/item3.xml" ContentType="application/xml"/>
  <Override PartName="/customXml/itemProps3.xml" ContentType="application/vnd.openxmlformats-officedocument.customXml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17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notesSlides/_rels/notesSlide17.xml.rels" ContentType="application/vnd.openxmlformats-package.relationships+xml"/>
  <Override PartName="/ppt/notesSlides/_rels/notesSlide10.xml.rels" ContentType="application/vnd.openxmlformats-package.relationships+xml"/>
  <Override PartName="/ppt/notesSlides/notesSlide10.xml" ContentType="application/vnd.openxmlformats-officedocument.presentationml.notesSlide+xml"/>
  <Override PartName="/ppt/notesSlides/notesSlide17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customXml" Target="../customXml/item1.xml"/><Relationship Id="rId5" Type="http://schemas.openxmlformats.org/officeDocument/2006/relationships/customXml" Target="../customXml/item2.xml"/><Relationship Id="rId6" Type="http://schemas.openxmlformats.org/officeDocument/2006/relationships/customXml" Target="../customXml/item3.xml"/><Relationship Id="rId7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notesMasterIdLst>
    <p:notesMasterId r:id="rId13"/>
  </p:notes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22"/>
    <p:sldId id="265" r:id="rId23"/>
    <p:sldId id="266" r:id="rId24"/>
    <p:sldId id="267" r:id="rId25"/>
    <p:sldId id="268" r:id="rId26"/>
    <p:sldId id="269" r:id="rId27"/>
    <p:sldId id="270" r:id="rId28"/>
    <p:sldId id="271" r:id="rId29"/>
    <p:sldId id="272" r:id="rId30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4.xml"/><Relationship Id="rId28" Type="http://schemas.openxmlformats.org/officeDocument/2006/relationships/slide" Target="slides/slide15.xml"/><Relationship Id="rId29" Type="http://schemas.openxmlformats.org/officeDocument/2006/relationships/slide" Target="slides/slide16.xml"/><Relationship Id="rId30" Type="http://schemas.openxmlformats.org/officeDocument/2006/relationships/slide" Target="slides/slide17.xml"/><Relationship Id="rId31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Grandview Display"/>
              </a:rPr>
              <a:t>Klikněte pro přesun snímku</a:t>
            </a:r>
            <a:endParaRPr b="0" lang="en-US" sz="18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cs-CZ" sz="2000" spc="-1" strike="noStrike">
                <a:solidFill>
                  <a:srgbClr val="000000"/>
                </a:solidFill>
                <a:latin typeface="Arial"/>
              </a:rPr>
              <a:t>Klikněte pro úpravu formátu komentářů</a:t>
            </a:r>
            <a:endParaRPr b="0" lang="cs-CZ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cs-CZ" sz="1400" spc="-1" strike="noStrike">
                <a:solidFill>
                  <a:srgbClr val="000000"/>
                </a:solidFill>
                <a:latin typeface="Times New Roman"/>
              </a:rPr>
              <a:t>&lt;záhlaví&gt;</a:t>
            </a:r>
            <a:endParaRPr b="0" lang="cs-CZ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0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cs-CZ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cs-CZ" sz="1400" spc="-1" strike="noStrike">
                <a:solidFill>
                  <a:srgbClr val="000000"/>
                </a:solidFill>
                <a:latin typeface="Times New Roman"/>
              </a:rPr>
              <a:t>&lt;datum/čas&gt;</a:t>
            </a:r>
            <a:endParaRPr b="0" lang="cs-CZ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1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cs-CZ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cs-CZ" sz="1400" spc="-1" strike="noStrike">
                <a:solidFill>
                  <a:srgbClr val="000000"/>
                </a:solidFill>
                <a:latin typeface="Times New Roman"/>
              </a:rPr>
              <a:t>&lt;zápatí&gt;</a:t>
            </a:r>
            <a:endParaRPr b="0" lang="cs-CZ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2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cs-CZ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613C5AAF-E1C7-4F98-A06B-39A314856175}" type="slidenum">
              <a:rPr b="0" lang="cs-CZ" sz="1400" spc="-1" strike="noStrike">
                <a:solidFill>
                  <a:srgbClr val="000000"/>
                </a:solidFill>
                <a:latin typeface="Times New Roman"/>
              </a:rPr>
              <a:t>&lt;číslo&gt;</a:t>
            </a:fld>
            <a:endParaRPr b="0" lang="cs-CZ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cs-CZ" sz="2000" spc="-1" strike="noStrike">
                <a:solidFill>
                  <a:srgbClr val="000000"/>
                </a:solidFill>
                <a:latin typeface="Arial"/>
              </a:rPr>
              <a:t>Doplňující otázka: proč chování zvířat neřešit řetězcem if (z is Pes) ... else if (z is Kocka) ...? Každý nový druh by vyžadoval úpravu existujícího kódu – porušení principu Open/Closed. Pozor na rozlišení: problém není operátor is sám o sobě. Pattern matching (is, switch výrazy) je legitimní nástroj pro práci s daty a typy, které nemáme pod kontrolou – probereme ho později. Chování, které patří objektu, ale má být v objektu (override).</a:t>
            </a:r>
            <a:endParaRPr b="0" lang="cs-CZ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PlaceHolder 3"/>
          <p:cNvSpPr>
            <a:spLocks noGrp="1"/>
          </p:cNvSpPr>
          <p:nvPr>
            <p:ph type="sldNum" idx="7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cs-CZ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B7F11A1-9DAF-4D5E-9162-62ACD3C03426}" type="slidenum"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&lt;číslo&gt;</a:t>
            </a:fld>
            <a:endParaRPr b="0" lang="cs-CZ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cs-CZ" sz="2000" spc="-1" strike="noStrike">
                <a:solidFill>
                  <a:srgbClr val="000000"/>
                </a:solidFill>
                <a:latin typeface="Arial"/>
              </a:rPr>
              <a:t>Chyby k nalezení:</a:t>
            </a:r>
            <a:endParaRPr b="0" lang="cs-CZ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cs-CZ" sz="2000" spc="-1" strike="noStrike">
                <a:solidFill>
                  <a:srgbClr val="000000"/>
                </a:solidFill>
                <a:latin typeface="Arial"/>
              </a:rPr>
              <a:t>- public fields – bez zapouzdření, kdokoliv nastaví Body = -100 nebo Jmeno = null</a:t>
            </a:r>
            <a:endParaRPr b="0" lang="cs-CZ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cs-CZ" sz="2000" spc="-1" strike="noStrike">
                <a:solidFill>
                  <a:srgbClr val="000000"/>
                </a:solidFill>
                <a:latin typeface="Arial"/>
              </a:rPr>
              <a:t>- větvení podle textového Typ místo dědičnosti a polymorfismu (if/else roste s každým typem)</a:t>
            </a:r>
            <a:endParaRPr b="0" lang="cs-CZ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cs-CZ" sz="2000" spc="-1" strike="noStrike">
                <a:solidFill>
                  <a:srgbClr val="000000"/>
                </a:solidFill>
                <a:latin typeface="Arial"/>
              </a:rPr>
              <a:t>- magická čísla 3 a 1, překlep v řetězci typu by se neodhalil (lepší enum nebo třídy)</a:t>
            </a:r>
            <a:endParaRPr b="0" lang="cs-CZ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cs-CZ" sz="2000" spc="-1" strike="noStrike">
                <a:solidFill>
                  <a:srgbClr val="000000"/>
                </a:solidFill>
                <a:latin typeface="Arial"/>
              </a:rPr>
              <a:t>- metoda míchá výpočet a výpis</a:t>
            </a:r>
            <a:endParaRPr b="0" lang="cs-CZ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cs-CZ" sz="2000" spc="-1" strike="noStrike">
                <a:solidFill>
                  <a:srgbClr val="000000"/>
                </a:solidFill>
                <a:latin typeface="Arial"/>
              </a:rPr>
              <a:t>- návrh: abstraktní třída Postava s abstract int SilaUtoku(), potomci Valecnik, Mag; Body jako property s private set</a:t>
            </a:r>
            <a:endParaRPr b="0" lang="cs-CZ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PlaceHolder 3"/>
          <p:cNvSpPr>
            <a:spLocks noGrp="1"/>
          </p:cNvSpPr>
          <p:nvPr>
            <p:ph type="sldNum" idx="7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cs-CZ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C39CA64-A548-432D-987D-844F8DB0ECE2}" type="slidenum"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&lt;číslo&gt;</a:t>
            </a:fld>
            <a:endParaRPr b="0" lang="cs-CZ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914400" y="1371600"/>
            <a:ext cx="10362960" cy="118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914400" y="2849400"/>
            <a:ext cx="5105160" cy="3210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cs-CZ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F1CFB5D-FC46-410D-83E0-4F0180AA7C6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cs-CZ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903D900-88F2-42A7-BD16-DFEAE0F8CFD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cs-CZ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1F2F96C0-76DE-4F30-8490-69FB5148758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cs-CZ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914400" y="1371600"/>
            <a:ext cx="10362960" cy="118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/>
          </p:nvPr>
        </p:nvSpPr>
        <p:spPr>
          <a:xfrm>
            <a:off x="914400" y="2849400"/>
            <a:ext cx="5105160" cy="3210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E9949832-1A36-4955-A9E7-A773EAB98C8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cs-CZ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57B39333-295D-4B40-B1FF-01B2FA50B51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cs-CZ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914400" y="1371600"/>
            <a:ext cx="10362960" cy="118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/>
          </p:nvPr>
        </p:nvSpPr>
        <p:spPr>
          <a:xfrm>
            <a:off x="914400" y="2849400"/>
            <a:ext cx="2491200" cy="3210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/>
          </p:nvPr>
        </p:nvSpPr>
        <p:spPr>
          <a:xfrm>
            <a:off x="3530520" y="2849400"/>
            <a:ext cx="2491200" cy="3210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65CFC983-AFA0-47E8-BB44-314E7F5F534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cs-CZ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0040AC4A-FDFA-4FBC-9588-2A1E50469C8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cs-CZ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914400" y="1371600"/>
            <a:ext cx="10362960" cy="118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B771B3ED-5BFC-4856-B9C1-89DC329E60F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cs-CZ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7D3E6BB1-00B8-4793-846A-EA8198C72FE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cs-CZ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E8B8381E-03CC-4163-9621-C6DC50368AC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cs-CZ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471D532D-3FAA-4269-A5E1-189AD049C95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cs-CZ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0" name="Straight Connector 6"/>
          <p:cNvCxnSpPr/>
          <p:nvPr/>
        </p:nvCxnSpPr>
        <p:spPr>
          <a:xfrm>
            <a:off x="990360" y="1030680"/>
            <a:ext cx="979200" cy="360"/>
          </a:xfrm>
          <a:prstGeom prst="straightConnector1">
            <a:avLst/>
          </a:prstGeom>
          <a:ln w="76200">
            <a:solidFill>
              <a:srgbClr val="1973eb"/>
            </a:solidFill>
          </a:ln>
        </p:spPr>
      </p:cxn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912600" y="1371600"/>
            <a:ext cx="5935320" cy="2696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00000"/>
              </a:lnSpc>
              <a:buNone/>
            </a:pPr>
            <a:r>
              <a:rPr b="0" lang="en-US" sz="4000" spc="-1" strike="noStrike">
                <a:solidFill>
                  <a:schemeClr val="dk1"/>
                </a:solidFill>
                <a:latin typeface="Grandview Display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dt" idx="1"/>
          </p:nvPr>
        </p:nvSpPr>
        <p:spPr>
          <a:xfrm>
            <a:off x="91260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&lt;datum/čas&gt;</a:t>
            </a:r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ftr" idx="2"/>
          </p:nvPr>
        </p:nvSpPr>
        <p:spPr>
          <a:xfrm>
            <a:off x="6767640" y="6356520"/>
            <a:ext cx="40399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algn="ctr">
              <a:buNone/>
            </a:pPr>
            <a:r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&lt;zápatí&gt;</a:t>
            </a:r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sldNum" idx="3"/>
          </p:nvPr>
        </p:nvSpPr>
        <p:spPr>
          <a:xfrm>
            <a:off x="10807920" y="6356520"/>
            <a:ext cx="722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9D16D95-FB0B-4475-9F60-C4BE79B60A13}" type="slidenum"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&lt;číslo&gt;</a:t>
            </a:fld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990360" y="1030680"/>
            <a:ext cx="979200" cy="360"/>
          </a:xfrm>
          <a:prstGeom prst="straightConnector1">
            <a:avLst/>
          </a:prstGeom>
          <a:ln w="76200">
            <a:solidFill>
              <a:srgbClr val="1973eb"/>
            </a:solidFill>
          </a:ln>
        </p:spPr>
      </p:cxnSp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914400" y="1371600"/>
            <a:ext cx="10362960" cy="1187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0" lang="en-US" sz="4000" spc="-1" strike="noStrike">
                <a:solidFill>
                  <a:schemeClr val="dk1"/>
                </a:solidFill>
                <a:latin typeface="Grandview Display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914400" y="2559240"/>
            <a:ext cx="10362960" cy="3382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Grandview Display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Grandview Display"/>
            </a:endParaRPr>
          </a:p>
          <a:p>
            <a:pPr lvl="1" marL="493920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Grandview Display"/>
              </a:rPr>
              <a:t>Second level</a:t>
            </a:r>
            <a:endParaRPr b="0" lang="en-US" sz="1800" spc="-1" strike="noStrike">
              <a:solidFill>
                <a:schemeClr val="dk1"/>
              </a:solidFill>
              <a:latin typeface="Grandview Display"/>
            </a:endParaRPr>
          </a:p>
          <a:p>
            <a:pPr lvl="2" marL="731520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Third level</a:t>
            </a:r>
            <a:endParaRPr b="0" lang="en-US" sz="1600" spc="-1" strike="noStrike">
              <a:solidFill>
                <a:schemeClr val="dk1"/>
              </a:solidFill>
              <a:latin typeface="Grandview Display"/>
            </a:endParaRPr>
          </a:p>
          <a:p>
            <a:pPr lvl="3" marL="1051560" indent="-28584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400" spc="-1" strike="noStrike">
                <a:solidFill>
                  <a:schemeClr val="dk1"/>
                </a:solidFill>
                <a:latin typeface="Grandview Display"/>
              </a:rPr>
              <a:t>Fourth level</a:t>
            </a:r>
            <a:endParaRPr b="0" lang="en-US" sz="1400" spc="-1" strike="noStrike">
              <a:solidFill>
                <a:schemeClr val="dk1"/>
              </a:solidFill>
              <a:latin typeface="Grandview Display"/>
            </a:endParaRPr>
          </a:p>
          <a:p>
            <a:pPr lvl="4" marL="1298520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400" spc="-1" strike="noStrike">
                <a:solidFill>
                  <a:schemeClr val="dk1"/>
                </a:solidFill>
                <a:latin typeface="Grandview Display"/>
              </a:rPr>
              <a:t>Fifth level</a:t>
            </a:r>
            <a:endParaRPr b="0" lang="en-US" sz="14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dt" idx="4"/>
          </p:nvPr>
        </p:nvSpPr>
        <p:spPr>
          <a:xfrm>
            <a:off x="91260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&lt;datum/čas&gt;</a:t>
            </a:r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ftr" idx="5"/>
          </p:nvPr>
        </p:nvSpPr>
        <p:spPr>
          <a:xfrm>
            <a:off x="6767640" y="6356520"/>
            <a:ext cx="40399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algn="ctr">
              <a:buNone/>
            </a:pPr>
            <a:r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&lt;zápatí&gt;</a:t>
            </a:r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" name="PlaceHolder 5"/>
          <p:cNvSpPr>
            <a:spLocks noGrp="1"/>
          </p:cNvSpPr>
          <p:nvPr>
            <p:ph type="sldNum" idx="6"/>
          </p:nvPr>
        </p:nvSpPr>
        <p:spPr>
          <a:xfrm>
            <a:off x="10807920" y="6356520"/>
            <a:ext cx="722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48AECA7-2896-4FE8-8364-963148FA6449}" type="slidenum"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&lt;číslo&gt;</a:t>
            </a:fld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Connector 6"/>
          <p:cNvCxnSpPr/>
          <p:nvPr/>
        </p:nvCxnSpPr>
        <p:spPr>
          <a:xfrm>
            <a:off x="990360" y="1030680"/>
            <a:ext cx="979200" cy="360"/>
          </a:xfrm>
          <a:prstGeom prst="straightConnector1">
            <a:avLst/>
          </a:prstGeom>
          <a:ln w="76200">
            <a:solidFill>
              <a:srgbClr val="1973eb"/>
            </a:solidFill>
          </a:ln>
        </p:spPr>
      </p:cxnSp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9198000" y="1401120"/>
            <a:ext cx="2155320" cy="4775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0" lang="en-US" sz="4000" spc="-1" strike="noStrike">
                <a:solidFill>
                  <a:schemeClr val="dk1"/>
                </a:solidFill>
                <a:latin typeface="Grandview Display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838080" y="1401120"/>
            <a:ext cx="8231760" cy="4775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Grandview Display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Grandview Display"/>
            </a:endParaRPr>
          </a:p>
          <a:p>
            <a:pPr lvl="1" marL="493920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Grandview Display"/>
              </a:rPr>
              <a:t>Second level</a:t>
            </a:r>
            <a:endParaRPr b="0" lang="en-US" sz="1800" spc="-1" strike="noStrike">
              <a:solidFill>
                <a:schemeClr val="dk1"/>
              </a:solidFill>
              <a:latin typeface="Grandview Display"/>
            </a:endParaRPr>
          </a:p>
          <a:p>
            <a:pPr lvl="2" marL="731520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Third level</a:t>
            </a:r>
            <a:endParaRPr b="0" lang="en-US" sz="1600" spc="-1" strike="noStrike">
              <a:solidFill>
                <a:schemeClr val="dk1"/>
              </a:solidFill>
              <a:latin typeface="Grandview Display"/>
            </a:endParaRPr>
          </a:p>
          <a:p>
            <a:pPr lvl="3" marL="1051560" indent="-28584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400" spc="-1" strike="noStrike">
                <a:solidFill>
                  <a:schemeClr val="dk1"/>
                </a:solidFill>
                <a:latin typeface="Grandview Display"/>
              </a:rPr>
              <a:t>Fourth level</a:t>
            </a:r>
            <a:endParaRPr b="0" lang="en-US" sz="1400" spc="-1" strike="noStrike">
              <a:solidFill>
                <a:schemeClr val="dk1"/>
              </a:solidFill>
              <a:latin typeface="Grandview Display"/>
            </a:endParaRPr>
          </a:p>
          <a:p>
            <a:pPr lvl="4" marL="1298520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400" spc="-1" strike="noStrike">
                <a:solidFill>
                  <a:schemeClr val="dk1"/>
                </a:solidFill>
                <a:latin typeface="Grandview Display"/>
              </a:rPr>
              <a:t>Fifth level</a:t>
            </a:r>
            <a:endParaRPr b="0" lang="en-US" sz="14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dt" idx="7"/>
          </p:nvPr>
        </p:nvSpPr>
        <p:spPr>
          <a:xfrm>
            <a:off x="91260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&lt;datum/čas&gt;</a:t>
            </a:r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ftr" idx="8"/>
          </p:nvPr>
        </p:nvSpPr>
        <p:spPr>
          <a:xfrm>
            <a:off x="6767640" y="6356520"/>
            <a:ext cx="40399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algn="ctr">
              <a:buNone/>
            </a:pPr>
            <a:r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&lt;zápatí&gt;</a:t>
            </a:r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" name="PlaceHolder 5"/>
          <p:cNvSpPr>
            <a:spLocks noGrp="1"/>
          </p:cNvSpPr>
          <p:nvPr>
            <p:ph type="sldNum" idx="9"/>
          </p:nvPr>
        </p:nvSpPr>
        <p:spPr>
          <a:xfrm>
            <a:off x="10807920" y="6356520"/>
            <a:ext cx="722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2C09610-6A68-4C6A-90DA-1C9E7C9DB00E}" type="slidenum"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&lt;číslo&gt;</a:t>
            </a:fld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Straight Connector 6"/>
          <p:cNvCxnSpPr/>
          <p:nvPr/>
        </p:nvCxnSpPr>
        <p:spPr>
          <a:xfrm>
            <a:off x="990360" y="1030680"/>
            <a:ext cx="979200" cy="360"/>
          </a:xfrm>
          <a:prstGeom prst="straightConnector1">
            <a:avLst/>
          </a:prstGeom>
          <a:ln w="76200">
            <a:solidFill>
              <a:srgbClr val="1973eb"/>
            </a:solidFill>
          </a:ln>
        </p:spPr>
      </p:cxnSp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914400" y="1371600"/>
            <a:ext cx="10362960" cy="1187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0" lang="en-US" sz="4000" spc="-1" strike="noStrike">
                <a:solidFill>
                  <a:schemeClr val="dk1"/>
                </a:solidFill>
                <a:latin typeface="Grandview Display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914400" y="2559240"/>
            <a:ext cx="10362960" cy="3382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Grandview Display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Grandview Display"/>
            </a:endParaRPr>
          </a:p>
          <a:p>
            <a:pPr lvl="1" marL="493920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Grandview Display"/>
              </a:rPr>
              <a:t>Second level</a:t>
            </a:r>
            <a:endParaRPr b="0" lang="en-US" sz="1800" spc="-1" strike="noStrike">
              <a:solidFill>
                <a:schemeClr val="dk1"/>
              </a:solidFill>
              <a:latin typeface="Grandview Display"/>
            </a:endParaRPr>
          </a:p>
          <a:p>
            <a:pPr lvl="2" marL="731520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Third level</a:t>
            </a:r>
            <a:endParaRPr b="0" lang="en-US" sz="1600" spc="-1" strike="noStrike">
              <a:solidFill>
                <a:schemeClr val="dk1"/>
              </a:solidFill>
              <a:latin typeface="Grandview Display"/>
            </a:endParaRPr>
          </a:p>
          <a:p>
            <a:pPr lvl="3" marL="1051560" indent="-28584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400" spc="-1" strike="noStrike">
                <a:solidFill>
                  <a:schemeClr val="dk1"/>
                </a:solidFill>
                <a:latin typeface="Grandview Display"/>
              </a:rPr>
              <a:t>Fourth level</a:t>
            </a:r>
            <a:endParaRPr b="0" lang="en-US" sz="1400" spc="-1" strike="noStrike">
              <a:solidFill>
                <a:schemeClr val="dk1"/>
              </a:solidFill>
              <a:latin typeface="Grandview Display"/>
            </a:endParaRPr>
          </a:p>
          <a:p>
            <a:pPr lvl="4" marL="1298520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400" spc="-1" strike="noStrike">
                <a:solidFill>
                  <a:schemeClr val="dk1"/>
                </a:solidFill>
                <a:latin typeface="Grandview Display"/>
              </a:rPr>
              <a:t>Fifth level</a:t>
            </a:r>
            <a:endParaRPr b="0" lang="en-US" sz="14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dt" idx="10"/>
          </p:nvPr>
        </p:nvSpPr>
        <p:spPr>
          <a:xfrm>
            <a:off x="91260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&lt;datum/čas&gt;</a:t>
            </a:r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ftr" idx="11"/>
          </p:nvPr>
        </p:nvSpPr>
        <p:spPr>
          <a:xfrm>
            <a:off x="6767640" y="6356520"/>
            <a:ext cx="40399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algn="ctr">
              <a:buNone/>
            </a:pPr>
            <a:r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&lt;zápatí&gt;</a:t>
            </a:r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sldNum" idx="12"/>
          </p:nvPr>
        </p:nvSpPr>
        <p:spPr>
          <a:xfrm>
            <a:off x="10807920" y="6356520"/>
            <a:ext cx="722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714F3F9-6C5B-4109-A44C-DA9CD62F58F0}" type="slidenum"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&lt;číslo&gt;</a:t>
            </a:fld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" name="Straight Connector 6"/>
          <p:cNvCxnSpPr/>
          <p:nvPr/>
        </p:nvCxnSpPr>
        <p:spPr>
          <a:xfrm>
            <a:off x="990360" y="1030680"/>
            <a:ext cx="979200" cy="360"/>
          </a:xfrm>
          <a:prstGeom prst="straightConnector1">
            <a:avLst/>
          </a:prstGeom>
          <a:ln w="76200">
            <a:solidFill>
              <a:srgbClr val="1973eb"/>
            </a:solidFill>
          </a:ln>
        </p:spPr>
      </p:cxnSp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912600" y="1709640"/>
            <a:ext cx="9214560" cy="3159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100000"/>
              </a:lnSpc>
              <a:buNone/>
            </a:pPr>
            <a:r>
              <a:rPr b="0" lang="en-US" sz="4800" spc="-1" strike="noStrike">
                <a:solidFill>
                  <a:schemeClr val="dk1"/>
                </a:solidFill>
                <a:latin typeface="Grandview Display"/>
              </a:rPr>
              <a:t>Click to edit Master title style</a:t>
            </a:r>
            <a:endParaRPr b="0" lang="en-US" sz="48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912600" y="5018400"/>
            <a:ext cx="7906680" cy="1073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Grandview Display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dt" idx="13"/>
          </p:nvPr>
        </p:nvSpPr>
        <p:spPr>
          <a:xfrm>
            <a:off x="91260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&lt;datum/čas&gt;</a:t>
            </a:r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ftr" idx="14"/>
          </p:nvPr>
        </p:nvSpPr>
        <p:spPr>
          <a:xfrm>
            <a:off x="6767640" y="6356520"/>
            <a:ext cx="40399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algn="ctr">
              <a:buNone/>
            </a:pPr>
            <a:r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&lt;zápatí&gt;</a:t>
            </a:r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sldNum" idx="15"/>
          </p:nvPr>
        </p:nvSpPr>
        <p:spPr>
          <a:xfrm>
            <a:off x="10807920" y="6356520"/>
            <a:ext cx="722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F9DF1A4-E530-44B2-A568-DDCBF9ACC12E}" type="slidenum"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&lt;číslo&gt;</a:t>
            </a:fld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6"/>
          <p:cNvCxnSpPr/>
          <p:nvPr/>
        </p:nvCxnSpPr>
        <p:spPr>
          <a:xfrm>
            <a:off x="990360" y="1030680"/>
            <a:ext cx="979200" cy="360"/>
          </a:xfrm>
          <a:prstGeom prst="straightConnector1">
            <a:avLst/>
          </a:prstGeom>
          <a:ln w="76200">
            <a:solidFill>
              <a:srgbClr val="1973eb"/>
            </a:solidFill>
          </a:ln>
        </p:spPr>
      </p:cxnSp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914400" y="1371600"/>
            <a:ext cx="10362960" cy="1187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0" lang="en-US" sz="4000" spc="-1" strike="noStrike">
                <a:solidFill>
                  <a:schemeClr val="dk1"/>
                </a:solidFill>
                <a:latin typeface="Grandview Display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914400" y="2849400"/>
            <a:ext cx="5105160" cy="3210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Grandview Display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Grandview Display"/>
            </a:endParaRPr>
          </a:p>
          <a:p>
            <a:pPr lvl="1" marL="493920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Grandview Display"/>
              </a:rPr>
              <a:t>Second level</a:t>
            </a:r>
            <a:endParaRPr b="0" lang="en-US" sz="1800" spc="-1" strike="noStrike">
              <a:solidFill>
                <a:schemeClr val="dk1"/>
              </a:solidFill>
              <a:latin typeface="Grandview Display"/>
            </a:endParaRPr>
          </a:p>
          <a:p>
            <a:pPr lvl="2" marL="731520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Third level</a:t>
            </a:r>
            <a:endParaRPr b="0" lang="en-US" sz="1600" spc="-1" strike="noStrike">
              <a:solidFill>
                <a:schemeClr val="dk1"/>
              </a:solidFill>
              <a:latin typeface="Grandview Display"/>
            </a:endParaRPr>
          </a:p>
          <a:p>
            <a:pPr lvl="3" marL="1051560" indent="-28584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400" spc="-1" strike="noStrike">
                <a:solidFill>
                  <a:schemeClr val="dk1"/>
                </a:solidFill>
                <a:latin typeface="Grandview Display"/>
              </a:rPr>
              <a:t>Fourth level</a:t>
            </a:r>
            <a:endParaRPr b="0" lang="en-US" sz="1400" spc="-1" strike="noStrike">
              <a:solidFill>
                <a:schemeClr val="dk1"/>
              </a:solidFill>
              <a:latin typeface="Grandview Display"/>
            </a:endParaRPr>
          </a:p>
          <a:p>
            <a:pPr lvl="4" marL="1298520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400" spc="-1" strike="noStrike">
                <a:solidFill>
                  <a:schemeClr val="dk1"/>
                </a:solidFill>
                <a:latin typeface="Grandview Display"/>
              </a:rPr>
              <a:t>Fifth level</a:t>
            </a:r>
            <a:endParaRPr b="0" lang="en-US" sz="14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6172200" y="2849400"/>
            <a:ext cx="5105160" cy="3210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Grandview Display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Grandview Display"/>
            </a:endParaRPr>
          </a:p>
          <a:p>
            <a:pPr lvl="1" marL="493920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Grandview Display"/>
              </a:rPr>
              <a:t>Second level</a:t>
            </a:r>
            <a:endParaRPr b="0" lang="en-US" sz="1800" spc="-1" strike="noStrike">
              <a:solidFill>
                <a:schemeClr val="dk1"/>
              </a:solidFill>
              <a:latin typeface="Grandview Display"/>
            </a:endParaRPr>
          </a:p>
          <a:p>
            <a:pPr lvl="2" marL="731520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Third level</a:t>
            </a:r>
            <a:endParaRPr b="0" lang="en-US" sz="1600" spc="-1" strike="noStrike">
              <a:solidFill>
                <a:schemeClr val="dk1"/>
              </a:solidFill>
              <a:latin typeface="Grandview Display"/>
            </a:endParaRPr>
          </a:p>
          <a:p>
            <a:pPr lvl="3" marL="1051560" indent="-28584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400" spc="-1" strike="noStrike">
                <a:solidFill>
                  <a:schemeClr val="dk1"/>
                </a:solidFill>
                <a:latin typeface="Grandview Display"/>
              </a:rPr>
              <a:t>Fourth level</a:t>
            </a:r>
            <a:endParaRPr b="0" lang="en-US" sz="1400" spc="-1" strike="noStrike">
              <a:solidFill>
                <a:schemeClr val="dk1"/>
              </a:solidFill>
              <a:latin typeface="Grandview Display"/>
            </a:endParaRPr>
          </a:p>
          <a:p>
            <a:pPr lvl="4" marL="1298520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400" spc="-1" strike="noStrike">
                <a:solidFill>
                  <a:schemeClr val="dk1"/>
                </a:solidFill>
                <a:latin typeface="Grandview Display"/>
              </a:rPr>
              <a:t>Fifth level</a:t>
            </a:r>
            <a:endParaRPr b="0" lang="en-US" sz="14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dt" idx="16"/>
          </p:nvPr>
        </p:nvSpPr>
        <p:spPr>
          <a:xfrm>
            <a:off x="91260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&lt;datum/čas&gt;</a:t>
            </a:r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ftr" idx="17"/>
          </p:nvPr>
        </p:nvSpPr>
        <p:spPr>
          <a:xfrm>
            <a:off x="6767640" y="6356520"/>
            <a:ext cx="40399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algn="ctr">
              <a:buNone/>
            </a:pPr>
            <a:r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&lt;zápatí&gt;</a:t>
            </a:r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sldNum" idx="18"/>
          </p:nvPr>
        </p:nvSpPr>
        <p:spPr>
          <a:xfrm>
            <a:off x="10807920" y="6356520"/>
            <a:ext cx="722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7E44599-5C26-40C4-A61F-B1BBA9B14D14}" type="slidenum"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&lt;číslo&gt;</a:t>
            </a:fld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3" name="Straight Connector 6"/>
          <p:cNvCxnSpPr/>
          <p:nvPr/>
        </p:nvCxnSpPr>
        <p:spPr>
          <a:xfrm>
            <a:off x="990360" y="1030680"/>
            <a:ext cx="979200" cy="360"/>
          </a:xfrm>
          <a:prstGeom prst="straightConnector1">
            <a:avLst/>
          </a:prstGeom>
          <a:ln w="76200">
            <a:solidFill>
              <a:srgbClr val="1973eb"/>
            </a:solidFill>
          </a:ln>
        </p:spPr>
      </p:cxnSp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912600" y="1371600"/>
            <a:ext cx="10442520" cy="939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0" lang="en-US" sz="4000" spc="-1" strike="noStrike">
                <a:solidFill>
                  <a:schemeClr val="dk1"/>
                </a:solidFill>
                <a:latin typeface="Grandview Display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912600" y="2311200"/>
            <a:ext cx="5084640" cy="69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93333"/>
          </a:bodyPr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1800" spc="299" strike="noStrike" cap="all">
                <a:solidFill>
                  <a:schemeClr val="dk1"/>
                </a:solidFill>
                <a:latin typeface="Grandview Display"/>
              </a:rPr>
              <a:t>Click to edit Master text styles</a:t>
            </a:r>
            <a:endParaRPr b="0" lang="en-US" sz="18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912600" y="3006720"/>
            <a:ext cx="5084640" cy="318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Grandview Display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Grandview Display"/>
            </a:endParaRPr>
          </a:p>
          <a:p>
            <a:pPr lvl="1" marL="493920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Grandview Display"/>
              </a:rPr>
              <a:t>Second level</a:t>
            </a:r>
            <a:endParaRPr b="0" lang="en-US" sz="1800" spc="-1" strike="noStrike">
              <a:solidFill>
                <a:schemeClr val="dk1"/>
              </a:solidFill>
              <a:latin typeface="Grandview Display"/>
            </a:endParaRPr>
          </a:p>
          <a:p>
            <a:pPr lvl="2" marL="731520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Third level</a:t>
            </a:r>
            <a:endParaRPr b="0" lang="en-US" sz="1600" spc="-1" strike="noStrike">
              <a:solidFill>
                <a:schemeClr val="dk1"/>
              </a:solidFill>
              <a:latin typeface="Grandview Display"/>
            </a:endParaRPr>
          </a:p>
          <a:p>
            <a:pPr lvl="3" marL="1051560" indent="-28584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400" spc="-1" strike="noStrike">
                <a:solidFill>
                  <a:schemeClr val="dk1"/>
                </a:solidFill>
                <a:latin typeface="Grandview Display"/>
              </a:rPr>
              <a:t>Fourth level</a:t>
            </a:r>
            <a:endParaRPr b="0" lang="en-US" sz="1400" spc="-1" strike="noStrike">
              <a:solidFill>
                <a:schemeClr val="dk1"/>
              </a:solidFill>
              <a:latin typeface="Grandview Display"/>
            </a:endParaRPr>
          </a:p>
          <a:p>
            <a:pPr lvl="4" marL="1298520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400" spc="-1" strike="noStrike">
                <a:solidFill>
                  <a:schemeClr val="dk1"/>
                </a:solidFill>
                <a:latin typeface="Grandview Display"/>
              </a:rPr>
              <a:t>Fifth level</a:t>
            </a:r>
            <a:endParaRPr b="0" lang="en-US" sz="14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6172200" y="2311200"/>
            <a:ext cx="5182920" cy="69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93333"/>
          </a:bodyPr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1800" spc="299" strike="noStrike" cap="all">
                <a:solidFill>
                  <a:schemeClr val="dk1"/>
                </a:solidFill>
                <a:latin typeface="Grandview Display"/>
              </a:rPr>
              <a:t>Click to edit Master text styles</a:t>
            </a:r>
            <a:endParaRPr b="0" lang="en-US" sz="18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172200" y="3006720"/>
            <a:ext cx="5182920" cy="318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Grandview Display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Grandview Display"/>
            </a:endParaRPr>
          </a:p>
          <a:p>
            <a:pPr lvl="1" marL="493920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Grandview Display"/>
              </a:rPr>
              <a:t>Second level</a:t>
            </a:r>
            <a:endParaRPr b="0" lang="en-US" sz="1800" spc="-1" strike="noStrike">
              <a:solidFill>
                <a:schemeClr val="dk1"/>
              </a:solidFill>
              <a:latin typeface="Grandview Display"/>
            </a:endParaRPr>
          </a:p>
          <a:p>
            <a:pPr lvl="2" marL="731520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Third level</a:t>
            </a:r>
            <a:endParaRPr b="0" lang="en-US" sz="1600" spc="-1" strike="noStrike">
              <a:solidFill>
                <a:schemeClr val="dk1"/>
              </a:solidFill>
              <a:latin typeface="Grandview Display"/>
            </a:endParaRPr>
          </a:p>
          <a:p>
            <a:pPr lvl="3" marL="1051560" indent="-28584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400" spc="-1" strike="noStrike">
                <a:solidFill>
                  <a:schemeClr val="dk1"/>
                </a:solidFill>
                <a:latin typeface="Grandview Display"/>
              </a:rPr>
              <a:t>Fourth level</a:t>
            </a:r>
            <a:endParaRPr b="0" lang="en-US" sz="1400" spc="-1" strike="noStrike">
              <a:solidFill>
                <a:schemeClr val="dk1"/>
              </a:solidFill>
              <a:latin typeface="Grandview Display"/>
            </a:endParaRPr>
          </a:p>
          <a:p>
            <a:pPr lvl="4" marL="1298520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400" spc="-1" strike="noStrike">
                <a:solidFill>
                  <a:schemeClr val="dk1"/>
                </a:solidFill>
                <a:latin typeface="Grandview Display"/>
              </a:rPr>
              <a:t>Fifth level</a:t>
            </a:r>
            <a:endParaRPr b="0" lang="en-US" sz="14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49" name="PlaceHolder 6"/>
          <p:cNvSpPr>
            <a:spLocks noGrp="1"/>
          </p:cNvSpPr>
          <p:nvPr>
            <p:ph type="dt" idx="19"/>
          </p:nvPr>
        </p:nvSpPr>
        <p:spPr>
          <a:xfrm>
            <a:off x="91260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&lt;datum/čas&gt;</a:t>
            </a:r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" name="PlaceHolder 7"/>
          <p:cNvSpPr>
            <a:spLocks noGrp="1"/>
          </p:cNvSpPr>
          <p:nvPr>
            <p:ph type="ftr" idx="20"/>
          </p:nvPr>
        </p:nvSpPr>
        <p:spPr>
          <a:xfrm>
            <a:off x="6767640" y="6356520"/>
            <a:ext cx="40399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algn="ctr">
              <a:buNone/>
            </a:pPr>
            <a:r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&lt;zápatí&gt;</a:t>
            </a:r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8"/>
          <p:cNvSpPr>
            <a:spLocks noGrp="1"/>
          </p:cNvSpPr>
          <p:nvPr>
            <p:ph type="sldNum" idx="21"/>
          </p:nvPr>
        </p:nvSpPr>
        <p:spPr>
          <a:xfrm>
            <a:off x="10807920" y="6356520"/>
            <a:ext cx="722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736AD51-9D74-4E30-BBBE-93A4898C9F3D}" type="slidenum"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&lt;číslo&gt;</a:t>
            </a:fld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2" name="Straight Connector 6"/>
          <p:cNvCxnSpPr/>
          <p:nvPr/>
        </p:nvCxnSpPr>
        <p:spPr>
          <a:xfrm>
            <a:off x="990360" y="1030680"/>
            <a:ext cx="979200" cy="360"/>
          </a:xfrm>
          <a:prstGeom prst="straightConnector1">
            <a:avLst/>
          </a:prstGeom>
          <a:ln w="76200">
            <a:solidFill>
              <a:srgbClr val="1973eb"/>
            </a:solidFill>
          </a:ln>
        </p:spPr>
      </p:cxnSp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914400" y="1371600"/>
            <a:ext cx="10362960" cy="1187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0" lang="en-US" sz="4000" spc="-1" strike="noStrike">
                <a:solidFill>
                  <a:schemeClr val="dk1"/>
                </a:solidFill>
                <a:latin typeface="Grandview Display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dt" idx="22"/>
          </p:nvPr>
        </p:nvSpPr>
        <p:spPr>
          <a:xfrm>
            <a:off x="91260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&lt;datum/čas&gt;</a:t>
            </a:r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ftr" idx="23"/>
          </p:nvPr>
        </p:nvSpPr>
        <p:spPr>
          <a:xfrm>
            <a:off x="6767640" y="6356520"/>
            <a:ext cx="40399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algn="ctr">
              <a:buNone/>
            </a:pPr>
            <a:r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&lt;zápatí&gt;</a:t>
            </a:r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sldNum" idx="24"/>
          </p:nvPr>
        </p:nvSpPr>
        <p:spPr>
          <a:xfrm>
            <a:off x="10807920" y="6356520"/>
            <a:ext cx="722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844FAED-3632-4FB5-A6E2-DADDCA083646}" type="slidenum"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&lt;číslo&gt;</a:t>
            </a:fld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2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Grandview Display"/>
              </a:rPr>
              <a:t>Klikněte pro úpravu formátu textu osnovy</a:t>
            </a:r>
            <a:endParaRPr b="0" lang="en-US" sz="2000" spc="-1" strike="noStrike">
              <a:solidFill>
                <a:schemeClr val="dk1"/>
              </a:solidFill>
              <a:latin typeface="Grandview Display"/>
            </a:endParaRPr>
          </a:p>
          <a:p>
            <a:pPr lvl="1" marL="864000" indent="-324000">
              <a:lnSpc>
                <a:spcPct val="12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Druhá úroveň</a:t>
            </a:r>
            <a:endParaRPr b="0" lang="en-US" sz="1600" spc="-1" strike="noStrike">
              <a:solidFill>
                <a:schemeClr val="dk1"/>
              </a:solidFill>
              <a:latin typeface="Grandview Display"/>
            </a:endParaRPr>
          </a:p>
          <a:p>
            <a:pPr lvl="2" marL="1296000" indent="-288000">
              <a:lnSpc>
                <a:spcPct val="12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chemeClr val="dk1"/>
                </a:solidFill>
                <a:latin typeface="Grandview Display"/>
              </a:rPr>
              <a:t>Třetí úroveň</a:t>
            </a:r>
            <a:endParaRPr b="0" lang="en-US" sz="1400" spc="-1" strike="noStrike">
              <a:solidFill>
                <a:schemeClr val="dk1"/>
              </a:solidFill>
              <a:latin typeface="Grandview Display"/>
            </a:endParaRPr>
          </a:p>
          <a:p>
            <a:pPr lvl="3" marL="1728000" indent="-216000">
              <a:lnSpc>
                <a:spcPct val="12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chemeClr val="dk1"/>
                </a:solidFill>
                <a:latin typeface="Grandview Display"/>
              </a:rPr>
              <a:t>Čtvrtá úroveň osnovy</a:t>
            </a:r>
            <a:endParaRPr b="0" lang="en-US" sz="1400" spc="-1" strike="noStrike">
              <a:solidFill>
                <a:schemeClr val="dk1"/>
              </a:solidFill>
              <a:latin typeface="Grandview Display"/>
            </a:endParaRPr>
          </a:p>
          <a:p>
            <a:pPr lvl="4" marL="2160000" indent="-2160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Grandview Display"/>
              </a:rPr>
              <a:t>Pátá úroveň osnovy</a:t>
            </a:r>
            <a:endParaRPr b="0" lang="en-US" sz="2000" spc="-1" strike="noStrike">
              <a:solidFill>
                <a:schemeClr val="dk1"/>
              </a:solidFill>
              <a:latin typeface="Grandview Display"/>
            </a:endParaRPr>
          </a:p>
          <a:p>
            <a:pPr lvl="5" marL="2592000" indent="-2160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Grandview Display"/>
              </a:rPr>
              <a:t>Šestá úroveň</a:t>
            </a:r>
            <a:endParaRPr b="0" lang="en-US" sz="2000" spc="-1" strike="noStrike">
              <a:solidFill>
                <a:schemeClr val="dk1"/>
              </a:solidFill>
              <a:latin typeface="Grandview Display"/>
            </a:endParaRPr>
          </a:p>
          <a:p>
            <a:pPr lvl="6" marL="3024000" indent="-2160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Grandview Display"/>
              </a:rPr>
              <a:t>Sedmá úroveň</a:t>
            </a:r>
            <a:endParaRPr b="0" lang="en-US" sz="2000" spc="-1" strike="noStrike">
              <a:solidFill>
                <a:schemeClr val="dk1"/>
              </a:solidFill>
              <a:latin typeface="Grandview Display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9" name="Straight Connector 6"/>
          <p:cNvCxnSpPr/>
          <p:nvPr/>
        </p:nvCxnSpPr>
        <p:spPr>
          <a:xfrm>
            <a:off x="990360" y="1030680"/>
            <a:ext cx="979200" cy="360"/>
          </a:xfrm>
          <a:prstGeom prst="straightConnector1">
            <a:avLst/>
          </a:prstGeom>
          <a:ln w="76200">
            <a:solidFill>
              <a:srgbClr val="1973eb"/>
            </a:solidFill>
          </a:ln>
        </p:spPr>
      </p:cxnSp>
      <p:sp>
        <p:nvSpPr>
          <p:cNvPr id="60" name="PlaceHolder 1"/>
          <p:cNvSpPr>
            <a:spLocks noGrp="1"/>
          </p:cNvSpPr>
          <p:nvPr>
            <p:ph type="dt" idx="25"/>
          </p:nvPr>
        </p:nvSpPr>
        <p:spPr>
          <a:xfrm>
            <a:off x="91260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&lt;datum/čas&gt;</a:t>
            </a:r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ftr" idx="26"/>
          </p:nvPr>
        </p:nvSpPr>
        <p:spPr>
          <a:xfrm>
            <a:off x="6767640" y="6356520"/>
            <a:ext cx="40399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algn="ctr">
              <a:buNone/>
            </a:pPr>
            <a:r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&lt;zápatí&gt;</a:t>
            </a:r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sldNum" idx="27"/>
          </p:nvPr>
        </p:nvSpPr>
        <p:spPr>
          <a:xfrm>
            <a:off x="10807920" y="6356520"/>
            <a:ext cx="722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9BD5881-2B62-4AC3-B050-E5FAACA3626D}" type="slidenum"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&lt;číslo&gt;</a:t>
            </a:fld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3" name="Straight Connector 6"/>
          <p:cNvCxnSpPr/>
          <p:nvPr/>
        </p:nvCxnSpPr>
        <p:spPr>
          <a:xfrm>
            <a:off x="990360" y="1030680"/>
            <a:ext cx="979200" cy="360"/>
          </a:xfrm>
          <a:prstGeom prst="straightConnector1">
            <a:avLst/>
          </a:prstGeom>
          <a:ln w="76200">
            <a:solidFill>
              <a:srgbClr val="1973eb"/>
            </a:solidFill>
          </a:ln>
        </p:spPr>
      </p:cxnSp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912600" y="1463040"/>
            <a:ext cx="3859200" cy="147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0" lang="en-US" sz="3200" spc="-1" strike="noStrike">
                <a:solidFill>
                  <a:schemeClr val="dk1"/>
                </a:solidFill>
                <a:latin typeface="Grandview Display"/>
              </a:rPr>
              <a:t>Click to edit Master title style</a:t>
            </a:r>
            <a:endParaRPr b="0" lang="en-US" sz="32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Grandview Display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Grandview Display"/>
            </a:endParaRPr>
          </a:p>
          <a:p>
            <a:pPr lvl="1" marL="493920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Grandview Display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Grandview Display"/>
            </a:endParaRPr>
          </a:p>
          <a:p>
            <a:pPr lvl="2" marL="731520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Grandview Display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Grandview Display"/>
            </a:endParaRPr>
          </a:p>
          <a:p>
            <a:pPr lvl="3" marL="1051560" indent="-28584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Grandview Display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Grandview Display"/>
            </a:endParaRPr>
          </a:p>
          <a:p>
            <a:pPr lvl="4" marL="1298520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Grandview Display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912600" y="2934720"/>
            <a:ext cx="3859200" cy="2934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Click to edit Master text styles</a:t>
            </a:r>
            <a:endParaRPr b="0" lang="en-US" sz="16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dt" idx="28"/>
          </p:nvPr>
        </p:nvSpPr>
        <p:spPr>
          <a:xfrm>
            <a:off x="91260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&lt;datum/čas&gt;</a:t>
            </a:r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" name="PlaceHolder 5"/>
          <p:cNvSpPr>
            <a:spLocks noGrp="1"/>
          </p:cNvSpPr>
          <p:nvPr>
            <p:ph type="ftr" idx="29"/>
          </p:nvPr>
        </p:nvSpPr>
        <p:spPr>
          <a:xfrm>
            <a:off x="6767640" y="6356520"/>
            <a:ext cx="40399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algn="ctr">
              <a:buNone/>
            </a:pPr>
            <a:r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&lt;zápatí&gt;</a:t>
            </a:r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" name="PlaceHolder 6"/>
          <p:cNvSpPr>
            <a:spLocks noGrp="1"/>
          </p:cNvSpPr>
          <p:nvPr>
            <p:ph type="sldNum" idx="30"/>
          </p:nvPr>
        </p:nvSpPr>
        <p:spPr>
          <a:xfrm>
            <a:off x="10807920" y="6356520"/>
            <a:ext cx="722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494E8C3-63A3-4DE4-85D6-B16362499D27}" type="slidenum"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&lt;číslo&gt;</a:t>
            </a:fld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0" name="Straight Connector 6"/>
          <p:cNvCxnSpPr/>
          <p:nvPr/>
        </p:nvCxnSpPr>
        <p:spPr>
          <a:xfrm>
            <a:off x="990360" y="1030680"/>
            <a:ext cx="979200" cy="360"/>
          </a:xfrm>
          <a:prstGeom prst="straightConnector1">
            <a:avLst/>
          </a:prstGeom>
          <a:ln w="76200">
            <a:solidFill>
              <a:srgbClr val="1973eb"/>
            </a:solidFill>
          </a:ln>
        </p:spPr>
      </p:cxnSp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912600" y="1463040"/>
            <a:ext cx="3859200" cy="147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0" lang="en-US" sz="3200" spc="-1" strike="noStrike">
                <a:solidFill>
                  <a:schemeClr val="dk1"/>
                </a:solidFill>
                <a:latin typeface="Grandview Display"/>
              </a:rPr>
              <a:t>Click to edit Master title style</a:t>
            </a:r>
            <a:endParaRPr b="0" lang="en-US" sz="32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2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Grandview Display"/>
              </a:rPr>
              <a:t>Klikněte pro úpravu formátu textu osnovy</a:t>
            </a:r>
            <a:endParaRPr b="0" lang="en-US" sz="3200" spc="-1" strike="noStrike">
              <a:solidFill>
                <a:schemeClr val="dk1"/>
              </a:solidFill>
              <a:latin typeface="Grandview Display"/>
            </a:endParaRPr>
          </a:p>
          <a:p>
            <a:pPr lvl="1" marL="864000" indent="-324000">
              <a:lnSpc>
                <a:spcPct val="12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Grandview Display"/>
              </a:rPr>
              <a:t>Druhá úroveň</a:t>
            </a:r>
            <a:endParaRPr b="0" lang="en-US" sz="3200" spc="-1" strike="noStrike">
              <a:solidFill>
                <a:schemeClr val="dk1"/>
              </a:solidFill>
              <a:latin typeface="Grandview Display"/>
            </a:endParaRPr>
          </a:p>
          <a:p>
            <a:pPr lvl="2" marL="1296000" indent="-288000">
              <a:lnSpc>
                <a:spcPct val="12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Grandview Display"/>
              </a:rPr>
              <a:t>Třetí úroveň</a:t>
            </a:r>
            <a:endParaRPr b="0" lang="en-US" sz="3200" spc="-1" strike="noStrike">
              <a:solidFill>
                <a:schemeClr val="dk1"/>
              </a:solidFill>
              <a:latin typeface="Grandview Display"/>
            </a:endParaRPr>
          </a:p>
          <a:p>
            <a:pPr lvl="3" marL="1728000" indent="-216000">
              <a:lnSpc>
                <a:spcPct val="12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Grandview Display"/>
              </a:rPr>
              <a:t>Čtvrtá úroveň osnovy</a:t>
            </a:r>
            <a:endParaRPr b="0" lang="en-US" sz="3200" spc="-1" strike="noStrike">
              <a:solidFill>
                <a:schemeClr val="dk1"/>
              </a:solidFill>
              <a:latin typeface="Grandview Display"/>
            </a:endParaRPr>
          </a:p>
          <a:p>
            <a:pPr lvl="4" marL="2160000" indent="-2160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Grandview Display"/>
              </a:rPr>
              <a:t>Pátá úroveň osnovy</a:t>
            </a:r>
            <a:endParaRPr b="0" lang="en-US" sz="3200" spc="-1" strike="noStrike">
              <a:solidFill>
                <a:schemeClr val="dk1"/>
              </a:solidFill>
              <a:latin typeface="Grandview Display"/>
            </a:endParaRPr>
          </a:p>
          <a:p>
            <a:pPr lvl="5" marL="2592000" indent="-2160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Grandview Display"/>
              </a:rPr>
              <a:t>Šestá úroveň</a:t>
            </a:r>
            <a:endParaRPr b="0" lang="en-US" sz="3200" spc="-1" strike="noStrike">
              <a:solidFill>
                <a:schemeClr val="dk1"/>
              </a:solidFill>
              <a:latin typeface="Grandview Display"/>
            </a:endParaRPr>
          </a:p>
          <a:p>
            <a:pPr lvl="6" marL="3024000" indent="-2160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Grandview Display"/>
              </a:rPr>
              <a:t>Sedmá úroveň</a:t>
            </a:r>
            <a:endParaRPr b="0" lang="en-US" sz="32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body"/>
          </p:nvPr>
        </p:nvSpPr>
        <p:spPr>
          <a:xfrm>
            <a:off x="912600" y="2934720"/>
            <a:ext cx="3859200" cy="2934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Click to edit Master text styles</a:t>
            </a:r>
            <a:endParaRPr b="0" lang="en-US" sz="16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 type="dt" idx="31"/>
          </p:nvPr>
        </p:nvSpPr>
        <p:spPr>
          <a:xfrm>
            <a:off x="91260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&lt;datum/čas&gt;</a:t>
            </a:r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" name="PlaceHolder 5"/>
          <p:cNvSpPr>
            <a:spLocks noGrp="1"/>
          </p:cNvSpPr>
          <p:nvPr>
            <p:ph type="ftr" idx="32"/>
          </p:nvPr>
        </p:nvSpPr>
        <p:spPr>
          <a:xfrm>
            <a:off x="6767640" y="6356520"/>
            <a:ext cx="40399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algn="ctr">
              <a:buNone/>
            </a:pPr>
            <a:r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&lt;zápatí&gt;</a:t>
            </a:r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" name="PlaceHolder 6"/>
          <p:cNvSpPr>
            <a:spLocks noGrp="1"/>
          </p:cNvSpPr>
          <p:nvPr>
            <p:ph type="sldNum" idx="33"/>
          </p:nvPr>
        </p:nvSpPr>
        <p:spPr>
          <a:xfrm>
            <a:off x="10807920" y="6356520"/>
            <a:ext cx="722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19645B3-966C-4F2E-A15C-30BEE31F8776}" type="slidenum"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&lt;číslo&gt;</a:t>
            </a:fld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912600" y="1709640"/>
            <a:ext cx="9214560" cy="3159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0" lang="en-US" sz="4800" spc="-1" strike="noStrike">
                <a:solidFill>
                  <a:schemeClr val="dk1"/>
                </a:solidFill>
                <a:latin typeface="Grandview Display"/>
              </a:rPr>
              <a:t>Objektově orientované programování</a:t>
            </a:r>
            <a:endParaRPr b="0" lang="en-US" sz="48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/>
          </p:nvPr>
        </p:nvSpPr>
        <p:spPr>
          <a:xfrm>
            <a:off x="912600" y="5018400"/>
            <a:ext cx="7906680" cy="1073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Grandview Display"/>
              </a:rPr>
              <a:t>PROGRAMOVÁNÍ</a:t>
            </a:r>
            <a:endParaRPr b="0" lang="en-US" sz="20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85" name="PlaceHolder 3"/>
          <p:cNvSpPr>
            <a:spLocks noGrp="1"/>
          </p:cNvSpPr>
          <p:nvPr>
            <p:ph type="dt" idx="37"/>
          </p:nvPr>
        </p:nvSpPr>
        <p:spPr>
          <a:xfrm>
            <a:off x="91260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spcAft>
                <a:spcPts val="601"/>
              </a:spcAft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defTabSz="457200">
              <a:lnSpc>
                <a:spcPct val="100000"/>
              </a:lnSpc>
              <a:spcAft>
                <a:spcPts val="601"/>
              </a:spcAft>
              <a:buNone/>
            </a:pPr>
            <a:fld id="{FA5E2C76-56C7-4C67-8374-4F16AAD9D825}" type="datetime1"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10/02/2026</a:t>
            </a:fld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" name="PlaceHolder 4"/>
          <p:cNvSpPr>
            <a:spLocks noGrp="1"/>
          </p:cNvSpPr>
          <p:nvPr>
            <p:ph type="sldNum" idx="38"/>
          </p:nvPr>
        </p:nvSpPr>
        <p:spPr>
          <a:xfrm>
            <a:off x="10807920" y="6356520"/>
            <a:ext cx="722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spcAft>
                <a:spcPts val="601"/>
              </a:spcAft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algn="r" defTabSz="457200">
              <a:lnSpc>
                <a:spcPct val="100000"/>
              </a:lnSpc>
              <a:spcAft>
                <a:spcPts val="601"/>
              </a:spcAft>
              <a:buNone/>
            </a:pPr>
            <a:fld id="{BCBC4856-B596-4694-8DCA-5A167DC326AD}" type="slidenum"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&lt;číslo&gt;</a:t>
            </a:fld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912600" y="1463040"/>
            <a:ext cx="3859200" cy="147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0" lang="en-US" sz="3200" spc="-1" strike="noStrike">
                <a:solidFill>
                  <a:schemeClr val="dk1"/>
                </a:solidFill>
                <a:latin typeface="Grandview Display"/>
              </a:rPr>
              <a:t>Proč OOP?</a:t>
            </a:r>
            <a:endParaRPr b="0" lang="en-US" sz="32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700" spc="-1" strike="noStrike">
                <a:solidFill>
                  <a:schemeClr val="dk1"/>
                </a:solidFill>
                <a:latin typeface="Grandview Display"/>
              </a:rPr>
              <a:t>S růstem projektu roste složitost – program jako „chaos funkcí“</a:t>
            </a:r>
            <a:endParaRPr b="0" lang="en-US" sz="1700" spc="-1" strike="noStrike">
              <a:solidFill>
                <a:schemeClr val="dk1"/>
              </a:solidFill>
              <a:latin typeface="Grandview Display"/>
            </a:endParaRPr>
          </a:p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700" spc="-1" strike="noStrike">
                <a:solidFill>
                  <a:schemeClr val="dk1"/>
                </a:solidFill>
                <a:latin typeface="Grandview Display"/>
              </a:rPr>
              <a:t>Potřebujeme </a:t>
            </a:r>
            <a:r>
              <a:rPr b="1" lang="en-US" sz="1700" spc="-1" strike="noStrike">
                <a:solidFill>
                  <a:schemeClr val="dk1"/>
                </a:solidFill>
                <a:latin typeface="Grandview Display"/>
              </a:rPr>
              <a:t>strukturu, znovupoužitelnost, čitelnost a testovatelnost</a:t>
            </a:r>
            <a:endParaRPr b="0" lang="en-US" sz="1700" spc="-1" strike="noStrike">
              <a:solidFill>
                <a:schemeClr val="dk1"/>
              </a:solidFill>
              <a:latin typeface="Grandview Display"/>
            </a:endParaRPr>
          </a:p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700" spc="-1" strike="noStrike">
                <a:solidFill>
                  <a:schemeClr val="dk1"/>
                </a:solidFill>
                <a:latin typeface="Grandview Display"/>
              </a:rPr>
              <a:t>Procedurální přístup: </a:t>
            </a:r>
            <a:r>
              <a:rPr b="1" lang="en-US" sz="1700" spc="-1" strike="noStrike">
                <a:solidFill>
                  <a:schemeClr val="dk1"/>
                </a:solidFill>
                <a:latin typeface="Grandview Display"/>
              </a:rPr>
              <a:t>„Co se má stát?“</a:t>
            </a:r>
            <a:endParaRPr b="0" lang="en-US" sz="1700" spc="-1" strike="noStrike">
              <a:solidFill>
                <a:schemeClr val="dk1"/>
              </a:solidFill>
              <a:latin typeface="Grandview Display"/>
            </a:endParaRPr>
          </a:p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700" spc="-1" strike="noStrike">
                <a:solidFill>
                  <a:schemeClr val="dk1"/>
                </a:solidFill>
                <a:latin typeface="Grandview Display"/>
              </a:rPr>
              <a:t>Objektový přístup: </a:t>
            </a:r>
            <a:r>
              <a:rPr b="1" lang="en-US" sz="1700" spc="-1" strike="noStrike">
                <a:solidFill>
                  <a:schemeClr val="dk1"/>
                </a:solidFill>
                <a:latin typeface="Grandview Display"/>
              </a:rPr>
              <a:t>„Kdo to dělá a co umí?“</a:t>
            </a:r>
            <a:endParaRPr b="0" lang="en-US" sz="1700" spc="-1" strike="noStrike">
              <a:solidFill>
                <a:schemeClr val="dk1"/>
              </a:solidFill>
              <a:latin typeface="Grandview Display"/>
            </a:endParaRPr>
          </a:p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700" spc="-1" strike="noStrike">
                <a:solidFill>
                  <a:schemeClr val="dk1"/>
                </a:solidFill>
                <a:latin typeface="Grandview Display"/>
              </a:rPr>
              <a:t>Problém dělíme na objekty, které mezi sebou komunikují</a:t>
            </a:r>
            <a:endParaRPr b="0" lang="en-US" sz="1700" spc="-1" strike="noStrike">
              <a:solidFill>
                <a:schemeClr val="dk1"/>
              </a:solidFill>
              <a:latin typeface="Grandview Display"/>
            </a:endParaRPr>
          </a:p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700" spc="-1" strike="noStrike">
                <a:solidFill>
                  <a:schemeClr val="dk1"/>
                </a:solidFill>
                <a:latin typeface="Grandview Display"/>
              </a:rPr>
              <a:t>Objekt modelujeme jako </a:t>
            </a:r>
            <a:r>
              <a:rPr b="1" lang="en-US" sz="1700" spc="-1" strike="noStrike">
                <a:solidFill>
                  <a:schemeClr val="dk1"/>
                </a:solidFill>
                <a:latin typeface="Grandview Display"/>
              </a:rPr>
              <a:t>abstrakci</a:t>
            </a:r>
            <a:r>
              <a:rPr b="0" lang="en-US" sz="1700" spc="-1" strike="noStrike">
                <a:solidFill>
                  <a:schemeClr val="dk1"/>
                </a:solidFill>
                <a:latin typeface="Grandview Display"/>
              </a:rPr>
              <a:t> skutečné věci</a:t>
            </a:r>
            <a:endParaRPr b="0" lang="en-US" sz="1700" spc="-1" strike="noStrike">
              <a:solidFill>
                <a:schemeClr val="dk1"/>
              </a:solidFill>
              <a:latin typeface="Grandview Display"/>
            </a:endParaRPr>
          </a:p>
          <a:p>
            <a:pPr lvl="1" marL="49392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500" spc="-1" strike="noStrike">
                <a:solidFill>
                  <a:schemeClr val="dk1"/>
                </a:solidFill>
                <a:latin typeface="Grandview Display"/>
              </a:rPr>
              <a:t>jen s daty a chováním, které aplikace potřebuje</a:t>
            </a:r>
            <a:endParaRPr b="0" lang="en-US" sz="1500" spc="-1" strike="noStrike">
              <a:solidFill>
                <a:schemeClr val="dk1"/>
              </a:solidFill>
              <a:latin typeface="Grandview Display"/>
            </a:endParaRPr>
          </a:p>
          <a:p>
            <a:pPr lvl="1" marL="49392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500" spc="-1" strike="noStrike">
                <a:solidFill>
                  <a:schemeClr val="dk1"/>
                </a:solidFill>
                <a:latin typeface="Grandview Display"/>
              </a:rPr>
              <a:t>žádný model není úplně přesný – a nemusí být</a:t>
            </a:r>
            <a:endParaRPr b="0" lang="en-US" sz="15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 type="dt" idx="39"/>
          </p:nvPr>
        </p:nvSpPr>
        <p:spPr>
          <a:xfrm>
            <a:off x="91260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spcAft>
                <a:spcPts val="601"/>
              </a:spcAft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defTabSz="457200">
              <a:lnSpc>
                <a:spcPct val="100000"/>
              </a:lnSpc>
              <a:spcAft>
                <a:spcPts val="601"/>
              </a:spcAft>
              <a:buNone/>
            </a:pPr>
            <a:fld id="{487C0A5E-5BCD-4969-939F-C42B564B010B}" type="datetime1"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10/02/2026</a:t>
            </a:fld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 type="sldNum" idx="40"/>
          </p:nvPr>
        </p:nvSpPr>
        <p:spPr>
          <a:xfrm>
            <a:off x="10807920" y="6356520"/>
            <a:ext cx="722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spcAft>
                <a:spcPts val="601"/>
              </a:spcAft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algn="r" defTabSz="457200">
              <a:lnSpc>
                <a:spcPct val="100000"/>
              </a:lnSpc>
              <a:spcAft>
                <a:spcPts val="601"/>
              </a:spcAft>
              <a:buNone/>
            </a:pPr>
            <a:fld id="{6F13E855-2747-4BC2-992C-2E561DC81C90}" type="slidenum"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&lt;číslo&gt;</a:t>
            </a:fld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912600" y="1371600"/>
            <a:ext cx="10442520" cy="939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0" lang="en-US" sz="4000" spc="-1" strike="noStrike">
                <a:solidFill>
                  <a:schemeClr val="dk1"/>
                </a:solidFill>
                <a:latin typeface="Grandview Display"/>
              </a:rPr>
              <a:t>Třída a objekt</a:t>
            </a:r>
            <a:endParaRPr b="0" lang="en-US" sz="40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/>
          </p:nvPr>
        </p:nvSpPr>
        <p:spPr>
          <a:xfrm>
            <a:off x="912600" y="2311200"/>
            <a:ext cx="5084640" cy="69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1800" spc="299" strike="noStrike" cap="all">
                <a:solidFill>
                  <a:schemeClr val="dk1"/>
                </a:solidFill>
                <a:latin typeface="Grandview Display"/>
              </a:rPr>
              <a:t>Třída</a:t>
            </a:r>
            <a:endParaRPr b="0" lang="en-US" sz="18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/>
          </p:nvPr>
        </p:nvSpPr>
        <p:spPr>
          <a:xfrm>
            <a:off x="6172200" y="2311200"/>
            <a:ext cx="5182920" cy="69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1800" spc="299" strike="noStrike" cap="all">
                <a:solidFill>
                  <a:schemeClr val="dk1"/>
                </a:solidFill>
                <a:latin typeface="Grandview Display"/>
              </a:rPr>
              <a:t>Objekt (instance)</a:t>
            </a:r>
            <a:endParaRPr b="0" lang="en-US" sz="18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94" name="PlaceHolder 4"/>
          <p:cNvSpPr>
            <a:spLocks noGrp="1"/>
          </p:cNvSpPr>
          <p:nvPr>
            <p:ph type="dt" idx="41"/>
          </p:nvPr>
        </p:nvSpPr>
        <p:spPr>
          <a:xfrm>
            <a:off x="91260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spcAft>
                <a:spcPts val="601"/>
              </a:spcAft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defTabSz="457200">
              <a:lnSpc>
                <a:spcPct val="100000"/>
              </a:lnSpc>
              <a:spcAft>
                <a:spcPts val="601"/>
              </a:spcAft>
              <a:buNone/>
            </a:pPr>
            <a:fld id="{D7C49C76-576F-4F6F-A6EA-A18EBD311D0A}" type="datetime1"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10/02/2026</a:t>
            </a:fld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5" name="PlaceHolder 5"/>
          <p:cNvSpPr>
            <a:spLocks noGrp="1"/>
          </p:cNvSpPr>
          <p:nvPr>
            <p:ph type="sldNum" idx="42"/>
          </p:nvPr>
        </p:nvSpPr>
        <p:spPr>
          <a:xfrm>
            <a:off x="10807920" y="6356520"/>
            <a:ext cx="722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spcAft>
                <a:spcPts val="601"/>
              </a:spcAft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algn="r" defTabSz="457200">
              <a:lnSpc>
                <a:spcPct val="100000"/>
              </a:lnSpc>
              <a:spcAft>
                <a:spcPts val="601"/>
              </a:spcAft>
              <a:buNone/>
            </a:pPr>
            <a:fld id="{D6D3A23E-64A6-4189-A16C-601B8A3FE5D3}" type="slidenum"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&lt;číslo&gt;</a:t>
            </a:fld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6" name="TextBox 14"/>
          <p:cNvSpPr/>
          <p:nvPr/>
        </p:nvSpPr>
        <p:spPr>
          <a:xfrm>
            <a:off x="912600" y="3080160"/>
            <a:ext cx="508464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chemeClr val="dk1"/>
                </a:solidFill>
                <a:latin typeface="Grandview Display"/>
              </a:rPr>
              <a:t>Šablona / předpis – jaká data objekt má a co umí</a:t>
            </a:r>
            <a:endParaRPr b="0" lang="cs-CZ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chemeClr val="dk1"/>
                </a:solidFill>
                <a:latin typeface="Grandview Display"/>
              </a:rPr>
              <a:t>Referenční datový typ</a:t>
            </a:r>
            <a:endParaRPr b="0" lang="cs-CZ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TextBox 15"/>
          <p:cNvSpPr/>
          <p:nvPr/>
        </p:nvSpPr>
        <p:spPr>
          <a:xfrm>
            <a:off x="6172200" y="3080160"/>
            <a:ext cx="518292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chemeClr val="dk1"/>
                </a:solidFill>
                <a:latin typeface="Grandview Display"/>
              </a:rPr>
              <a:t>Konkrétní instance třídy s vlastním stavem</a:t>
            </a:r>
            <a:endParaRPr b="0" lang="cs-CZ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chemeClr val="dk1"/>
                </a:solidFill>
                <a:latin typeface="Grandview Display"/>
              </a:rPr>
              <a:t>Vzniká pomocí klíčového slova </a:t>
            </a:r>
            <a:r>
              <a:rPr b="0" lang="en-US" sz="1500" spc="-1" strike="noStrike">
                <a:solidFill>
                  <a:schemeClr val="dk1"/>
                </a:solidFill>
                <a:latin typeface="Consolas"/>
              </a:rPr>
              <a:t>new</a:t>
            </a:r>
            <a:endParaRPr b="0" lang="cs-CZ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Kód"/>
          <p:cNvSpPr/>
          <p:nvPr/>
        </p:nvSpPr>
        <p:spPr>
          <a:xfrm>
            <a:off x="912600" y="3750120"/>
            <a:ext cx="5084640" cy="2399760"/>
          </a:xfrm>
          <a:prstGeom prst="roundRect">
            <a:avLst>
              <a:gd name="adj" fmla="val 4000"/>
            </a:avLst>
          </a:prstGeom>
          <a:solidFill>
            <a:srgbClr val="f4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164520" rIns="164520" tIns="164520" bIns="16452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0000ff"/>
                </a:solidFill>
                <a:latin typeface="Consolas"/>
              </a:rPr>
              <a:t>class</a:t>
            </a:r>
            <a:r>
              <a:rPr b="0" lang="en-US" sz="1400" spc="-1" strike="noStrike">
                <a:solidFill>
                  <a:srgbClr val="1e1e1e"/>
                </a:solidFill>
                <a:latin typeface="Consolas"/>
              </a:rPr>
              <a:t> </a:t>
            </a:r>
            <a:r>
              <a:rPr b="0" lang="en-US" sz="1400" spc="-1" strike="noStrike">
                <a:solidFill>
                  <a:srgbClr val="2b91af"/>
                </a:solidFill>
                <a:latin typeface="Consolas"/>
              </a:rPr>
              <a:t>Pes</a:t>
            </a:r>
            <a:endParaRPr b="0" lang="cs-CZ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1e1e1e"/>
                </a:solidFill>
                <a:latin typeface="Consolas"/>
              </a:rPr>
              <a:t>{</a:t>
            </a:r>
            <a:endParaRPr b="0" lang="cs-CZ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1e1e1e"/>
                </a:solidFill>
                <a:latin typeface="Consolas"/>
              </a:rPr>
              <a:t>    </a:t>
            </a:r>
            <a:r>
              <a:rPr b="0" lang="en-US" sz="1400" spc="-1" strike="noStrike">
                <a:solidFill>
                  <a:srgbClr val="0000ff"/>
                </a:solidFill>
                <a:latin typeface="Consolas"/>
              </a:rPr>
              <a:t>public</a:t>
            </a:r>
            <a:r>
              <a:rPr b="0" lang="en-US" sz="1400" spc="-1" strike="noStrike">
                <a:solidFill>
                  <a:srgbClr val="1e1e1e"/>
                </a:solidFill>
                <a:latin typeface="Consolas"/>
              </a:rPr>
              <a:t> </a:t>
            </a:r>
            <a:r>
              <a:rPr b="0" lang="en-US" sz="1400" spc="-1" strike="noStrike">
                <a:solidFill>
                  <a:srgbClr val="0000ff"/>
                </a:solidFill>
                <a:latin typeface="Consolas"/>
              </a:rPr>
              <a:t>string</a:t>
            </a:r>
            <a:r>
              <a:rPr b="0" lang="en-US" sz="1400" spc="-1" strike="noStrike">
                <a:solidFill>
                  <a:srgbClr val="1e1e1e"/>
                </a:solidFill>
                <a:latin typeface="Consolas"/>
              </a:rPr>
              <a:t> Jmeno { </a:t>
            </a:r>
            <a:r>
              <a:rPr b="0" lang="en-US" sz="1400" spc="-1" strike="noStrike">
                <a:solidFill>
                  <a:srgbClr val="0000ff"/>
                </a:solidFill>
                <a:latin typeface="Consolas"/>
              </a:rPr>
              <a:t>get</a:t>
            </a:r>
            <a:r>
              <a:rPr b="0" lang="en-US" sz="1400" spc="-1" strike="noStrike">
                <a:solidFill>
                  <a:srgbClr val="1e1e1e"/>
                </a:solidFill>
                <a:latin typeface="Consolas"/>
              </a:rPr>
              <a:t>; </a:t>
            </a:r>
            <a:r>
              <a:rPr b="0" lang="en-US" sz="1400" spc="-1" strike="noStrike">
                <a:solidFill>
                  <a:srgbClr val="0000ff"/>
                </a:solidFill>
                <a:latin typeface="Consolas"/>
              </a:rPr>
              <a:t>set</a:t>
            </a:r>
            <a:r>
              <a:rPr b="0" lang="en-US" sz="1400" spc="-1" strike="noStrike">
                <a:solidFill>
                  <a:srgbClr val="1e1e1e"/>
                </a:solidFill>
                <a:latin typeface="Consolas"/>
              </a:rPr>
              <a:t>; }</a:t>
            </a:r>
            <a:endParaRPr b="0" lang="cs-CZ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1e1e1e"/>
                </a:solidFill>
                <a:latin typeface="Consolas"/>
              </a:rPr>
              <a:t>    </a:t>
            </a:r>
            <a:r>
              <a:rPr b="0" lang="en-US" sz="1400" spc="-1" strike="noStrike">
                <a:solidFill>
                  <a:srgbClr val="0000ff"/>
                </a:solidFill>
                <a:latin typeface="Consolas"/>
              </a:rPr>
              <a:t>public</a:t>
            </a:r>
            <a:r>
              <a:rPr b="0" lang="en-US" sz="1400" spc="-1" strike="noStrike">
                <a:solidFill>
                  <a:srgbClr val="1e1e1e"/>
                </a:solidFill>
                <a:latin typeface="Consolas"/>
              </a:rPr>
              <a:t> </a:t>
            </a:r>
            <a:r>
              <a:rPr b="0" lang="en-US" sz="1400" spc="-1" strike="noStrike">
                <a:solidFill>
                  <a:srgbClr val="0000ff"/>
                </a:solidFill>
                <a:latin typeface="Consolas"/>
              </a:rPr>
              <a:t>double</a:t>
            </a:r>
            <a:r>
              <a:rPr b="0" lang="en-US" sz="1400" spc="-1" strike="noStrike">
                <a:solidFill>
                  <a:srgbClr val="1e1e1e"/>
                </a:solidFill>
                <a:latin typeface="Consolas"/>
              </a:rPr>
              <a:t> Vaha { </a:t>
            </a:r>
            <a:r>
              <a:rPr b="0" lang="en-US" sz="1400" spc="-1" strike="noStrike">
                <a:solidFill>
                  <a:srgbClr val="0000ff"/>
                </a:solidFill>
                <a:latin typeface="Consolas"/>
              </a:rPr>
              <a:t>get</a:t>
            </a:r>
            <a:r>
              <a:rPr b="0" lang="en-US" sz="1400" spc="-1" strike="noStrike">
                <a:solidFill>
                  <a:srgbClr val="1e1e1e"/>
                </a:solidFill>
                <a:latin typeface="Consolas"/>
              </a:rPr>
              <a:t>; </a:t>
            </a:r>
            <a:r>
              <a:rPr b="0" lang="en-US" sz="1400" spc="-1" strike="noStrike">
                <a:solidFill>
                  <a:srgbClr val="0000ff"/>
                </a:solidFill>
                <a:latin typeface="Consolas"/>
              </a:rPr>
              <a:t>set</a:t>
            </a:r>
            <a:r>
              <a:rPr b="0" lang="en-US" sz="1400" spc="-1" strike="noStrike">
                <a:solidFill>
                  <a:srgbClr val="1e1e1e"/>
                </a:solidFill>
                <a:latin typeface="Consolas"/>
              </a:rPr>
              <a:t>; }</a:t>
            </a:r>
            <a:endParaRPr b="0" lang="cs-CZ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1e1e1e"/>
                </a:solidFill>
                <a:latin typeface="Consolas"/>
              </a:rPr>
              <a:t> </a:t>
            </a:r>
            <a:endParaRPr b="0" lang="cs-CZ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1e1e1e"/>
                </a:solidFill>
                <a:latin typeface="Consolas"/>
              </a:rPr>
              <a:t>    </a:t>
            </a:r>
            <a:r>
              <a:rPr b="0" lang="en-US" sz="1400" spc="-1" strike="noStrike">
                <a:solidFill>
                  <a:srgbClr val="0000ff"/>
                </a:solidFill>
                <a:latin typeface="Consolas"/>
              </a:rPr>
              <a:t>public</a:t>
            </a:r>
            <a:r>
              <a:rPr b="0" lang="en-US" sz="1400" spc="-1" strike="noStrike">
                <a:solidFill>
                  <a:srgbClr val="1e1e1e"/>
                </a:solidFill>
                <a:latin typeface="Consolas"/>
              </a:rPr>
              <a:t> </a:t>
            </a:r>
            <a:r>
              <a:rPr b="0" lang="en-US" sz="1400" spc="-1" strike="noStrike">
                <a:solidFill>
                  <a:srgbClr val="0000ff"/>
                </a:solidFill>
                <a:latin typeface="Consolas"/>
              </a:rPr>
              <a:t>void</a:t>
            </a:r>
            <a:r>
              <a:rPr b="0" lang="en-US" sz="1400" spc="-1" strike="noStrike">
                <a:solidFill>
                  <a:srgbClr val="1e1e1e"/>
                </a:solidFill>
                <a:latin typeface="Consolas"/>
              </a:rPr>
              <a:t> </a:t>
            </a:r>
            <a:r>
              <a:rPr b="0" lang="en-US" sz="1400" spc="-1" strike="noStrike">
                <a:solidFill>
                  <a:srgbClr val="74531f"/>
                </a:solidFill>
                <a:latin typeface="Consolas"/>
              </a:rPr>
              <a:t>Stekej</a:t>
            </a:r>
            <a:r>
              <a:rPr b="0" lang="en-US" sz="1400" spc="-1" strike="noStrike">
                <a:solidFill>
                  <a:srgbClr val="1e1e1e"/>
                </a:solidFill>
                <a:latin typeface="Consolas"/>
              </a:rPr>
              <a:t>()</a:t>
            </a:r>
            <a:endParaRPr b="0" lang="cs-CZ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1e1e1e"/>
                </a:solidFill>
                <a:latin typeface="Consolas"/>
              </a:rPr>
              <a:t>    </a:t>
            </a:r>
            <a:r>
              <a:rPr b="0" lang="en-US" sz="1400" spc="-1" strike="noStrike">
                <a:solidFill>
                  <a:srgbClr val="1e1e1e"/>
                </a:solidFill>
                <a:latin typeface="Consolas"/>
              </a:rPr>
              <a:t>{</a:t>
            </a:r>
            <a:endParaRPr b="0" lang="cs-CZ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1e1e1e"/>
                </a:solidFill>
                <a:latin typeface="Consolas"/>
              </a:rPr>
              <a:t>        </a:t>
            </a:r>
            <a:r>
              <a:rPr b="0" lang="en-US" sz="1400" spc="-1" strike="noStrike">
                <a:solidFill>
                  <a:srgbClr val="2b91af"/>
                </a:solidFill>
                <a:latin typeface="Consolas"/>
              </a:rPr>
              <a:t>Console</a:t>
            </a:r>
            <a:r>
              <a:rPr b="0" lang="en-US" sz="1400" spc="-1" strike="noStrike">
                <a:solidFill>
                  <a:srgbClr val="1e1e1e"/>
                </a:solidFill>
                <a:latin typeface="Consolas"/>
              </a:rPr>
              <a:t>.</a:t>
            </a:r>
            <a:r>
              <a:rPr b="0" lang="en-US" sz="1400" spc="-1" strike="noStrike">
                <a:solidFill>
                  <a:srgbClr val="74531f"/>
                </a:solidFill>
                <a:latin typeface="Consolas"/>
              </a:rPr>
              <a:t>WriteLine</a:t>
            </a:r>
            <a:r>
              <a:rPr b="0" lang="en-US" sz="1400" spc="-1" strike="noStrike">
                <a:solidFill>
                  <a:srgbClr val="1e1e1e"/>
                </a:solidFill>
                <a:latin typeface="Consolas"/>
              </a:rPr>
              <a:t>(</a:t>
            </a:r>
            <a:r>
              <a:rPr b="0" lang="en-US" sz="1400" spc="-1" strike="noStrike">
                <a:solidFill>
                  <a:srgbClr val="a31515"/>
                </a:solidFill>
                <a:latin typeface="Consolas"/>
              </a:rPr>
              <a:t>"Haf!"</a:t>
            </a:r>
            <a:r>
              <a:rPr b="0" lang="en-US" sz="1400" spc="-1" strike="noStrike">
                <a:solidFill>
                  <a:srgbClr val="1e1e1e"/>
                </a:solidFill>
                <a:latin typeface="Consolas"/>
              </a:rPr>
              <a:t>);</a:t>
            </a:r>
            <a:endParaRPr b="0" lang="cs-CZ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1e1e1e"/>
                </a:solidFill>
                <a:latin typeface="Consolas"/>
              </a:rPr>
              <a:t>    </a:t>
            </a:r>
            <a:r>
              <a:rPr b="0" lang="en-US" sz="1400" spc="-1" strike="noStrike">
                <a:solidFill>
                  <a:srgbClr val="1e1e1e"/>
                </a:solidFill>
                <a:latin typeface="Consolas"/>
              </a:rPr>
              <a:t>}</a:t>
            </a:r>
            <a:endParaRPr b="0" lang="cs-CZ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1e1e1e"/>
                </a:solidFill>
                <a:latin typeface="Consolas"/>
              </a:rPr>
              <a:t>}</a:t>
            </a:r>
            <a:endParaRPr b="0" lang="cs-CZ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Kód"/>
          <p:cNvSpPr/>
          <p:nvPr/>
        </p:nvSpPr>
        <p:spPr>
          <a:xfrm>
            <a:off x="6172200" y="3750120"/>
            <a:ext cx="5182920" cy="2399760"/>
          </a:xfrm>
          <a:prstGeom prst="roundRect">
            <a:avLst>
              <a:gd name="adj" fmla="val 4000"/>
            </a:avLst>
          </a:prstGeom>
          <a:solidFill>
            <a:srgbClr val="f4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164520" rIns="164520" tIns="164520" bIns="16452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2b91af"/>
                </a:solidFill>
                <a:latin typeface="Consolas"/>
              </a:rPr>
              <a:t>Pes</a:t>
            </a:r>
            <a:r>
              <a:rPr b="0" lang="en-US" sz="1600" spc="-1" strike="noStrike">
                <a:solidFill>
                  <a:srgbClr val="1e1e1e"/>
                </a:solidFill>
                <a:latin typeface="Consolas"/>
              </a:rPr>
              <a:t> cenda = </a:t>
            </a:r>
            <a:r>
              <a:rPr b="0" lang="en-US" sz="1600" spc="-1" strike="noStrike">
                <a:solidFill>
                  <a:srgbClr val="0000ff"/>
                </a:solidFill>
                <a:latin typeface="Consolas"/>
              </a:rPr>
              <a:t>new</a:t>
            </a:r>
            <a:r>
              <a:rPr b="0" lang="en-US" sz="1600" spc="-1" strike="noStrike">
                <a:solidFill>
                  <a:srgbClr val="1e1e1e"/>
                </a:solidFill>
                <a:latin typeface="Consolas"/>
              </a:rPr>
              <a:t> </a:t>
            </a:r>
            <a:r>
              <a:rPr b="0" lang="en-US" sz="1600" spc="-1" strike="noStrike">
                <a:solidFill>
                  <a:srgbClr val="2b91af"/>
                </a:solidFill>
                <a:latin typeface="Consolas"/>
              </a:rPr>
              <a:t>Pes</a:t>
            </a:r>
            <a:r>
              <a:rPr b="0" lang="en-US" sz="1600" spc="-1" strike="noStrike">
                <a:solidFill>
                  <a:srgbClr val="1e1e1e"/>
                </a:solidFill>
                <a:latin typeface="Consolas"/>
              </a:rPr>
              <a:t>();</a:t>
            </a:r>
            <a:endParaRPr b="0" lang="cs-CZ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1e1e1e"/>
                </a:solidFill>
                <a:latin typeface="Consolas"/>
              </a:rPr>
              <a:t>cenda.Jmeno = </a:t>
            </a:r>
            <a:r>
              <a:rPr b="0" lang="en-US" sz="1600" spc="-1" strike="noStrike">
                <a:solidFill>
                  <a:srgbClr val="a31515"/>
                </a:solidFill>
                <a:latin typeface="Consolas"/>
              </a:rPr>
              <a:t>"Čenda"</a:t>
            </a:r>
            <a:r>
              <a:rPr b="0" lang="en-US" sz="1600" spc="-1" strike="noStrike">
                <a:solidFill>
                  <a:srgbClr val="1e1e1e"/>
                </a:solidFill>
                <a:latin typeface="Consolas"/>
              </a:rPr>
              <a:t>;</a:t>
            </a:r>
            <a:endParaRPr b="0" lang="cs-CZ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1e1e1e"/>
                </a:solidFill>
                <a:latin typeface="Consolas"/>
              </a:rPr>
              <a:t>cenda.Vaha = 12;</a:t>
            </a:r>
            <a:endParaRPr b="0" lang="cs-CZ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1e1e1e"/>
                </a:solidFill>
                <a:latin typeface="Consolas"/>
              </a:rPr>
              <a:t> </a:t>
            </a:r>
            <a:endParaRPr b="0" lang="cs-CZ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2b91af"/>
                </a:solidFill>
                <a:latin typeface="Consolas"/>
              </a:rPr>
              <a:t>Pes</a:t>
            </a:r>
            <a:r>
              <a:rPr b="0" lang="en-US" sz="1600" spc="-1" strike="noStrike">
                <a:solidFill>
                  <a:srgbClr val="1e1e1e"/>
                </a:solidFill>
                <a:latin typeface="Consolas"/>
              </a:rPr>
              <a:t> rex = </a:t>
            </a:r>
            <a:r>
              <a:rPr b="0" lang="en-US" sz="1600" spc="-1" strike="noStrike">
                <a:solidFill>
                  <a:srgbClr val="0000ff"/>
                </a:solidFill>
                <a:latin typeface="Consolas"/>
              </a:rPr>
              <a:t>new</a:t>
            </a:r>
            <a:r>
              <a:rPr b="0" lang="en-US" sz="1600" spc="-1" strike="noStrike">
                <a:solidFill>
                  <a:srgbClr val="1e1e1e"/>
                </a:solidFill>
                <a:latin typeface="Consolas"/>
              </a:rPr>
              <a:t> </a:t>
            </a:r>
            <a:r>
              <a:rPr b="0" lang="en-US" sz="1600" spc="-1" strike="noStrike">
                <a:solidFill>
                  <a:srgbClr val="2b91af"/>
                </a:solidFill>
                <a:latin typeface="Consolas"/>
              </a:rPr>
              <a:t>Pes</a:t>
            </a:r>
            <a:r>
              <a:rPr b="0" lang="en-US" sz="1600" spc="-1" strike="noStrike">
                <a:solidFill>
                  <a:srgbClr val="1e1e1e"/>
                </a:solidFill>
                <a:latin typeface="Consolas"/>
              </a:rPr>
              <a:t> { Jmeno = </a:t>
            </a:r>
            <a:r>
              <a:rPr b="0" lang="en-US" sz="1600" spc="-1" strike="noStrike">
                <a:solidFill>
                  <a:srgbClr val="a31515"/>
                </a:solidFill>
                <a:latin typeface="Consolas"/>
              </a:rPr>
              <a:t>"Rex"</a:t>
            </a:r>
            <a:r>
              <a:rPr b="0" lang="en-US" sz="1600" spc="-1" strike="noStrike">
                <a:solidFill>
                  <a:srgbClr val="1e1e1e"/>
                </a:solidFill>
                <a:latin typeface="Consolas"/>
              </a:rPr>
              <a:t> };</a:t>
            </a:r>
            <a:endParaRPr b="0" lang="cs-CZ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1e1e1e"/>
                </a:solidFill>
                <a:latin typeface="Consolas"/>
              </a:rPr>
              <a:t>rex.</a:t>
            </a:r>
            <a:r>
              <a:rPr b="0" lang="en-US" sz="1600" spc="-1" strike="noStrike">
                <a:solidFill>
                  <a:srgbClr val="74531f"/>
                </a:solidFill>
                <a:latin typeface="Consolas"/>
              </a:rPr>
              <a:t>Stekej</a:t>
            </a:r>
            <a:r>
              <a:rPr b="0" lang="en-US" sz="1600" spc="-1" strike="noStrike">
                <a:solidFill>
                  <a:srgbClr val="1e1e1e"/>
                </a:solidFill>
                <a:latin typeface="Consolas"/>
              </a:rPr>
              <a:t>();</a:t>
            </a:r>
            <a:endParaRPr b="0" lang="cs-CZ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914400" y="1371600"/>
            <a:ext cx="10362960" cy="1187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0" lang="en-US" sz="4000" spc="-1" strike="noStrike">
                <a:solidFill>
                  <a:schemeClr val="dk1"/>
                </a:solidFill>
                <a:latin typeface="Grandview Display"/>
              </a:rPr>
              <a:t>Členy třídy</a:t>
            </a:r>
            <a:endParaRPr b="0" lang="en-US" sz="40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914400" y="2649960"/>
            <a:ext cx="4699800" cy="3549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1" lang="en-US" sz="1600" spc="-1" strike="noStrike">
                <a:solidFill>
                  <a:schemeClr val="dk1"/>
                </a:solidFill>
                <a:latin typeface="Grandview Display"/>
              </a:rPr>
              <a:t>Field (atribut)</a:t>
            </a: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 – data objektu, vždy private</a:t>
            </a:r>
            <a:endParaRPr b="0" lang="en-US" sz="1600" spc="-1" strike="noStrike">
              <a:solidFill>
                <a:schemeClr val="dk1"/>
              </a:solidFill>
              <a:latin typeface="Grandview Display"/>
            </a:endParaRPr>
          </a:p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1" lang="en-US" sz="1600" spc="-1" strike="noStrike">
                <a:solidFill>
                  <a:schemeClr val="dk1"/>
                </a:solidFill>
                <a:latin typeface="Grandview Display"/>
              </a:rPr>
              <a:t>Property (vlastnost)</a:t>
            </a: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 – řízený přístup k datům přes get / set</a:t>
            </a:r>
            <a:endParaRPr b="0" lang="en-US" sz="1600" spc="-1" strike="noStrike">
              <a:solidFill>
                <a:schemeClr val="dk1"/>
              </a:solidFill>
              <a:latin typeface="Grandview Display"/>
            </a:endParaRPr>
          </a:p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1" lang="en-US" sz="1600" spc="-1" strike="noStrike">
                <a:solidFill>
                  <a:schemeClr val="dk1"/>
                </a:solidFill>
                <a:latin typeface="Grandview Display"/>
              </a:rPr>
              <a:t>Konstruktor</a:t>
            </a: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 – nastaví výchozí stav objektu</a:t>
            </a:r>
            <a:endParaRPr b="0" lang="en-US" sz="1600" spc="-1" strike="noStrike">
              <a:solidFill>
                <a:schemeClr val="dk1"/>
              </a:solidFill>
              <a:latin typeface="Grandview Display"/>
            </a:endParaRPr>
          </a:p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1" lang="en-US" sz="1600" spc="-1" strike="noStrike">
                <a:solidFill>
                  <a:schemeClr val="dk1"/>
                </a:solidFill>
                <a:latin typeface="Grandview Display"/>
              </a:rPr>
              <a:t>Metody</a:t>
            </a: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 – chování objektu, pracují s jeho stavem</a:t>
            </a:r>
            <a:endParaRPr b="0" lang="en-US" sz="1600" spc="-1" strike="noStrike">
              <a:solidFill>
                <a:schemeClr val="dk1"/>
              </a:solidFill>
              <a:latin typeface="Grandview Display"/>
            </a:endParaRPr>
          </a:p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1" lang="en-US" sz="1600" spc="-1" strike="noStrike">
                <a:solidFill>
                  <a:schemeClr val="dk1"/>
                </a:solidFill>
                <a:latin typeface="Grandview Display"/>
              </a:rPr>
              <a:t>this</a:t>
            </a: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 – odkaz na aktuální objekt</a:t>
            </a:r>
            <a:endParaRPr b="0" lang="en-US" sz="1600" spc="-1" strike="noStrike">
              <a:solidFill>
                <a:schemeClr val="dk1"/>
              </a:solidFill>
              <a:latin typeface="Grandview Display"/>
            </a:endParaRPr>
          </a:p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Každá třída ideálně ve vlastním souboru</a:t>
            </a:r>
            <a:endParaRPr b="0" lang="en-US" sz="16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 type="dt" idx="43"/>
          </p:nvPr>
        </p:nvSpPr>
        <p:spPr>
          <a:xfrm>
            <a:off x="91260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spcAft>
                <a:spcPts val="601"/>
              </a:spcAft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defTabSz="457200">
              <a:lnSpc>
                <a:spcPct val="100000"/>
              </a:lnSpc>
              <a:spcAft>
                <a:spcPts val="601"/>
              </a:spcAft>
              <a:buNone/>
            </a:pPr>
            <a:fld id="{0347CC51-930A-4A61-BDE5-C3757D0E9263}" type="datetime1"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10/02/2026</a:t>
            </a:fld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 type="sldNum" idx="44"/>
          </p:nvPr>
        </p:nvSpPr>
        <p:spPr>
          <a:xfrm>
            <a:off x="10807920" y="6356520"/>
            <a:ext cx="722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spcAft>
                <a:spcPts val="601"/>
              </a:spcAft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algn="r" defTabSz="457200">
              <a:lnSpc>
                <a:spcPct val="100000"/>
              </a:lnSpc>
              <a:spcAft>
                <a:spcPts val="601"/>
              </a:spcAft>
              <a:buNone/>
            </a:pPr>
            <a:fld id="{C0C15B01-C6F0-42CC-99EC-37E98FB9B0ED}" type="slidenum"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&lt;číslo&gt;</a:t>
            </a:fld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4" name="Kód"/>
          <p:cNvSpPr/>
          <p:nvPr/>
        </p:nvSpPr>
        <p:spPr>
          <a:xfrm>
            <a:off x="5799960" y="2649960"/>
            <a:ext cx="5477400" cy="3549600"/>
          </a:xfrm>
          <a:prstGeom prst="roundRect">
            <a:avLst>
              <a:gd name="adj" fmla="val 4000"/>
            </a:avLst>
          </a:prstGeom>
          <a:solidFill>
            <a:srgbClr val="f4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164520" rIns="164520" tIns="164520" bIns="16452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0000ff"/>
                </a:solidFill>
                <a:latin typeface="Consolas"/>
              </a:rPr>
              <a:t>class</a:t>
            </a: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2b91af"/>
                </a:solidFill>
                <a:latin typeface="Consolas"/>
              </a:rPr>
              <a:t>Ucet</a:t>
            </a:r>
            <a:endParaRPr b="0" lang="cs-CZ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{</a:t>
            </a:r>
            <a:endParaRPr b="0" lang="cs-CZ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    </a:t>
            </a:r>
            <a:r>
              <a:rPr b="0" lang="en-US" sz="1250" spc="-1" strike="noStrike">
                <a:solidFill>
                  <a:srgbClr val="008000"/>
                </a:solidFill>
                <a:latin typeface="Consolas"/>
              </a:rPr>
              <a:t>// field</a:t>
            </a:r>
            <a:endParaRPr b="0" lang="cs-CZ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    </a:t>
            </a:r>
            <a:r>
              <a:rPr b="0" lang="en-US" sz="1250" spc="-1" strike="noStrike">
                <a:solidFill>
                  <a:srgbClr val="0000ff"/>
                </a:solidFill>
                <a:latin typeface="Consolas"/>
              </a:rPr>
              <a:t>private</a:t>
            </a: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0000ff"/>
                </a:solidFill>
                <a:latin typeface="Consolas"/>
              </a:rPr>
              <a:t>double</a:t>
            </a: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 zustatek;</a:t>
            </a:r>
            <a:endParaRPr b="0" lang="cs-CZ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    </a:t>
            </a:r>
            <a:r>
              <a:rPr b="0" lang="en-US" sz="1250" spc="-1" strike="noStrike">
                <a:solidFill>
                  <a:srgbClr val="008000"/>
                </a:solidFill>
                <a:latin typeface="Consolas"/>
              </a:rPr>
              <a:t>// property</a:t>
            </a:r>
            <a:endParaRPr b="0" lang="cs-CZ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    </a:t>
            </a:r>
            <a:r>
              <a:rPr b="0" lang="en-US" sz="1250" spc="-1" strike="noStrike">
                <a:solidFill>
                  <a:srgbClr val="0000ff"/>
                </a:solidFill>
                <a:latin typeface="Consolas"/>
              </a:rPr>
              <a:t>public</a:t>
            </a: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0000ff"/>
                </a:solidFill>
                <a:latin typeface="Consolas"/>
              </a:rPr>
              <a:t>string</a:t>
            </a: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 Majitel { </a:t>
            </a:r>
            <a:r>
              <a:rPr b="0" lang="en-US" sz="1250" spc="-1" strike="noStrike">
                <a:solidFill>
                  <a:srgbClr val="0000ff"/>
                </a:solidFill>
                <a:latin typeface="Consolas"/>
              </a:rPr>
              <a:t>get</a:t>
            </a: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; }</a:t>
            </a:r>
            <a:endParaRPr b="0" lang="cs-CZ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    </a:t>
            </a:r>
            <a:r>
              <a:rPr b="0" lang="en-US" sz="1250" spc="-1" strike="noStrike">
                <a:solidFill>
                  <a:srgbClr val="008000"/>
                </a:solidFill>
                <a:latin typeface="Consolas"/>
              </a:rPr>
              <a:t>// konstruktor</a:t>
            </a:r>
            <a:endParaRPr b="0" lang="cs-CZ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    </a:t>
            </a:r>
            <a:r>
              <a:rPr b="0" lang="en-US" sz="1250" spc="-1" strike="noStrike">
                <a:solidFill>
                  <a:srgbClr val="0000ff"/>
                </a:solidFill>
                <a:latin typeface="Consolas"/>
              </a:rPr>
              <a:t>public</a:t>
            </a: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2b91af"/>
                </a:solidFill>
                <a:latin typeface="Consolas"/>
              </a:rPr>
              <a:t>Ucet</a:t>
            </a: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(</a:t>
            </a:r>
            <a:r>
              <a:rPr b="0" lang="en-US" sz="1250" spc="-1" strike="noStrike">
                <a:solidFill>
                  <a:srgbClr val="0000ff"/>
                </a:solidFill>
                <a:latin typeface="Consolas"/>
              </a:rPr>
              <a:t>string</a:t>
            </a: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 majitel)</a:t>
            </a:r>
            <a:endParaRPr b="0" lang="cs-CZ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    </a:t>
            </a: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{</a:t>
            </a:r>
            <a:endParaRPr b="0" lang="cs-CZ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        </a:t>
            </a:r>
            <a:r>
              <a:rPr b="0" lang="en-US" sz="1250" spc="-1" strike="noStrike">
                <a:solidFill>
                  <a:srgbClr val="0000ff"/>
                </a:solidFill>
                <a:latin typeface="Consolas"/>
              </a:rPr>
              <a:t>this</a:t>
            </a: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.Majitel = majitel;</a:t>
            </a:r>
            <a:endParaRPr b="0" lang="cs-CZ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    </a:t>
            </a: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}</a:t>
            </a:r>
            <a:endParaRPr b="0" lang="cs-CZ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    </a:t>
            </a:r>
            <a:r>
              <a:rPr b="0" lang="en-US" sz="1250" spc="-1" strike="noStrike">
                <a:solidFill>
                  <a:srgbClr val="008000"/>
                </a:solidFill>
                <a:latin typeface="Consolas"/>
              </a:rPr>
              <a:t>// metoda</a:t>
            </a:r>
            <a:endParaRPr b="0" lang="cs-CZ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    </a:t>
            </a:r>
            <a:r>
              <a:rPr b="0" lang="en-US" sz="1250" spc="-1" strike="noStrike">
                <a:solidFill>
                  <a:srgbClr val="0000ff"/>
                </a:solidFill>
                <a:latin typeface="Consolas"/>
              </a:rPr>
              <a:t>public</a:t>
            </a: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0000ff"/>
                </a:solidFill>
                <a:latin typeface="Consolas"/>
              </a:rPr>
              <a:t>void</a:t>
            </a: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74531f"/>
                </a:solidFill>
                <a:latin typeface="Consolas"/>
              </a:rPr>
              <a:t>Vloz</a:t>
            </a: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(</a:t>
            </a:r>
            <a:r>
              <a:rPr b="0" lang="en-US" sz="1250" spc="-1" strike="noStrike">
                <a:solidFill>
                  <a:srgbClr val="0000ff"/>
                </a:solidFill>
                <a:latin typeface="Consolas"/>
              </a:rPr>
              <a:t>double</a:t>
            </a: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 castka)</a:t>
            </a:r>
            <a:endParaRPr b="0" lang="cs-CZ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    </a:t>
            </a: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{</a:t>
            </a:r>
            <a:endParaRPr b="0" lang="cs-CZ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        </a:t>
            </a: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zustatek += castka;</a:t>
            </a:r>
            <a:endParaRPr b="0" lang="cs-CZ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    </a:t>
            </a: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}</a:t>
            </a:r>
            <a:endParaRPr b="0" lang="cs-CZ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}</a:t>
            </a:r>
            <a:endParaRPr b="0" lang="cs-CZ" sz="12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912600" y="1371600"/>
            <a:ext cx="10442520" cy="939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0" lang="en-US" sz="4000" spc="-1" strike="noStrike">
                <a:solidFill>
                  <a:schemeClr val="dk1"/>
                </a:solidFill>
                <a:latin typeface="Grandview Display"/>
              </a:rPr>
              <a:t>Field a property</a:t>
            </a:r>
            <a:endParaRPr b="0" lang="en-US" sz="40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/>
          </p:nvPr>
        </p:nvSpPr>
        <p:spPr>
          <a:xfrm>
            <a:off x="912600" y="2311200"/>
            <a:ext cx="5084640" cy="69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1800" spc="299" strike="noStrike" cap="all">
                <a:solidFill>
                  <a:schemeClr val="dk1"/>
                </a:solidFill>
                <a:latin typeface="Grandview Display"/>
              </a:rPr>
              <a:t>Plná property</a:t>
            </a:r>
            <a:endParaRPr b="0" lang="en-US" sz="18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107" name="PlaceHolder 3"/>
          <p:cNvSpPr>
            <a:spLocks noGrp="1"/>
          </p:cNvSpPr>
          <p:nvPr>
            <p:ph/>
          </p:nvPr>
        </p:nvSpPr>
        <p:spPr>
          <a:xfrm>
            <a:off x="6172200" y="2311200"/>
            <a:ext cx="5182920" cy="69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1800" spc="299" strike="noStrike" cap="all">
                <a:solidFill>
                  <a:schemeClr val="dk1"/>
                </a:solidFill>
                <a:latin typeface="Grandview Display"/>
              </a:rPr>
              <a:t>Auto-property</a:t>
            </a:r>
            <a:endParaRPr b="0" lang="en-US" sz="18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108" name="PlaceHolder 4"/>
          <p:cNvSpPr>
            <a:spLocks noGrp="1"/>
          </p:cNvSpPr>
          <p:nvPr>
            <p:ph type="dt" idx="45"/>
          </p:nvPr>
        </p:nvSpPr>
        <p:spPr>
          <a:xfrm>
            <a:off x="91260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spcAft>
                <a:spcPts val="601"/>
              </a:spcAft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defTabSz="457200">
              <a:lnSpc>
                <a:spcPct val="100000"/>
              </a:lnSpc>
              <a:spcAft>
                <a:spcPts val="601"/>
              </a:spcAft>
              <a:buNone/>
            </a:pPr>
            <a:fld id="{9BA47FF7-BE36-4C79-848B-32F975568DA7}" type="datetime1"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10/02/2026</a:t>
            </a:fld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9" name="PlaceHolder 5"/>
          <p:cNvSpPr>
            <a:spLocks noGrp="1"/>
          </p:cNvSpPr>
          <p:nvPr>
            <p:ph type="sldNum" idx="46"/>
          </p:nvPr>
        </p:nvSpPr>
        <p:spPr>
          <a:xfrm>
            <a:off x="10807920" y="6356520"/>
            <a:ext cx="722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spcAft>
                <a:spcPts val="601"/>
              </a:spcAft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algn="r" defTabSz="457200">
              <a:lnSpc>
                <a:spcPct val="100000"/>
              </a:lnSpc>
              <a:spcAft>
                <a:spcPts val="601"/>
              </a:spcAft>
              <a:buNone/>
            </a:pPr>
            <a:fld id="{51F6952E-DF11-4FD3-B238-0D6B8C691F76}" type="slidenum"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&lt;číslo&gt;</a:t>
            </a:fld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0" name="TextBox 14"/>
          <p:cNvSpPr/>
          <p:nvPr/>
        </p:nvSpPr>
        <p:spPr>
          <a:xfrm>
            <a:off x="912600" y="3080160"/>
            <a:ext cx="508464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chemeClr val="dk1"/>
                </a:solidFill>
                <a:latin typeface="Grandview Display"/>
              </a:rPr>
              <a:t>Field je skrytý, property hlídá platnost hodnoty</a:t>
            </a:r>
            <a:endParaRPr b="0" lang="cs-CZ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TextBox 15"/>
          <p:cNvSpPr/>
          <p:nvPr/>
        </p:nvSpPr>
        <p:spPr>
          <a:xfrm>
            <a:off x="6172200" y="3080160"/>
            <a:ext cx="518292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chemeClr val="dk1"/>
                </a:solidFill>
                <a:latin typeface="Grandview Display"/>
              </a:rPr>
              <a:t>Překladač vytvoří skrytý field automaticky</a:t>
            </a:r>
            <a:endParaRPr b="0" lang="cs-CZ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chemeClr val="dk1"/>
                </a:solidFill>
                <a:latin typeface="Consolas"/>
              </a:rPr>
              <a:t>private set</a:t>
            </a:r>
            <a:r>
              <a:rPr b="0" lang="en-US" sz="1500" spc="-1" strike="noStrike">
                <a:solidFill>
                  <a:schemeClr val="dk1"/>
                </a:solidFill>
                <a:latin typeface="Grandview Display"/>
              </a:rPr>
              <a:t> – zvenku jen pro čtení</a:t>
            </a:r>
            <a:endParaRPr b="0" lang="cs-CZ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Kód"/>
          <p:cNvSpPr/>
          <p:nvPr/>
        </p:nvSpPr>
        <p:spPr>
          <a:xfrm>
            <a:off x="912600" y="3750120"/>
            <a:ext cx="5084640" cy="2399760"/>
          </a:xfrm>
          <a:prstGeom prst="roundRect">
            <a:avLst>
              <a:gd name="adj" fmla="val 4000"/>
            </a:avLst>
          </a:prstGeom>
          <a:solidFill>
            <a:srgbClr val="f4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164520" rIns="164520" tIns="164520" bIns="16452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0000ff"/>
                </a:solidFill>
                <a:latin typeface="Consolas"/>
              </a:rPr>
              <a:t>private</a:t>
            </a: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0000ff"/>
                </a:solidFill>
                <a:latin typeface="Consolas"/>
              </a:rPr>
              <a:t>int</a:t>
            </a: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 vek;</a:t>
            </a:r>
            <a:endParaRPr b="0" lang="cs-CZ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0000ff"/>
                </a:solidFill>
                <a:latin typeface="Consolas"/>
              </a:rPr>
              <a:t>public</a:t>
            </a: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0000ff"/>
                </a:solidFill>
                <a:latin typeface="Consolas"/>
              </a:rPr>
              <a:t>int</a:t>
            </a: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 Vek</a:t>
            </a:r>
            <a:endParaRPr b="0" lang="cs-CZ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{</a:t>
            </a:r>
            <a:endParaRPr b="0" lang="cs-CZ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    </a:t>
            </a:r>
            <a:r>
              <a:rPr b="0" lang="en-US" sz="1250" spc="-1" strike="noStrike">
                <a:solidFill>
                  <a:srgbClr val="0000ff"/>
                </a:solidFill>
                <a:latin typeface="Consolas"/>
              </a:rPr>
              <a:t>get</a:t>
            </a: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 { </a:t>
            </a:r>
            <a:r>
              <a:rPr b="0" lang="en-US" sz="1250" spc="-1" strike="noStrike">
                <a:solidFill>
                  <a:srgbClr val="0000ff"/>
                </a:solidFill>
                <a:latin typeface="Consolas"/>
              </a:rPr>
              <a:t>return</a:t>
            </a: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 vek; }</a:t>
            </a:r>
            <a:endParaRPr b="0" lang="cs-CZ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    </a:t>
            </a:r>
            <a:r>
              <a:rPr b="0" lang="en-US" sz="1250" spc="-1" strike="noStrike">
                <a:solidFill>
                  <a:srgbClr val="0000ff"/>
                </a:solidFill>
                <a:latin typeface="Consolas"/>
              </a:rPr>
              <a:t>set</a:t>
            </a:r>
            <a:endParaRPr b="0" lang="cs-CZ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    </a:t>
            </a: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{</a:t>
            </a:r>
            <a:endParaRPr b="0" lang="cs-CZ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        </a:t>
            </a:r>
            <a:r>
              <a:rPr b="0" lang="en-US" sz="1250" spc="-1" strike="noStrike">
                <a:solidFill>
                  <a:srgbClr val="0000ff"/>
                </a:solidFill>
                <a:latin typeface="Consolas"/>
              </a:rPr>
              <a:t>if</a:t>
            </a: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 (</a:t>
            </a:r>
            <a:r>
              <a:rPr b="0" lang="en-US" sz="1250" spc="-1" strike="noStrike">
                <a:solidFill>
                  <a:srgbClr val="0000ff"/>
                </a:solidFill>
                <a:latin typeface="Consolas"/>
              </a:rPr>
              <a:t>value</a:t>
            </a: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 &lt; 0)</a:t>
            </a:r>
            <a:endParaRPr b="0" lang="cs-CZ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            </a:t>
            </a:r>
            <a:r>
              <a:rPr b="0" lang="en-US" sz="1250" spc="-1" strike="noStrike">
                <a:solidFill>
                  <a:srgbClr val="0000ff"/>
                </a:solidFill>
                <a:latin typeface="Consolas"/>
              </a:rPr>
              <a:t>throw</a:t>
            </a: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0000ff"/>
                </a:solidFill>
                <a:latin typeface="Consolas"/>
              </a:rPr>
              <a:t>new</a:t>
            </a: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2b91af"/>
                </a:solidFill>
                <a:latin typeface="Consolas"/>
              </a:rPr>
              <a:t>ArgumentException</a:t>
            </a: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();</a:t>
            </a:r>
            <a:endParaRPr b="0" lang="cs-CZ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        </a:t>
            </a: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vek = </a:t>
            </a:r>
            <a:r>
              <a:rPr b="0" lang="en-US" sz="1250" spc="-1" strike="noStrike">
                <a:solidFill>
                  <a:srgbClr val="0000ff"/>
                </a:solidFill>
                <a:latin typeface="Consolas"/>
              </a:rPr>
              <a:t>value</a:t>
            </a: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;</a:t>
            </a:r>
            <a:endParaRPr b="0" lang="cs-CZ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    </a:t>
            </a: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}</a:t>
            </a:r>
            <a:endParaRPr b="0" lang="cs-CZ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}</a:t>
            </a:r>
            <a:endParaRPr b="0" lang="cs-CZ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Kód"/>
          <p:cNvSpPr/>
          <p:nvPr/>
        </p:nvSpPr>
        <p:spPr>
          <a:xfrm>
            <a:off x="6172200" y="3750120"/>
            <a:ext cx="5182920" cy="2399760"/>
          </a:xfrm>
          <a:prstGeom prst="roundRect">
            <a:avLst>
              <a:gd name="adj" fmla="val 4000"/>
            </a:avLst>
          </a:prstGeom>
          <a:solidFill>
            <a:srgbClr val="f4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164520" rIns="164520" tIns="164520" bIns="16452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0000ff"/>
                </a:solidFill>
                <a:latin typeface="Consolas"/>
              </a:rPr>
              <a:t>public</a:t>
            </a:r>
            <a:r>
              <a:rPr b="0" lang="en-US" sz="1600" spc="-1" strike="noStrike">
                <a:solidFill>
                  <a:srgbClr val="1e1e1e"/>
                </a:solidFill>
                <a:latin typeface="Consolas"/>
              </a:rPr>
              <a:t> </a:t>
            </a:r>
            <a:r>
              <a:rPr b="0" lang="en-US" sz="1600" spc="-1" strike="noStrike">
                <a:solidFill>
                  <a:srgbClr val="0000ff"/>
                </a:solidFill>
                <a:latin typeface="Consolas"/>
              </a:rPr>
              <a:t>string</a:t>
            </a:r>
            <a:r>
              <a:rPr b="0" lang="en-US" sz="1600" spc="-1" strike="noStrike">
                <a:solidFill>
                  <a:srgbClr val="1e1e1e"/>
                </a:solidFill>
                <a:latin typeface="Consolas"/>
              </a:rPr>
              <a:t> Jmeno { </a:t>
            </a:r>
            <a:r>
              <a:rPr b="0" lang="en-US" sz="1600" spc="-1" strike="noStrike">
                <a:solidFill>
                  <a:srgbClr val="0000ff"/>
                </a:solidFill>
                <a:latin typeface="Consolas"/>
              </a:rPr>
              <a:t>get</a:t>
            </a:r>
            <a:r>
              <a:rPr b="0" lang="en-US" sz="1600" spc="-1" strike="noStrike">
                <a:solidFill>
                  <a:srgbClr val="1e1e1e"/>
                </a:solidFill>
                <a:latin typeface="Consolas"/>
              </a:rPr>
              <a:t>; </a:t>
            </a:r>
            <a:r>
              <a:rPr b="0" lang="en-US" sz="1600" spc="-1" strike="noStrike">
                <a:solidFill>
                  <a:srgbClr val="0000ff"/>
                </a:solidFill>
                <a:latin typeface="Consolas"/>
              </a:rPr>
              <a:t>set</a:t>
            </a:r>
            <a:r>
              <a:rPr b="0" lang="en-US" sz="1600" spc="-1" strike="noStrike">
                <a:solidFill>
                  <a:srgbClr val="1e1e1e"/>
                </a:solidFill>
                <a:latin typeface="Consolas"/>
              </a:rPr>
              <a:t>; }</a:t>
            </a:r>
            <a:endParaRPr b="0" lang="cs-CZ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1e1e1e"/>
                </a:solidFill>
                <a:latin typeface="Consolas"/>
              </a:rPr>
              <a:t> </a:t>
            </a:r>
            <a:endParaRPr b="0" lang="cs-CZ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0000ff"/>
                </a:solidFill>
                <a:latin typeface="Consolas"/>
              </a:rPr>
              <a:t>public</a:t>
            </a:r>
            <a:r>
              <a:rPr b="0" lang="en-US" sz="1600" spc="-1" strike="noStrike">
                <a:solidFill>
                  <a:srgbClr val="1e1e1e"/>
                </a:solidFill>
                <a:latin typeface="Consolas"/>
              </a:rPr>
              <a:t> </a:t>
            </a:r>
            <a:r>
              <a:rPr b="0" lang="en-US" sz="1600" spc="-1" strike="noStrike">
                <a:solidFill>
                  <a:srgbClr val="0000ff"/>
                </a:solidFill>
                <a:latin typeface="Consolas"/>
              </a:rPr>
              <a:t>int</a:t>
            </a:r>
            <a:r>
              <a:rPr b="0" lang="en-US" sz="1600" spc="-1" strike="noStrike">
                <a:solidFill>
                  <a:srgbClr val="1e1e1e"/>
                </a:solidFill>
                <a:latin typeface="Consolas"/>
              </a:rPr>
              <a:t> Body { </a:t>
            </a:r>
            <a:r>
              <a:rPr b="0" lang="en-US" sz="1600" spc="-1" strike="noStrike">
                <a:solidFill>
                  <a:srgbClr val="0000ff"/>
                </a:solidFill>
                <a:latin typeface="Consolas"/>
              </a:rPr>
              <a:t>get</a:t>
            </a:r>
            <a:r>
              <a:rPr b="0" lang="en-US" sz="1600" spc="-1" strike="noStrike">
                <a:solidFill>
                  <a:srgbClr val="1e1e1e"/>
                </a:solidFill>
                <a:latin typeface="Consolas"/>
              </a:rPr>
              <a:t>; </a:t>
            </a:r>
            <a:r>
              <a:rPr b="0" lang="en-US" sz="1600" spc="-1" strike="noStrike">
                <a:solidFill>
                  <a:srgbClr val="0000ff"/>
                </a:solidFill>
                <a:latin typeface="Consolas"/>
              </a:rPr>
              <a:t>private</a:t>
            </a:r>
            <a:r>
              <a:rPr b="0" lang="en-US" sz="1600" spc="-1" strike="noStrike">
                <a:solidFill>
                  <a:srgbClr val="1e1e1e"/>
                </a:solidFill>
                <a:latin typeface="Consolas"/>
              </a:rPr>
              <a:t> </a:t>
            </a:r>
            <a:r>
              <a:rPr b="0" lang="en-US" sz="1600" spc="-1" strike="noStrike">
                <a:solidFill>
                  <a:srgbClr val="0000ff"/>
                </a:solidFill>
                <a:latin typeface="Consolas"/>
              </a:rPr>
              <a:t>set</a:t>
            </a:r>
            <a:r>
              <a:rPr b="0" lang="en-US" sz="1600" spc="-1" strike="noStrike">
                <a:solidFill>
                  <a:srgbClr val="1e1e1e"/>
                </a:solidFill>
                <a:latin typeface="Consolas"/>
              </a:rPr>
              <a:t>; }</a:t>
            </a:r>
            <a:endParaRPr b="0" lang="cs-CZ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1e1e1e"/>
                </a:solidFill>
                <a:latin typeface="Consolas"/>
              </a:rPr>
              <a:t> </a:t>
            </a:r>
            <a:endParaRPr b="0" lang="cs-CZ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0000ff"/>
                </a:solidFill>
                <a:latin typeface="Consolas"/>
              </a:rPr>
              <a:t>public</a:t>
            </a:r>
            <a:r>
              <a:rPr b="0" lang="en-US" sz="1600" spc="-1" strike="noStrike">
                <a:solidFill>
                  <a:srgbClr val="1e1e1e"/>
                </a:solidFill>
                <a:latin typeface="Consolas"/>
              </a:rPr>
              <a:t> </a:t>
            </a:r>
            <a:r>
              <a:rPr b="0" lang="en-US" sz="1600" spc="-1" strike="noStrike">
                <a:solidFill>
                  <a:srgbClr val="0000ff"/>
                </a:solidFill>
                <a:latin typeface="Consolas"/>
              </a:rPr>
              <a:t>bool</a:t>
            </a:r>
            <a:r>
              <a:rPr b="0" lang="en-US" sz="1600" spc="-1" strike="noStrike">
                <a:solidFill>
                  <a:srgbClr val="1e1e1e"/>
                </a:solidFill>
                <a:latin typeface="Consolas"/>
              </a:rPr>
              <a:t> JePlnolety =&gt; Vek &gt;= 18;</a:t>
            </a:r>
            <a:endParaRPr b="0" lang="cs-CZ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914400" y="1371600"/>
            <a:ext cx="10362960" cy="1187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0" lang="en-US" sz="4000" spc="-1" strike="noStrike">
                <a:solidFill>
                  <a:schemeClr val="dk1"/>
                </a:solidFill>
                <a:latin typeface="Grandview Display"/>
              </a:rPr>
              <a:t>Konstruktor</a:t>
            </a:r>
            <a:endParaRPr b="0" lang="en-US" sz="40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/>
          </p:nvPr>
        </p:nvSpPr>
        <p:spPr>
          <a:xfrm>
            <a:off x="914400" y="2649960"/>
            <a:ext cx="4699800" cy="3549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Metoda se </a:t>
            </a:r>
            <a:r>
              <a:rPr b="1" lang="en-US" sz="1600" spc="-1" strike="noStrike">
                <a:solidFill>
                  <a:schemeClr val="dk1"/>
                </a:solidFill>
                <a:latin typeface="Grandview Display"/>
              </a:rPr>
              <a:t>jménem třídy</a:t>
            </a: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, bez návratového typu</a:t>
            </a:r>
            <a:endParaRPr b="0" lang="en-US" sz="1600" spc="-1" strike="noStrike">
              <a:solidFill>
                <a:schemeClr val="dk1"/>
              </a:solidFill>
              <a:latin typeface="Grandview Display"/>
            </a:endParaRPr>
          </a:p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Volá se automaticky při </a:t>
            </a:r>
            <a:r>
              <a:rPr b="0" lang="en-US" sz="1600" spc="-1" strike="noStrike">
                <a:solidFill>
                  <a:schemeClr val="dk1"/>
                </a:solidFill>
                <a:latin typeface="Consolas"/>
              </a:rPr>
              <a:t>new</a:t>
            </a:r>
            <a:endParaRPr b="0" lang="en-US" sz="1600" spc="-1" strike="noStrike">
              <a:solidFill>
                <a:schemeClr val="dk1"/>
              </a:solidFill>
              <a:latin typeface="Grandview Display"/>
            </a:endParaRPr>
          </a:p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Třída může mít </a:t>
            </a:r>
            <a:r>
              <a:rPr b="1" lang="en-US" sz="1600" spc="-1" strike="noStrike">
                <a:solidFill>
                  <a:schemeClr val="dk1"/>
                </a:solidFill>
                <a:latin typeface="Grandview Display"/>
              </a:rPr>
              <a:t>více konstruktorů</a:t>
            </a: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 (přetížení)</a:t>
            </a:r>
            <a:endParaRPr b="0" lang="en-US" sz="1600" spc="-1" strike="noStrike">
              <a:solidFill>
                <a:schemeClr val="dk1"/>
              </a:solidFill>
              <a:latin typeface="Grandview Display"/>
            </a:endParaRPr>
          </a:p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Consolas"/>
              </a:rPr>
              <a:t>: this(...)</a:t>
            </a: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 – volání jiného konstruktoru téže třídy</a:t>
            </a:r>
            <a:endParaRPr b="0" lang="en-US" sz="1600" spc="-1" strike="noStrike">
              <a:solidFill>
                <a:schemeClr val="dk1"/>
              </a:solidFill>
              <a:latin typeface="Grandview Display"/>
            </a:endParaRPr>
          </a:p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Consolas"/>
              </a:rPr>
              <a:t>: base(...)</a:t>
            </a: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 – volání konstruktoru předka</a:t>
            </a:r>
            <a:endParaRPr b="0" lang="en-US" sz="1600" spc="-1" strike="noStrike">
              <a:solidFill>
                <a:schemeClr val="dk1"/>
              </a:solidFill>
              <a:latin typeface="Grandview Display"/>
            </a:endParaRPr>
          </a:p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Konstruktory se </a:t>
            </a:r>
            <a:r>
              <a:rPr b="1" lang="en-US" sz="1600" spc="-1" strike="noStrike">
                <a:solidFill>
                  <a:schemeClr val="dk1"/>
                </a:solidFill>
                <a:latin typeface="Grandview Display"/>
              </a:rPr>
              <a:t>nedědí</a:t>
            </a:r>
            <a:endParaRPr b="0" lang="en-US" sz="16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 type="dt" idx="47"/>
          </p:nvPr>
        </p:nvSpPr>
        <p:spPr>
          <a:xfrm>
            <a:off x="91260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spcAft>
                <a:spcPts val="601"/>
              </a:spcAft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defTabSz="457200">
              <a:lnSpc>
                <a:spcPct val="100000"/>
              </a:lnSpc>
              <a:spcAft>
                <a:spcPts val="601"/>
              </a:spcAft>
              <a:buNone/>
            </a:pPr>
            <a:fld id="{0BFA309B-3C9F-47C3-BB51-EF3B3FBC1293}" type="datetime1"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10/02/2026</a:t>
            </a:fld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7" name="PlaceHolder 4"/>
          <p:cNvSpPr>
            <a:spLocks noGrp="1"/>
          </p:cNvSpPr>
          <p:nvPr>
            <p:ph type="sldNum" idx="48"/>
          </p:nvPr>
        </p:nvSpPr>
        <p:spPr>
          <a:xfrm>
            <a:off x="10807920" y="6356520"/>
            <a:ext cx="722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spcAft>
                <a:spcPts val="601"/>
              </a:spcAft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algn="r" defTabSz="457200">
              <a:lnSpc>
                <a:spcPct val="100000"/>
              </a:lnSpc>
              <a:spcAft>
                <a:spcPts val="601"/>
              </a:spcAft>
              <a:buNone/>
            </a:pPr>
            <a:fld id="{5959389B-F46A-494B-9CA8-D86F3B7D6254}" type="slidenum"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&lt;číslo&gt;</a:t>
            </a:fld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8" name="Kód"/>
          <p:cNvSpPr/>
          <p:nvPr/>
        </p:nvSpPr>
        <p:spPr>
          <a:xfrm>
            <a:off x="5799960" y="2649960"/>
            <a:ext cx="5477400" cy="3549600"/>
          </a:xfrm>
          <a:prstGeom prst="roundRect">
            <a:avLst>
              <a:gd name="adj" fmla="val 4000"/>
            </a:avLst>
          </a:prstGeom>
          <a:solidFill>
            <a:srgbClr val="f4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164520" rIns="164520" tIns="164520" bIns="16452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0000ff"/>
                </a:solidFill>
                <a:latin typeface="Consolas"/>
              </a:rPr>
              <a:t>class</a:t>
            </a:r>
            <a:r>
              <a:rPr b="0" lang="en-US" sz="1400" spc="-1" strike="noStrike">
                <a:solidFill>
                  <a:srgbClr val="1e1e1e"/>
                </a:solidFill>
                <a:latin typeface="Consolas"/>
              </a:rPr>
              <a:t> </a:t>
            </a:r>
            <a:r>
              <a:rPr b="0" lang="en-US" sz="1400" spc="-1" strike="noStrike">
                <a:solidFill>
                  <a:srgbClr val="2b91af"/>
                </a:solidFill>
                <a:latin typeface="Consolas"/>
              </a:rPr>
              <a:t>Hrac</a:t>
            </a:r>
            <a:endParaRPr b="0" lang="cs-CZ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1e1e1e"/>
                </a:solidFill>
                <a:latin typeface="Consolas"/>
              </a:rPr>
              <a:t>{</a:t>
            </a:r>
            <a:endParaRPr b="0" lang="cs-CZ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1e1e1e"/>
                </a:solidFill>
                <a:latin typeface="Consolas"/>
              </a:rPr>
              <a:t>    </a:t>
            </a:r>
            <a:r>
              <a:rPr b="0" lang="en-US" sz="1400" spc="-1" strike="noStrike">
                <a:solidFill>
                  <a:srgbClr val="0000ff"/>
                </a:solidFill>
                <a:latin typeface="Consolas"/>
              </a:rPr>
              <a:t>public</a:t>
            </a:r>
            <a:r>
              <a:rPr b="0" lang="en-US" sz="1400" spc="-1" strike="noStrike">
                <a:solidFill>
                  <a:srgbClr val="1e1e1e"/>
                </a:solidFill>
                <a:latin typeface="Consolas"/>
              </a:rPr>
              <a:t> </a:t>
            </a:r>
            <a:r>
              <a:rPr b="0" lang="en-US" sz="1400" spc="-1" strike="noStrike">
                <a:solidFill>
                  <a:srgbClr val="0000ff"/>
                </a:solidFill>
                <a:latin typeface="Consolas"/>
              </a:rPr>
              <a:t>string</a:t>
            </a:r>
            <a:r>
              <a:rPr b="0" lang="en-US" sz="1400" spc="-1" strike="noStrike">
                <a:solidFill>
                  <a:srgbClr val="1e1e1e"/>
                </a:solidFill>
                <a:latin typeface="Consolas"/>
              </a:rPr>
              <a:t> Jmeno { </a:t>
            </a:r>
            <a:r>
              <a:rPr b="0" lang="en-US" sz="1400" spc="-1" strike="noStrike">
                <a:solidFill>
                  <a:srgbClr val="0000ff"/>
                </a:solidFill>
                <a:latin typeface="Consolas"/>
              </a:rPr>
              <a:t>get</a:t>
            </a:r>
            <a:r>
              <a:rPr b="0" lang="en-US" sz="1400" spc="-1" strike="noStrike">
                <a:solidFill>
                  <a:srgbClr val="1e1e1e"/>
                </a:solidFill>
                <a:latin typeface="Consolas"/>
              </a:rPr>
              <a:t>; }</a:t>
            </a:r>
            <a:endParaRPr b="0" lang="cs-CZ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1e1e1e"/>
                </a:solidFill>
                <a:latin typeface="Consolas"/>
              </a:rPr>
              <a:t>    </a:t>
            </a:r>
            <a:r>
              <a:rPr b="0" lang="en-US" sz="1400" spc="-1" strike="noStrike">
                <a:solidFill>
                  <a:srgbClr val="0000ff"/>
                </a:solidFill>
                <a:latin typeface="Consolas"/>
              </a:rPr>
              <a:t>public</a:t>
            </a:r>
            <a:r>
              <a:rPr b="0" lang="en-US" sz="1400" spc="-1" strike="noStrike">
                <a:solidFill>
                  <a:srgbClr val="1e1e1e"/>
                </a:solidFill>
                <a:latin typeface="Consolas"/>
              </a:rPr>
              <a:t> </a:t>
            </a:r>
            <a:r>
              <a:rPr b="0" lang="en-US" sz="1400" spc="-1" strike="noStrike">
                <a:solidFill>
                  <a:srgbClr val="0000ff"/>
                </a:solidFill>
                <a:latin typeface="Consolas"/>
              </a:rPr>
              <a:t>int</a:t>
            </a:r>
            <a:r>
              <a:rPr b="0" lang="en-US" sz="1400" spc="-1" strike="noStrike">
                <a:solidFill>
                  <a:srgbClr val="1e1e1e"/>
                </a:solidFill>
                <a:latin typeface="Consolas"/>
              </a:rPr>
              <a:t> Zivoty { </a:t>
            </a:r>
            <a:r>
              <a:rPr b="0" lang="en-US" sz="1400" spc="-1" strike="noStrike">
                <a:solidFill>
                  <a:srgbClr val="0000ff"/>
                </a:solidFill>
                <a:latin typeface="Consolas"/>
              </a:rPr>
              <a:t>get</a:t>
            </a:r>
            <a:r>
              <a:rPr b="0" lang="en-US" sz="1400" spc="-1" strike="noStrike">
                <a:solidFill>
                  <a:srgbClr val="1e1e1e"/>
                </a:solidFill>
                <a:latin typeface="Consolas"/>
              </a:rPr>
              <a:t>; </a:t>
            </a:r>
            <a:r>
              <a:rPr b="0" lang="en-US" sz="1400" spc="-1" strike="noStrike">
                <a:solidFill>
                  <a:srgbClr val="0000ff"/>
                </a:solidFill>
                <a:latin typeface="Consolas"/>
              </a:rPr>
              <a:t>private</a:t>
            </a:r>
            <a:r>
              <a:rPr b="0" lang="en-US" sz="1400" spc="-1" strike="noStrike">
                <a:solidFill>
                  <a:srgbClr val="1e1e1e"/>
                </a:solidFill>
                <a:latin typeface="Consolas"/>
              </a:rPr>
              <a:t> </a:t>
            </a:r>
            <a:r>
              <a:rPr b="0" lang="en-US" sz="1400" spc="-1" strike="noStrike">
                <a:solidFill>
                  <a:srgbClr val="0000ff"/>
                </a:solidFill>
                <a:latin typeface="Consolas"/>
              </a:rPr>
              <a:t>set</a:t>
            </a:r>
            <a:r>
              <a:rPr b="0" lang="en-US" sz="1400" spc="-1" strike="noStrike">
                <a:solidFill>
                  <a:srgbClr val="1e1e1e"/>
                </a:solidFill>
                <a:latin typeface="Consolas"/>
              </a:rPr>
              <a:t>; }</a:t>
            </a:r>
            <a:endParaRPr b="0" lang="cs-CZ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1e1e1e"/>
                </a:solidFill>
                <a:latin typeface="Consolas"/>
              </a:rPr>
              <a:t> </a:t>
            </a:r>
            <a:endParaRPr b="0" lang="cs-CZ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1e1e1e"/>
                </a:solidFill>
                <a:latin typeface="Consolas"/>
              </a:rPr>
              <a:t>    </a:t>
            </a:r>
            <a:r>
              <a:rPr b="0" lang="en-US" sz="1400" spc="-1" strike="noStrike">
                <a:solidFill>
                  <a:srgbClr val="0000ff"/>
                </a:solidFill>
                <a:latin typeface="Consolas"/>
              </a:rPr>
              <a:t>public</a:t>
            </a:r>
            <a:r>
              <a:rPr b="0" lang="en-US" sz="1400" spc="-1" strike="noStrike">
                <a:solidFill>
                  <a:srgbClr val="1e1e1e"/>
                </a:solidFill>
                <a:latin typeface="Consolas"/>
              </a:rPr>
              <a:t> </a:t>
            </a:r>
            <a:r>
              <a:rPr b="0" lang="en-US" sz="1400" spc="-1" strike="noStrike">
                <a:solidFill>
                  <a:srgbClr val="2b91af"/>
                </a:solidFill>
                <a:latin typeface="Consolas"/>
              </a:rPr>
              <a:t>Hrac</a:t>
            </a:r>
            <a:r>
              <a:rPr b="0" lang="en-US" sz="1400" spc="-1" strike="noStrike">
                <a:solidFill>
                  <a:srgbClr val="1e1e1e"/>
                </a:solidFill>
                <a:latin typeface="Consolas"/>
              </a:rPr>
              <a:t>(</a:t>
            </a:r>
            <a:r>
              <a:rPr b="0" lang="en-US" sz="1400" spc="-1" strike="noStrike">
                <a:solidFill>
                  <a:srgbClr val="0000ff"/>
                </a:solidFill>
                <a:latin typeface="Consolas"/>
              </a:rPr>
              <a:t>string</a:t>
            </a:r>
            <a:r>
              <a:rPr b="0" lang="en-US" sz="1400" spc="-1" strike="noStrike">
                <a:solidFill>
                  <a:srgbClr val="1e1e1e"/>
                </a:solidFill>
                <a:latin typeface="Consolas"/>
              </a:rPr>
              <a:t> jmeno, </a:t>
            </a:r>
            <a:r>
              <a:rPr b="0" lang="en-US" sz="1400" spc="-1" strike="noStrike">
                <a:solidFill>
                  <a:srgbClr val="0000ff"/>
                </a:solidFill>
                <a:latin typeface="Consolas"/>
              </a:rPr>
              <a:t>int</a:t>
            </a:r>
            <a:r>
              <a:rPr b="0" lang="en-US" sz="1400" spc="-1" strike="noStrike">
                <a:solidFill>
                  <a:srgbClr val="1e1e1e"/>
                </a:solidFill>
                <a:latin typeface="Consolas"/>
              </a:rPr>
              <a:t> zivoty)</a:t>
            </a:r>
            <a:endParaRPr b="0" lang="cs-CZ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1e1e1e"/>
                </a:solidFill>
                <a:latin typeface="Consolas"/>
              </a:rPr>
              <a:t>    </a:t>
            </a:r>
            <a:r>
              <a:rPr b="0" lang="en-US" sz="1400" spc="-1" strike="noStrike">
                <a:solidFill>
                  <a:srgbClr val="1e1e1e"/>
                </a:solidFill>
                <a:latin typeface="Consolas"/>
              </a:rPr>
              <a:t>{</a:t>
            </a:r>
            <a:endParaRPr b="0" lang="cs-CZ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1e1e1e"/>
                </a:solidFill>
                <a:latin typeface="Consolas"/>
              </a:rPr>
              <a:t>        </a:t>
            </a:r>
            <a:r>
              <a:rPr b="0" lang="en-US" sz="1400" spc="-1" strike="noStrike">
                <a:solidFill>
                  <a:srgbClr val="1e1e1e"/>
                </a:solidFill>
                <a:latin typeface="Consolas"/>
              </a:rPr>
              <a:t>Jmeno = jmeno;</a:t>
            </a:r>
            <a:endParaRPr b="0" lang="cs-CZ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1e1e1e"/>
                </a:solidFill>
                <a:latin typeface="Consolas"/>
              </a:rPr>
              <a:t>        </a:t>
            </a:r>
            <a:r>
              <a:rPr b="0" lang="en-US" sz="1400" spc="-1" strike="noStrike">
                <a:solidFill>
                  <a:srgbClr val="1e1e1e"/>
                </a:solidFill>
                <a:latin typeface="Consolas"/>
              </a:rPr>
              <a:t>Zivoty = zivoty;</a:t>
            </a:r>
            <a:endParaRPr b="0" lang="cs-CZ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1e1e1e"/>
                </a:solidFill>
                <a:latin typeface="Consolas"/>
              </a:rPr>
              <a:t>    </a:t>
            </a:r>
            <a:r>
              <a:rPr b="0" lang="en-US" sz="1400" spc="-1" strike="noStrike">
                <a:solidFill>
                  <a:srgbClr val="1e1e1e"/>
                </a:solidFill>
                <a:latin typeface="Consolas"/>
              </a:rPr>
              <a:t>}</a:t>
            </a:r>
            <a:endParaRPr b="0" lang="cs-CZ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1e1e1e"/>
                </a:solidFill>
                <a:latin typeface="Consolas"/>
              </a:rPr>
              <a:t> </a:t>
            </a:r>
            <a:endParaRPr b="0" lang="cs-CZ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1e1e1e"/>
                </a:solidFill>
                <a:latin typeface="Consolas"/>
              </a:rPr>
              <a:t>    </a:t>
            </a:r>
            <a:r>
              <a:rPr b="0" lang="en-US" sz="1400" spc="-1" strike="noStrike">
                <a:solidFill>
                  <a:srgbClr val="0000ff"/>
                </a:solidFill>
                <a:latin typeface="Consolas"/>
              </a:rPr>
              <a:t>public</a:t>
            </a:r>
            <a:r>
              <a:rPr b="0" lang="en-US" sz="1400" spc="-1" strike="noStrike">
                <a:solidFill>
                  <a:srgbClr val="1e1e1e"/>
                </a:solidFill>
                <a:latin typeface="Consolas"/>
              </a:rPr>
              <a:t> </a:t>
            </a:r>
            <a:r>
              <a:rPr b="0" lang="en-US" sz="1400" spc="-1" strike="noStrike">
                <a:solidFill>
                  <a:srgbClr val="2b91af"/>
                </a:solidFill>
                <a:latin typeface="Consolas"/>
              </a:rPr>
              <a:t>Hrac</a:t>
            </a:r>
            <a:r>
              <a:rPr b="0" lang="en-US" sz="1400" spc="-1" strike="noStrike">
                <a:solidFill>
                  <a:srgbClr val="1e1e1e"/>
                </a:solidFill>
                <a:latin typeface="Consolas"/>
              </a:rPr>
              <a:t>(</a:t>
            </a:r>
            <a:r>
              <a:rPr b="0" lang="en-US" sz="1400" spc="-1" strike="noStrike">
                <a:solidFill>
                  <a:srgbClr val="0000ff"/>
                </a:solidFill>
                <a:latin typeface="Consolas"/>
              </a:rPr>
              <a:t>string</a:t>
            </a:r>
            <a:r>
              <a:rPr b="0" lang="en-US" sz="1400" spc="-1" strike="noStrike">
                <a:solidFill>
                  <a:srgbClr val="1e1e1e"/>
                </a:solidFill>
                <a:latin typeface="Consolas"/>
              </a:rPr>
              <a:t> jmeno) : </a:t>
            </a:r>
            <a:r>
              <a:rPr b="0" lang="en-US" sz="1400" spc="-1" strike="noStrike">
                <a:solidFill>
                  <a:srgbClr val="0000ff"/>
                </a:solidFill>
                <a:latin typeface="Consolas"/>
              </a:rPr>
              <a:t>this</a:t>
            </a:r>
            <a:r>
              <a:rPr b="0" lang="en-US" sz="1400" spc="-1" strike="noStrike">
                <a:solidFill>
                  <a:srgbClr val="1e1e1e"/>
                </a:solidFill>
                <a:latin typeface="Consolas"/>
              </a:rPr>
              <a:t>(jmeno, 100)</a:t>
            </a:r>
            <a:endParaRPr b="0" lang="cs-CZ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1e1e1e"/>
                </a:solidFill>
                <a:latin typeface="Consolas"/>
              </a:rPr>
              <a:t>    </a:t>
            </a:r>
            <a:r>
              <a:rPr b="0" lang="en-US" sz="1400" spc="-1" strike="noStrike">
                <a:solidFill>
                  <a:srgbClr val="1e1e1e"/>
                </a:solidFill>
                <a:latin typeface="Consolas"/>
              </a:rPr>
              <a:t>{</a:t>
            </a:r>
            <a:endParaRPr b="0" lang="cs-CZ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1e1e1e"/>
                </a:solidFill>
                <a:latin typeface="Consolas"/>
              </a:rPr>
              <a:t>    </a:t>
            </a:r>
            <a:r>
              <a:rPr b="0" lang="en-US" sz="1400" spc="-1" strike="noStrike">
                <a:solidFill>
                  <a:srgbClr val="1e1e1e"/>
                </a:solidFill>
                <a:latin typeface="Consolas"/>
              </a:rPr>
              <a:t>}</a:t>
            </a:r>
            <a:endParaRPr b="0" lang="cs-CZ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1e1e1e"/>
                </a:solidFill>
                <a:latin typeface="Consolas"/>
              </a:rPr>
              <a:t>}</a:t>
            </a:r>
            <a:endParaRPr b="0" lang="cs-CZ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914400" y="1371600"/>
            <a:ext cx="10362960" cy="1187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0" lang="en-US" sz="4000" spc="-1" strike="noStrike">
                <a:solidFill>
                  <a:schemeClr val="dk1"/>
                </a:solidFill>
                <a:latin typeface="Grandview Display"/>
              </a:rPr>
              <a:t>Pilíře OOP</a:t>
            </a:r>
            <a:endParaRPr b="0" lang="en-US" sz="40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 type="dt" idx="49"/>
          </p:nvPr>
        </p:nvSpPr>
        <p:spPr>
          <a:xfrm>
            <a:off x="91260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spcAft>
                <a:spcPts val="601"/>
              </a:spcAft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defTabSz="457200">
              <a:lnSpc>
                <a:spcPct val="100000"/>
              </a:lnSpc>
              <a:spcAft>
                <a:spcPts val="601"/>
              </a:spcAft>
              <a:buNone/>
            </a:pPr>
            <a:fld id="{44AAA5AB-B866-445D-A851-3AAF043C52C1}" type="datetime1"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10/02/2026</a:t>
            </a:fld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1" name="PlaceHolder 3"/>
          <p:cNvSpPr>
            <a:spLocks noGrp="1"/>
          </p:cNvSpPr>
          <p:nvPr>
            <p:ph type="sldNum" idx="50"/>
          </p:nvPr>
        </p:nvSpPr>
        <p:spPr>
          <a:xfrm>
            <a:off x="10807920" y="6356520"/>
            <a:ext cx="722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spcAft>
                <a:spcPts val="601"/>
              </a:spcAft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algn="r" defTabSz="457200">
              <a:lnSpc>
                <a:spcPct val="100000"/>
              </a:lnSpc>
              <a:spcAft>
                <a:spcPts val="601"/>
              </a:spcAft>
              <a:buNone/>
            </a:pPr>
            <a:fld id="{39CF1B85-C7DB-43B3-82BA-E8AAEC8452E9}" type="slidenum"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&lt;číslo&gt;</a:t>
            </a:fld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2" name="Rounded Rectangle 14"/>
          <p:cNvSpPr/>
          <p:nvPr/>
        </p:nvSpPr>
        <p:spPr>
          <a:xfrm>
            <a:off x="914400" y="2599920"/>
            <a:ext cx="2479680" cy="3299760"/>
          </a:xfrm>
          <a:prstGeom prst="roundRect">
            <a:avLst>
              <a:gd name="adj" fmla="val 6000"/>
            </a:avLst>
          </a:prstGeom>
          <a:solidFill>
            <a:srgbClr val="197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182880" tIns="182880" bIns="18288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900" spc="-1" strike="noStrike">
                <a:solidFill>
                  <a:srgbClr val="ffffff"/>
                </a:solidFill>
                <a:latin typeface="Grandview Display"/>
              </a:rPr>
              <a:t>Abstrakce</a:t>
            </a:r>
            <a:endParaRPr b="0" lang="cs-CZ" sz="19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b="0" lang="en-US" sz="1600" spc="-1" strike="noStrike">
                <a:solidFill>
                  <a:srgbClr val="ffffff"/>
                </a:solidFill>
                <a:latin typeface="Grandview Display"/>
              </a:rPr>
              <a:t>Soustředíme se na to, </a:t>
            </a:r>
            <a:r>
              <a:rPr b="1" lang="en-US" sz="1600" spc="-1" strike="noStrike">
                <a:solidFill>
                  <a:srgbClr val="ffffff"/>
                </a:solidFill>
                <a:latin typeface="Grandview Display"/>
              </a:rPr>
              <a:t>co</a:t>
            </a:r>
            <a:r>
              <a:rPr b="0" lang="en-US" sz="1600" spc="-1" strike="noStrike">
                <a:solidFill>
                  <a:srgbClr val="ffffff"/>
                </a:solidFill>
                <a:latin typeface="Grandview Display"/>
              </a:rPr>
              <a:t> objekt představuje.</a:t>
            </a:r>
            <a:endParaRPr b="0" lang="cs-CZ" sz="16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endParaRPr b="0" lang="cs-CZ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b="0" lang="en-US" sz="1600" spc="-1" strike="noStrike">
                <a:solidFill>
                  <a:srgbClr val="ffffff"/>
                </a:solidFill>
                <a:latin typeface="Grandview Display"/>
              </a:rPr>
              <a:t>Nepodstatné detaily vynecháme.</a:t>
            </a:r>
            <a:endParaRPr b="0" lang="cs-CZ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3" name="Rounded Rectangle 15"/>
          <p:cNvSpPr/>
          <p:nvPr/>
        </p:nvSpPr>
        <p:spPr>
          <a:xfrm>
            <a:off x="3541320" y="2599920"/>
            <a:ext cx="2479680" cy="3299760"/>
          </a:xfrm>
          <a:prstGeom prst="roundRect">
            <a:avLst>
              <a:gd name="adj" fmla="val 6000"/>
            </a:avLst>
          </a:prstGeom>
          <a:solidFill>
            <a:srgbClr val="25c8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182880" tIns="182880" bIns="18288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900" spc="-1" strike="noStrike">
                <a:solidFill>
                  <a:srgbClr val="ffffff"/>
                </a:solidFill>
                <a:latin typeface="Grandview Display"/>
              </a:rPr>
              <a:t>Zapouzdření</a:t>
            </a:r>
            <a:endParaRPr b="0" lang="cs-CZ" sz="19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b="0" lang="en-US" sz="1600" spc="-1" strike="noStrike">
                <a:solidFill>
                  <a:srgbClr val="ffffff"/>
                </a:solidFill>
                <a:latin typeface="Grandview Display"/>
              </a:rPr>
              <a:t>Data jsou skrytá uvnitř objektu.</a:t>
            </a:r>
            <a:endParaRPr b="0" lang="cs-CZ" sz="16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endParaRPr b="0" lang="cs-CZ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b="0" lang="en-US" sz="1600" spc="-1" strike="noStrike">
                <a:solidFill>
                  <a:srgbClr val="ffffff"/>
                </a:solidFill>
                <a:latin typeface="Grandview Display"/>
              </a:rPr>
              <a:t>Navenek jen to, co je potřeba.</a:t>
            </a:r>
            <a:endParaRPr b="0" lang="cs-CZ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" name="Rounded Rectangle 16"/>
          <p:cNvSpPr/>
          <p:nvPr/>
        </p:nvSpPr>
        <p:spPr>
          <a:xfrm>
            <a:off x="6168240" y="2599920"/>
            <a:ext cx="2479680" cy="3299760"/>
          </a:xfrm>
          <a:prstGeom prst="roundRect">
            <a:avLst>
              <a:gd name="adj" fmla="val 6000"/>
            </a:avLst>
          </a:prstGeom>
          <a:solidFill>
            <a:srgbClr val="bf8e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182880" tIns="182880" bIns="18288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900" spc="-1" strike="noStrike">
                <a:solidFill>
                  <a:srgbClr val="ffffff"/>
                </a:solidFill>
                <a:latin typeface="Grandview Display"/>
              </a:rPr>
              <a:t>Dědičnost</a:t>
            </a:r>
            <a:endParaRPr b="0" lang="cs-CZ" sz="1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b="0" lang="en-US" sz="1600" spc="-1" strike="noStrike">
                <a:solidFill>
                  <a:srgbClr val="ffffff"/>
                </a:solidFill>
                <a:latin typeface="Grandview Display"/>
              </a:rPr>
              <a:t>Odvozená třída přebírá atributy a metody předka.</a:t>
            </a:r>
            <a:endParaRPr b="0" lang="cs-CZ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endParaRPr b="0" lang="cs-CZ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b="0" lang="en-US" sz="1600" spc="-1" strike="noStrike">
                <a:solidFill>
                  <a:srgbClr val="ffffff"/>
                </a:solidFill>
                <a:latin typeface="Grandview Display"/>
              </a:rPr>
              <a:t>Vztah „je“ (is-a).</a:t>
            </a:r>
            <a:endParaRPr b="0" lang="cs-CZ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Rounded Rectangle 17"/>
          <p:cNvSpPr/>
          <p:nvPr/>
        </p:nvSpPr>
        <p:spPr>
          <a:xfrm>
            <a:off x="8795520" y="2599920"/>
            <a:ext cx="2479680" cy="3299760"/>
          </a:xfrm>
          <a:prstGeom prst="roundRect">
            <a:avLst>
              <a:gd name="adj" fmla="val 6000"/>
            </a:avLst>
          </a:prstGeom>
          <a:solidFill>
            <a:srgbClr val="fe7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182880" tIns="182880" bIns="18288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900" spc="-1" strike="noStrike">
                <a:solidFill>
                  <a:srgbClr val="ffffff"/>
                </a:solidFill>
                <a:latin typeface="Grandview Display"/>
              </a:rPr>
              <a:t>Polymorfismus</a:t>
            </a:r>
            <a:endParaRPr b="0" lang="cs-CZ" sz="19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b="0" lang="en-US" sz="1600" spc="-1" strike="noStrike">
                <a:solidFill>
                  <a:srgbClr val="ffffff"/>
                </a:solidFill>
                <a:latin typeface="Grandview Display"/>
              </a:rPr>
              <a:t>Stejná zpráva, jiné chování podle typu objektu.</a:t>
            </a:r>
            <a:endParaRPr b="0" lang="cs-CZ" sz="16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endParaRPr b="0" lang="cs-CZ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b="0" lang="en-US" sz="1600" spc="-1" strike="noStrike">
                <a:solidFill>
                  <a:srgbClr val="ffffff"/>
                </a:solidFill>
                <a:latin typeface="Grandview Display"/>
              </a:rPr>
              <a:t>virtual / override</a:t>
            </a:r>
            <a:endParaRPr b="0" lang="cs-CZ" sz="16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914400" y="1371600"/>
            <a:ext cx="10362960" cy="1187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0" lang="en-US" sz="4000" spc="-1" strike="noStrike">
                <a:solidFill>
                  <a:schemeClr val="dk1"/>
                </a:solidFill>
                <a:latin typeface="Grandview Display"/>
              </a:rPr>
              <a:t>Zapouzdření</a:t>
            </a:r>
            <a:endParaRPr b="0" lang="en-US" sz="40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/>
          </p:nvPr>
        </p:nvSpPr>
        <p:spPr>
          <a:xfrm>
            <a:off x="914400" y="2649960"/>
            <a:ext cx="4699800" cy="3549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Třída jako </a:t>
            </a:r>
            <a:r>
              <a:rPr b="1" lang="en-US" sz="1600" spc="-1" strike="noStrike">
                <a:solidFill>
                  <a:schemeClr val="dk1"/>
                </a:solidFill>
                <a:latin typeface="Grandview Display"/>
              </a:rPr>
              <a:t>černá skříňka</a:t>
            </a: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 – známe vstupy a výstupy</a:t>
            </a:r>
            <a:endParaRPr b="0" lang="en-US" sz="1600" spc="-1" strike="noStrike">
              <a:solidFill>
                <a:schemeClr val="dk1"/>
              </a:solidFill>
              <a:latin typeface="Grandview Display"/>
            </a:endParaRPr>
          </a:p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Chráníme objekt před </a:t>
            </a:r>
            <a:r>
              <a:rPr b="1" lang="en-US" sz="1600" spc="-1" strike="noStrike">
                <a:solidFill>
                  <a:schemeClr val="dk1"/>
                </a:solidFill>
                <a:latin typeface="Grandview Display"/>
              </a:rPr>
              <a:t>nesmyslným stavem</a:t>
            </a:r>
            <a:endParaRPr b="0" lang="en-US" sz="1600" spc="-1" strike="noStrike">
              <a:solidFill>
                <a:schemeClr val="dk1"/>
              </a:solidFill>
              <a:latin typeface="Grandview Display"/>
            </a:endParaRPr>
          </a:p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Implementaci lze měnit bez rozbití okolního kódu</a:t>
            </a:r>
            <a:endParaRPr b="0" lang="en-US" sz="1600" spc="-1" strike="noStrike">
              <a:solidFill>
                <a:schemeClr val="dk1"/>
              </a:solidFill>
              <a:latin typeface="Grandview Display"/>
            </a:endParaRPr>
          </a:p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Modifikátory přístupu:</a:t>
            </a:r>
            <a:endParaRPr b="0" lang="en-US" sz="1600" spc="-1" strike="noStrike">
              <a:solidFill>
                <a:schemeClr val="dk1"/>
              </a:solidFill>
              <a:latin typeface="Grandview Display"/>
            </a:endParaRPr>
          </a:p>
          <a:p>
            <a:pPr lvl="1" marL="49392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1" lang="en-US" sz="1500" spc="-1" strike="noStrike">
                <a:solidFill>
                  <a:schemeClr val="dk1"/>
                </a:solidFill>
                <a:latin typeface="Grandview Display"/>
              </a:rPr>
              <a:t>public</a:t>
            </a:r>
            <a:r>
              <a:rPr b="0" lang="en-US" sz="1500" spc="-1" strike="noStrike">
                <a:solidFill>
                  <a:schemeClr val="dk1"/>
                </a:solidFill>
                <a:latin typeface="Grandview Display"/>
              </a:rPr>
              <a:t> – přístupné odkudkoliv</a:t>
            </a:r>
            <a:endParaRPr b="0" lang="en-US" sz="1500" spc="-1" strike="noStrike">
              <a:solidFill>
                <a:schemeClr val="dk1"/>
              </a:solidFill>
              <a:latin typeface="Grandview Display"/>
            </a:endParaRPr>
          </a:p>
          <a:p>
            <a:pPr lvl="1" marL="49392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1" lang="en-US" sz="1500" spc="-1" strike="noStrike">
                <a:solidFill>
                  <a:schemeClr val="dk1"/>
                </a:solidFill>
                <a:latin typeface="Grandview Display"/>
              </a:rPr>
              <a:t>private</a:t>
            </a:r>
            <a:r>
              <a:rPr b="0" lang="en-US" sz="1500" spc="-1" strike="noStrike">
                <a:solidFill>
                  <a:schemeClr val="dk1"/>
                </a:solidFill>
                <a:latin typeface="Grandview Display"/>
              </a:rPr>
              <a:t> – jen uvnitř třídy</a:t>
            </a:r>
            <a:endParaRPr b="0" lang="en-US" sz="1500" spc="-1" strike="noStrike">
              <a:solidFill>
                <a:schemeClr val="dk1"/>
              </a:solidFill>
              <a:latin typeface="Grandview Display"/>
            </a:endParaRPr>
          </a:p>
          <a:p>
            <a:pPr lvl="1" marL="49392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1" lang="en-US" sz="1500" spc="-1" strike="noStrike">
                <a:solidFill>
                  <a:schemeClr val="dk1"/>
                </a:solidFill>
                <a:latin typeface="Grandview Display"/>
              </a:rPr>
              <a:t>protected</a:t>
            </a:r>
            <a:r>
              <a:rPr b="0" lang="en-US" sz="1500" spc="-1" strike="noStrike">
                <a:solidFill>
                  <a:schemeClr val="dk1"/>
                </a:solidFill>
                <a:latin typeface="Grandview Display"/>
              </a:rPr>
              <a:t> – třída a její potomci</a:t>
            </a:r>
            <a:endParaRPr b="0" lang="en-US" sz="1500" spc="-1" strike="noStrike">
              <a:solidFill>
                <a:schemeClr val="dk1"/>
              </a:solidFill>
              <a:latin typeface="Grandview Display"/>
            </a:endParaRPr>
          </a:p>
          <a:p>
            <a:pPr lvl="1" marL="49392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1" lang="en-US" sz="1500" spc="-1" strike="noStrike">
                <a:solidFill>
                  <a:schemeClr val="dk1"/>
                </a:solidFill>
                <a:latin typeface="Grandview Display"/>
              </a:rPr>
              <a:t>internal</a:t>
            </a:r>
            <a:r>
              <a:rPr b="0" lang="en-US" sz="1500" spc="-1" strike="noStrike">
                <a:solidFill>
                  <a:schemeClr val="dk1"/>
                </a:solidFill>
                <a:latin typeface="Grandview Display"/>
              </a:rPr>
              <a:t> – v rámci projektu</a:t>
            </a:r>
            <a:endParaRPr b="0" lang="en-US" sz="15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128" name="PlaceHolder 3"/>
          <p:cNvSpPr>
            <a:spLocks noGrp="1"/>
          </p:cNvSpPr>
          <p:nvPr>
            <p:ph type="dt" idx="51"/>
          </p:nvPr>
        </p:nvSpPr>
        <p:spPr>
          <a:xfrm>
            <a:off x="91260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spcAft>
                <a:spcPts val="601"/>
              </a:spcAft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defTabSz="457200">
              <a:lnSpc>
                <a:spcPct val="100000"/>
              </a:lnSpc>
              <a:spcAft>
                <a:spcPts val="601"/>
              </a:spcAft>
              <a:buNone/>
            </a:pPr>
            <a:fld id="{5192B0C0-67CF-4E63-87B8-C5BF7A188FC9}" type="datetime1"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10/02/2026</a:t>
            </a:fld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9" name="PlaceHolder 4"/>
          <p:cNvSpPr>
            <a:spLocks noGrp="1"/>
          </p:cNvSpPr>
          <p:nvPr>
            <p:ph type="sldNum" idx="52"/>
          </p:nvPr>
        </p:nvSpPr>
        <p:spPr>
          <a:xfrm>
            <a:off x="10807920" y="6356520"/>
            <a:ext cx="722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spcAft>
                <a:spcPts val="601"/>
              </a:spcAft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algn="r" defTabSz="457200">
              <a:lnSpc>
                <a:spcPct val="100000"/>
              </a:lnSpc>
              <a:spcAft>
                <a:spcPts val="601"/>
              </a:spcAft>
              <a:buNone/>
            </a:pPr>
            <a:fld id="{8544BB79-DAD6-4636-B72F-84981D30AB3F}" type="slidenum"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&lt;číslo&gt;</a:t>
            </a:fld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0" name="Kód"/>
          <p:cNvSpPr/>
          <p:nvPr/>
        </p:nvSpPr>
        <p:spPr>
          <a:xfrm>
            <a:off x="5799960" y="2649960"/>
            <a:ext cx="5477400" cy="3549600"/>
          </a:xfrm>
          <a:prstGeom prst="roundRect">
            <a:avLst>
              <a:gd name="adj" fmla="val 4000"/>
            </a:avLst>
          </a:prstGeom>
          <a:solidFill>
            <a:srgbClr val="f4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164520" rIns="164520" tIns="164520" bIns="16452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350" spc="-1" strike="noStrike">
                <a:solidFill>
                  <a:srgbClr val="0000ff"/>
                </a:solidFill>
                <a:latin typeface="Consolas"/>
              </a:rPr>
              <a:t>class</a:t>
            </a:r>
            <a:r>
              <a:rPr b="0" lang="en-US" sz="1350" spc="-1" strike="noStrike">
                <a:solidFill>
                  <a:srgbClr val="1e1e1e"/>
                </a:solidFill>
                <a:latin typeface="Consolas"/>
              </a:rPr>
              <a:t> </a:t>
            </a:r>
            <a:r>
              <a:rPr b="0" lang="en-US" sz="1350" spc="-1" strike="noStrike">
                <a:solidFill>
                  <a:srgbClr val="2b91af"/>
                </a:solidFill>
                <a:latin typeface="Consolas"/>
              </a:rPr>
              <a:t>Ucet</a:t>
            </a:r>
            <a:endParaRPr b="0" lang="cs-CZ" sz="13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50" spc="-1" strike="noStrike">
                <a:solidFill>
                  <a:srgbClr val="1e1e1e"/>
                </a:solidFill>
                <a:latin typeface="Consolas"/>
              </a:rPr>
              <a:t>{</a:t>
            </a:r>
            <a:endParaRPr b="0" lang="cs-CZ" sz="13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50" spc="-1" strike="noStrike">
                <a:solidFill>
                  <a:srgbClr val="1e1e1e"/>
                </a:solidFill>
                <a:latin typeface="Consolas"/>
              </a:rPr>
              <a:t>    </a:t>
            </a:r>
            <a:r>
              <a:rPr b="0" lang="en-US" sz="1350" spc="-1" strike="noStrike">
                <a:solidFill>
                  <a:srgbClr val="0000ff"/>
                </a:solidFill>
                <a:latin typeface="Consolas"/>
              </a:rPr>
              <a:t>private</a:t>
            </a:r>
            <a:r>
              <a:rPr b="0" lang="en-US" sz="1350" spc="-1" strike="noStrike">
                <a:solidFill>
                  <a:srgbClr val="1e1e1e"/>
                </a:solidFill>
                <a:latin typeface="Consolas"/>
              </a:rPr>
              <a:t> </a:t>
            </a:r>
            <a:r>
              <a:rPr b="0" lang="en-US" sz="1350" spc="-1" strike="noStrike">
                <a:solidFill>
                  <a:srgbClr val="0000ff"/>
                </a:solidFill>
                <a:latin typeface="Consolas"/>
              </a:rPr>
              <a:t>double</a:t>
            </a:r>
            <a:r>
              <a:rPr b="0" lang="en-US" sz="1350" spc="-1" strike="noStrike">
                <a:solidFill>
                  <a:srgbClr val="1e1e1e"/>
                </a:solidFill>
                <a:latin typeface="Consolas"/>
              </a:rPr>
              <a:t> zustatek;</a:t>
            </a:r>
            <a:endParaRPr b="0" lang="cs-CZ" sz="13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50" spc="-1" strike="noStrike">
                <a:solidFill>
                  <a:srgbClr val="1e1e1e"/>
                </a:solidFill>
                <a:latin typeface="Consolas"/>
              </a:rPr>
              <a:t> </a:t>
            </a:r>
            <a:endParaRPr b="0" lang="cs-CZ" sz="13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50" spc="-1" strike="noStrike">
                <a:solidFill>
                  <a:srgbClr val="1e1e1e"/>
                </a:solidFill>
                <a:latin typeface="Consolas"/>
              </a:rPr>
              <a:t>    </a:t>
            </a:r>
            <a:r>
              <a:rPr b="0" lang="en-US" sz="1350" spc="-1" strike="noStrike">
                <a:solidFill>
                  <a:srgbClr val="0000ff"/>
                </a:solidFill>
                <a:latin typeface="Consolas"/>
              </a:rPr>
              <a:t>public</a:t>
            </a:r>
            <a:r>
              <a:rPr b="0" lang="en-US" sz="1350" spc="-1" strike="noStrike">
                <a:solidFill>
                  <a:srgbClr val="1e1e1e"/>
                </a:solidFill>
                <a:latin typeface="Consolas"/>
              </a:rPr>
              <a:t> </a:t>
            </a:r>
            <a:r>
              <a:rPr b="0" lang="en-US" sz="1350" spc="-1" strike="noStrike">
                <a:solidFill>
                  <a:srgbClr val="0000ff"/>
                </a:solidFill>
                <a:latin typeface="Consolas"/>
              </a:rPr>
              <a:t>double</a:t>
            </a:r>
            <a:r>
              <a:rPr b="0" lang="en-US" sz="1350" spc="-1" strike="noStrike">
                <a:solidFill>
                  <a:srgbClr val="1e1e1e"/>
                </a:solidFill>
                <a:latin typeface="Consolas"/>
              </a:rPr>
              <a:t> Zustatek =&gt; zustatek;</a:t>
            </a:r>
            <a:endParaRPr b="0" lang="cs-CZ" sz="13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50" spc="-1" strike="noStrike">
                <a:solidFill>
                  <a:srgbClr val="1e1e1e"/>
                </a:solidFill>
                <a:latin typeface="Consolas"/>
              </a:rPr>
              <a:t> </a:t>
            </a:r>
            <a:endParaRPr b="0" lang="cs-CZ" sz="13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50" spc="-1" strike="noStrike">
                <a:solidFill>
                  <a:srgbClr val="1e1e1e"/>
                </a:solidFill>
                <a:latin typeface="Consolas"/>
              </a:rPr>
              <a:t>    </a:t>
            </a:r>
            <a:r>
              <a:rPr b="0" lang="en-US" sz="1350" spc="-1" strike="noStrike">
                <a:solidFill>
                  <a:srgbClr val="0000ff"/>
                </a:solidFill>
                <a:latin typeface="Consolas"/>
              </a:rPr>
              <a:t>public</a:t>
            </a:r>
            <a:r>
              <a:rPr b="0" lang="en-US" sz="1350" spc="-1" strike="noStrike">
                <a:solidFill>
                  <a:srgbClr val="1e1e1e"/>
                </a:solidFill>
                <a:latin typeface="Consolas"/>
              </a:rPr>
              <a:t> </a:t>
            </a:r>
            <a:r>
              <a:rPr b="0" lang="en-US" sz="1350" spc="-1" strike="noStrike">
                <a:solidFill>
                  <a:srgbClr val="0000ff"/>
                </a:solidFill>
                <a:latin typeface="Consolas"/>
              </a:rPr>
              <a:t>bool</a:t>
            </a:r>
            <a:r>
              <a:rPr b="0" lang="en-US" sz="1350" spc="-1" strike="noStrike">
                <a:solidFill>
                  <a:srgbClr val="1e1e1e"/>
                </a:solidFill>
                <a:latin typeface="Consolas"/>
              </a:rPr>
              <a:t> </a:t>
            </a:r>
            <a:r>
              <a:rPr b="0" lang="en-US" sz="1350" spc="-1" strike="noStrike">
                <a:solidFill>
                  <a:srgbClr val="74531f"/>
                </a:solidFill>
                <a:latin typeface="Consolas"/>
              </a:rPr>
              <a:t>Vyber</a:t>
            </a:r>
            <a:r>
              <a:rPr b="0" lang="en-US" sz="1350" spc="-1" strike="noStrike">
                <a:solidFill>
                  <a:srgbClr val="1e1e1e"/>
                </a:solidFill>
                <a:latin typeface="Consolas"/>
              </a:rPr>
              <a:t>(</a:t>
            </a:r>
            <a:r>
              <a:rPr b="0" lang="en-US" sz="1350" spc="-1" strike="noStrike">
                <a:solidFill>
                  <a:srgbClr val="0000ff"/>
                </a:solidFill>
                <a:latin typeface="Consolas"/>
              </a:rPr>
              <a:t>double</a:t>
            </a:r>
            <a:r>
              <a:rPr b="0" lang="en-US" sz="1350" spc="-1" strike="noStrike">
                <a:solidFill>
                  <a:srgbClr val="1e1e1e"/>
                </a:solidFill>
                <a:latin typeface="Consolas"/>
              </a:rPr>
              <a:t> castka)</a:t>
            </a:r>
            <a:endParaRPr b="0" lang="cs-CZ" sz="13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50" spc="-1" strike="noStrike">
                <a:solidFill>
                  <a:srgbClr val="1e1e1e"/>
                </a:solidFill>
                <a:latin typeface="Consolas"/>
              </a:rPr>
              <a:t>    </a:t>
            </a:r>
            <a:r>
              <a:rPr b="0" lang="en-US" sz="1350" spc="-1" strike="noStrike">
                <a:solidFill>
                  <a:srgbClr val="1e1e1e"/>
                </a:solidFill>
                <a:latin typeface="Consolas"/>
              </a:rPr>
              <a:t>{</a:t>
            </a:r>
            <a:endParaRPr b="0" lang="cs-CZ" sz="13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50" spc="-1" strike="noStrike">
                <a:solidFill>
                  <a:srgbClr val="1e1e1e"/>
                </a:solidFill>
                <a:latin typeface="Consolas"/>
              </a:rPr>
              <a:t>        </a:t>
            </a:r>
            <a:r>
              <a:rPr b="0" lang="en-US" sz="1350" spc="-1" strike="noStrike">
                <a:solidFill>
                  <a:srgbClr val="0000ff"/>
                </a:solidFill>
                <a:latin typeface="Consolas"/>
              </a:rPr>
              <a:t>if</a:t>
            </a:r>
            <a:r>
              <a:rPr b="0" lang="en-US" sz="1350" spc="-1" strike="noStrike">
                <a:solidFill>
                  <a:srgbClr val="1e1e1e"/>
                </a:solidFill>
                <a:latin typeface="Consolas"/>
              </a:rPr>
              <a:t> (castka &lt;= 0 || castka &gt; zustatek)</a:t>
            </a:r>
            <a:endParaRPr b="0" lang="cs-CZ" sz="13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50" spc="-1" strike="noStrike">
                <a:solidFill>
                  <a:srgbClr val="1e1e1e"/>
                </a:solidFill>
                <a:latin typeface="Consolas"/>
              </a:rPr>
              <a:t>            </a:t>
            </a:r>
            <a:r>
              <a:rPr b="0" lang="en-US" sz="1350" spc="-1" strike="noStrike">
                <a:solidFill>
                  <a:srgbClr val="0000ff"/>
                </a:solidFill>
                <a:latin typeface="Consolas"/>
              </a:rPr>
              <a:t>return</a:t>
            </a:r>
            <a:r>
              <a:rPr b="0" lang="en-US" sz="1350" spc="-1" strike="noStrike">
                <a:solidFill>
                  <a:srgbClr val="1e1e1e"/>
                </a:solidFill>
                <a:latin typeface="Consolas"/>
              </a:rPr>
              <a:t> </a:t>
            </a:r>
            <a:r>
              <a:rPr b="0" lang="en-US" sz="1350" spc="-1" strike="noStrike">
                <a:solidFill>
                  <a:srgbClr val="0000ff"/>
                </a:solidFill>
                <a:latin typeface="Consolas"/>
              </a:rPr>
              <a:t>false</a:t>
            </a:r>
            <a:r>
              <a:rPr b="0" lang="en-US" sz="1350" spc="-1" strike="noStrike">
                <a:solidFill>
                  <a:srgbClr val="1e1e1e"/>
                </a:solidFill>
                <a:latin typeface="Consolas"/>
              </a:rPr>
              <a:t>;</a:t>
            </a:r>
            <a:endParaRPr b="0" lang="cs-CZ" sz="13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50" spc="-1" strike="noStrike">
                <a:solidFill>
                  <a:srgbClr val="1e1e1e"/>
                </a:solidFill>
                <a:latin typeface="Consolas"/>
              </a:rPr>
              <a:t> </a:t>
            </a:r>
            <a:endParaRPr b="0" lang="cs-CZ" sz="13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50" spc="-1" strike="noStrike">
                <a:solidFill>
                  <a:srgbClr val="1e1e1e"/>
                </a:solidFill>
                <a:latin typeface="Consolas"/>
              </a:rPr>
              <a:t>        </a:t>
            </a:r>
            <a:r>
              <a:rPr b="0" lang="en-US" sz="1350" spc="-1" strike="noStrike">
                <a:solidFill>
                  <a:srgbClr val="1e1e1e"/>
                </a:solidFill>
                <a:latin typeface="Consolas"/>
              </a:rPr>
              <a:t>zustatek -= castka;</a:t>
            </a:r>
            <a:endParaRPr b="0" lang="cs-CZ" sz="13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50" spc="-1" strike="noStrike">
                <a:solidFill>
                  <a:srgbClr val="1e1e1e"/>
                </a:solidFill>
                <a:latin typeface="Consolas"/>
              </a:rPr>
              <a:t>        </a:t>
            </a:r>
            <a:r>
              <a:rPr b="0" lang="en-US" sz="1350" spc="-1" strike="noStrike">
                <a:solidFill>
                  <a:srgbClr val="0000ff"/>
                </a:solidFill>
                <a:latin typeface="Consolas"/>
              </a:rPr>
              <a:t>return</a:t>
            </a:r>
            <a:r>
              <a:rPr b="0" lang="en-US" sz="1350" spc="-1" strike="noStrike">
                <a:solidFill>
                  <a:srgbClr val="1e1e1e"/>
                </a:solidFill>
                <a:latin typeface="Consolas"/>
              </a:rPr>
              <a:t> </a:t>
            </a:r>
            <a:r>
              <a:rPr b="0" lang="en-US" sz="1350" spc="-1" strike="noStrike">
                <a:solidFill>
                  <a:srgbClr val="0000ff"/>
                </a:solidFill>
                <a:latin typeface="Consolas"/>
              </a:rPr>
              <a:t>true</a:t>
            </a:r>
            <a:r>
              <a:rPr b="0" lang="en-US" sz="1350" spc="-1" strike="noStrike">
                <a:solidFill>
                  <a:srgbClr val="1e1e1e"/>
                </a:solidFill>
                <a:latin typeface="Consolas"/>
              </a:rPr>
              <a:t>;</a:t>
            </a:r>
            <a:endParaRPr b="0" lang="cs-CZ" sz="13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50" spc="-1" strike="noStrike">
                <a:solidFill>
                  <a:srgbClr val="1e1e1e"/>
                </a:solidFill>
                <a:latin typeface="Consolas"/>
              </a:rPr>
              <a:t>    </a:t>
            </a:r>
            <a:r>
              <a:rPr b="0" lang="en-US" sz="1350" spc="-1" strike="noStrike">
                <a:solidFill>
                  <a:srgbClr val="1e1e1e"/>
                </a:solidFill>
                <a:latin typeface="Consolas"/>
              </a:rPr>
              <a:t>}</a:t>
            </a:r>
            <a:endParaRPr b="0" lang="cs-CZ" sz="13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50" spc="-1" strike="noStrike">
                <a:solidFill>
                  <a:srgbClr val="1e1e1e"/>
                </a:solidFill>
                <a:latin typeface="Consolas"/>
              </a:rPr>
              <a:t>}</a:t>
            </a:r>
            <a:endParaRPr b="0" lang="cs-CZ" sz="13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50" spc="-1" strike="noStrike">
                <a:solidFill>
                  <a:srgbClr val="008000"/>
                </a:solidFill>
                <a:latin typeface="Consolas"/>
              </a:rPr>
              <a:t>// ucet.zustatek = -500;  // chyba – private</a:t>
            </a:r>
            <a:endParaRPr b="0" lang="cs-CZ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914400" y="1371600"/>
            <a:ext cx="10362960" cy="1187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0" lang="en-US" sz="4000" spc="-1" strike="noStrike">
                <a:solidFill>
                  <a:schemeClr val="dk1"/>
                </a:solidFill>
                <a:latin typeface="Grandview Display"/>
              </a:rPr>
              <a:t>Dědičnost</a:t>
            </a:r>
            <a:endParaRPr b="0" lang="en-US" sz="40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132" name="PlaceHolder 2"/>
          <p:cNvSpPr>
            <a:spLocks noGrp="1"/>
          </p:cNvSpPr>
          <p:nvPr>
            <p:ph/>
          </p:nvPr>
        </p:nvSpPr>
        <p:spPr>
          <a:xfrm>
            <a:off x="914400" y="2649960"/>
            <a:ext cx="4699800" cy="3549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Hierarchie tříd: </a:t>
            </a:r>
            <a:r>
              <a:rPr b="1" lang="en-US" sz="1600" spc="-1" strike="noStrike">
                <a:solidFill>
                  <a:schemeClr val="dk1"/>
                </a:solidFill>
                <a:latin typeface="Grandview Display"/>
              </a:rPr>
              <a:t>předek (base)</a:t>
            </a: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 → </a:t>
            </a:r>
            <a:r>
              <a:rPr b="1" lang="en-US" sz="1600" spc="-1" strike="noStrike">
                <a:solidFill>
                  <a:schemeClr val="dk1"/>
                </a:solidFill>
                <a:latin typeface="Grandview Display"/>
              </a:rPr>
              <a:t>potomek</a:t>
            </a:r>
            <a:endParaRPr b="0" lang="en-US" sz="1600" spc="-1" strike="noStrike">
              <a:solidFill>
                <a:schemeClr val="dk1"/>
              </a:solidFill>
              <a:latin typeface="Grandview Display"/>
            </a:endParaRPr>
          </a:p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Potomek dědí atributy a metody, může přidat vlastní</a:t>
            </a:r>
            <a:endParaRPr b="0" lang="en-US" sz="1600" spc="-1" strike="noStrike">
              <a:solidFill>
                <a:schemeClr val="dk1"/>
              </a:solidFill>
              <a:latin typeface="Grandview Display"/>
            </a:endParaRPr>
          </a:p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V C# lze dědit jen z </a:t>
            </a:r>
            <a:r>
              <a:rPr b="1" lang="en-US" sz="1600" spc="-1" strike="noStrike">
                <a:solidFill>
                  <a:schemeClr val="dk1"/>
                </a:solidFill>
                <a:latin typeface="Grandview Display"/>
              </a:rPr>
              <a:t>jedné</a:t>
            </a: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 třídy</a:t>
            </a:r>
            <a:endParaRPr b="0" lang="en-US" sz="1600" spc="-1" strike="noStrike">
              <a:solidFill>
                <a:schemeClr val="dk1"/>
              </a:solidFill>
              <a:latin typeface="Grandview Display"/>
            </a:endParaRPr>
          </a:p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Všechny třídy dědí z třídy </a:t>
            </a:r>
            <a:r>
              <a:rPr b="1" lang="en-US" sz="1600" spc="-1" strike="noStrike">
                <a:solidFill>
                  <a:schemeClr val="dk1"/>
                </a:solidFill>
                <a:latin typeface="Grandview Display"/>
              </a:rPr>
              <a:t>object</a:t>
            </a:r>
            <a:endParaRPr b="0" lang="en-US" sz="1600" spc="-1" strike="noStrike">
              <a:solidFill>
                <a:schemeClr val="dk1"/>
              </a:solidFill>
              <a:latin typeface="Grandview Display"/>
            </a:endParaRPr>
          </a:p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Dědičnost používáme pro vztah </a:t>
            </a:r>
            <a:r>
              <a:rPr b="1" lang="en-US" sz="1600" spc="-1" strike="noStrike">
                <a:solidFill>
                  <a:schemeClr val="dk1"/>
                </a:solidFill>
                <a:latin typeface="Grandview Display"/>
              </a:rPr>
              <a:t>„je“</a:t>
            </a:r>
            <a:endParaRPr b="0" lang="en-US" sz="1600" spc="-1" strike="noStrike">
              <a:solidFill>
                <a:schemeClr val="dk1"/>
              </a:solidFill>
              <a:latin typeface="Grandview Display"/>
            </a:endParaRPr>
          </a:p>
          <a:p>
            <a:pPr lvl="1" marL="49392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500" spc="-1" strike="noStrike">
                <a:solidFill>
                  <a:schemeClr val="dk1"/>
                </a:solidFill>
                <a:latin typeface="Grandview Display"/>
              </a:rPr>
              <a:t>Student </a:t>
            </a:r>
            <a:r>
              <a:rPr b="1" lang="en-US" sz="1500" spc="-1" strike="noStrike">
                <a:solidFill>
                  <a:schemeClr val="dk1"/>
                </a:solidFill>
                <a:latin typeface="Grandview Display"/>
              </a:rPr>
              <a:t>je</a:t>
            </a:r>
            <a:r>
              <a:rPr b="0" lang="en-US" sz="1500" spc="-1" strike="noStrike">
                <a:solidFill>
                  <a:schemeClr val="dk1"/>
                </a:solidFill>
                <a:latin typeface="Grandview Display"/>
              </a:rPr>
              <a:t> Člověk</a:t>
            </a:r>
            <a:endParaRPr b="0" lang="en-US" sz="1500" spc="-1" strike="noStrike">
              <a:solidFill>
                <a:schemeClr val="dk1"/>
              </a:solidFill>
              <a:latin typeface="Grandview Display"/>
            </a:endParaRPr>
          </a:p>
          <a:p>
            <a:pPr lvl="1" marL="49392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500" spc="-1" strike="noStrike">
                <a:solidFill>
                  <a:schemeClr val="dk1"/>
                </a:solidFill>
                <a:latin typeface="Grandview Display"/>
              </a:rPr>
              <a:t>ne jen kvůli úspoře pár řádků kódu</a:t>
            </a:r>
            <a:endParaRPr b="0" lang="en-US" sz="1500" spc="-1" strike="noStrike">
              <a:solidFill>
                <a:schemeClr val="dk1"/>
              </a:solidFill>
              <a:latin typeface="Grandview Display"/>
            </a:endParaRPr>
          </a:p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Consolas"/>
              </a:rPr>
              <a:t>sealed</a:t>
            </a: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 – ze třídy již nelze dědit</a:t>
            </a:r>
            <a:endParaRPr b="0" lang="en-US" sz="16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133" name="PlaceHolder 3"/>
          <p:cNvSpPr>
            <a:spLocks noGrp="1"/>
          </p:cNvSpPr>
          <p:nvPr>
            <p:ph type="dt" idx="53"/>
          </p:nvPr>
        </p:nvSpPr>
        <p:spPr>
          <a:xfrm>
            <a:off x="91260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spcAft>
                <a:spcPts val="601"/>
              </a:spcAft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defTabSz="457200">
              <a:lnSpc>
                <a:spcPct val="100000"/>
              </a:lnSpc>
              <a:spcAft>
                <a:spcPts val="601"/>
              </a:spcAft>
              <a:buNone/>
            </a:pPr>
            <a:fld id="{B7608B1E-1D84-42F6-93CF-D1460A5D8ADD}" type="datetime1"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10/02/2026</a:t>
            </a:fld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4" name="PlaceHolder 4"/>
          <p:cNvSpPr>
            <a:spLocks noGrp="1"/>
          </p:cNvSpPr>
          <p:nvPr>
            <p:ph type="sldNum" idx="54"/>
          </p:nvPr>
        </p:nvSpPr>
        <p:spPr>
          <a:xfrm>
            <a:off x="10807920" y="6356520"/>
            <a:ext cx="722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spcAft>
                <a:spcPts val="601"/>
              </a:spcAft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algn="r" defTabSz="457200">
              <a:lnSpc>
                <a:spcPct val="100000"/>
              </a:lnSpc>
              <a:spcAft>
                <a:spcPts val="601"/>
              </a:spcAft>
              <a:buNone/>
            </a:pPr>
            <a:fld id="{1B800C68-71D8-4E7A-AB34-A1260700EC61}" type="slidenum"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&lt;číslo&gt;</a:t>
            </a:fld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5" name="Kód"/>
          <p:cNvSpPr/>
          <p:nvPr/>
        </p:nvSpPr>
        <p:spPr>
          <a:xfrm>
            <a:off x="5799960" y="2649960"/>
            <a:ext cx="5477400" cy="3549600"/>
          </a:xfrm>
          <a:prstGeom prst="roundRect">
            <a:avLst>
              <a:gd name="adj" fmla="val 4000"/>
            </a:avLst>
          </a:prstGeom>
          <a:solidFill>
            <a:srgbClr val="f4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164520" rIns="164520" tIns="164520" bIns="16452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0000ff"/>
                </a:solidFill>
                <a:latin typeface="Consolas"/>
              </a:rPr>
              <a:t>class</a:t>
            </a:r>
            <a:r>
              <a:rPr b="0" lang="en-US" sz="1150" spc="-1" strike="noStrike">
                <a:solidFill>
                  <a:srgbClr val="1e1e1e"/>
                </a:solidFill>
                <a:latin typeface="Consolas"/>
              </a:rPr>
              <a:t> </a:t>
            </a:r>
            <a:r>
              <a:rPr b="0" lang="en-US" sz="1150" spc="-1" strike="noStrike">
                <a:solidFill>
                  <a:srgbClr val="2b91af"/>
                </a:solidFill>
                <a:latin typeface="Consolas"/>
              </a:rPr>
              <a:t>Clovek</a:t>
            </a:r>
            <a:endParaRPr b="0" lang="cs-CZ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1e1e1e"/>
                </a:solidFill>
                <a:latin typeface="Consolas"/>
              </a:rPr>
              <a:t>{</a:t>
            </a:r>
            <a:endParaRPr b="0" lang="cs-CZ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1e1e1e"/>
                </a:solidFill>
                <a:latin typeface="Consolas"/>
              </a:rPr>
              <a:t>    </a:t>
            </a:r>
            <a:r>
              <a:rPr b="0" lang="en-US" sz="1150" spc="-1" strike="noStrike">
                <a:solidFill>
                  <a:srgbClr val="0000ff"/>
                </a:solidFill>
                <a:latin typeface="Consolas"/>
              </a:rPr>
              <a:t>public</a:t>
            </a:r>
            <a:r>
              <a:rPr b="0" lang="en-US" sz="1150" spc="-1" strike="noStrike">
                <a:solidFill>
                  <a:srgbClr val="1e1e1e"/>
                </a:solidFill>
                <a:latin typeface="Consolas"/>
              </a:rPr>
              <a:t> </a:t>
            </a:r>
            <a:r>
              <a:rPr b="0" lang="en-US" sz="1150" spc="-1" strike="noStrike">
                <a:solidFill>
                  <a:srgbClr val="0000ff"/>
                </a:solidFill>
                <a:latin typeface="Consolas"/>
              </a:rPr>
              <a:t>string</a:t>
            </a:r>
            <a:r>
              <a:rPr b="0" lang="en-US" sz="1150" spc="-1" strike="noStrike">
                <a:solidFill>
                  <a:srgbClr val="1e1e1e"/>
                </a:solidFill>
                <a:latin typeface="Consolas"/>
              </a:rPr>
              <a:t> Jmeno { </a:t>
            </a:r>
            <a:r>
              <a:rPr b="0" lang="en-US" sz="1150" spc="-1" strike="noStrike">
                <a:solidFill>
                  <a:srgbClr val="0000ff"/>
                </a:solidFill>
                <a:latin typeface="Consolas"/>
              </a:rPr>
              <a:t>get</a:t>
            </a:r>
            <a:r>
              <a:rPr b="0" lang="en-US" sz="1150" spc="-1" strike="noStrike">
                <a:solidFill>
                  <a:srgbClr val="1e1e1e"/>
                </a:solidFill>
                <a:latin typeface="Consolas"/>
              </a:rPr>
              <a:t>; }</a:t>
            </a:r>
            <a:endParaRPr b="0" lang="cs-CZ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1e1e1e"/>
                </a:solidFill>
                <a:latin typeface="Consolas"/>
              </a:rPr>
              <a:t>    </a:t>
            </a:r>
            <a:r>
              <a:rPr b="0" lang="en-US" sz="1150" spc="-1" strike="noStrike">
                <a:solidFill>
                  <a:srgbClr val="0000ff"/>
                </a:solidFill>
                <a:latin typeface="Consolas"/>
              </a:rPr>
              <a:t>public</a:t>
            </a:r>
            <a:r>
              <a:rPr b="0" lang="en-US" sz="1150" spc="-1" strike="noStrike">
                <a:solidFill>
                  <a:srgbClr val="1e1e1e"/>
                </a:solidFill>
                <a:latin typeface="Consolas"/>
              </a:rPr>
              <a:t> </a:t>
            </a:r>
            <a:r>
              <a:rPr b="0" lang="en-US" sz="1150" spc="-1" strike="noStrike">
                <a:solidFill>
                  <a:srgbClr val="2b91af"/>
                </a:solidFill>
                <a:latin typeface="Consolas"/>
              </a:rPr>
              <a:t>Clovek</a:t>
            </a:r>
            <a:r>
              <a:rPr b="0" lang="en-US" sz="1150" spc="-1" strike="noStrike">
                <a:solidFill>
                  <a:srgbClr val="1e1e1e"/>
                </a:solidFill>
                <a:latin typeface="Consolas"/>
              </a:rPr>
              <a:t>(</a:t>
            </a:r>
            <a:r>
              <a:rPr b="0" lang="en-US" sz="1150" spc="-1" strike="noStrike">
                <a:solidFill>
                  <a:srgbClr val="0000ff"/>
                </a:solidFill>
                <a:latin typeface="Consolas"/>
              </a:rPr>
              <a:t>string</a:t>
            </a:r>
            <a:r>
              <a:rPr b="0" lang="en-US" sz="1150" spc="-1" strike="noStrike">
                <a:solidFill>
                  <a:srgbClr val="1e1e1e"/>
                </a:solidFill>
                <a:latin typeface="Consolas"/>
              </a:rPr>
              <a:t> jmeno)</a:t>
            </a:r>
            <a:endParaRPr b="0" lang="cs-CZ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1e1e1e"/>
                </a:solidFill>
                <a:latin typeface="Consolas"/>
              </a:rPr>
              <a:t>    </a:t>
            </a:r>
            <a:r>
              <a:rPr b="0" lang="en-US" sz="1150" spc="-1" strike="noStrike">
                <a:solidFill>
                  <a:srgbClr val="1e1e1e"/>
                </a:solidFill>
                <a:latin typeface="Consolas"/>
              </a:rPr>
              <a:t>{</a:t>
            </a:r>
            <a:endParaRPr b="0" lang="cs-CZ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1e1e1e"/>
                </a:solidFill>
                <a:latin typeface="Consolas"/>
              </a:rPr>
              <a:t>        </a:t>
            </a:r>
            <a:r>
              <a:rPr b="0" lang="en-US" sz="1150" spc="-1" strike="noStrike">
                <a:solidFill>
                  <a:srgbClr val="1e1e1e"/>
                </a:solidFill>
                <a:latin typeface="Consolas"/>
              </a:rPr>
              <a:t>Jmeno = jmeno;</a:t>
            </a:r>
            <a:endParaRPr b="0" lang="cs-CZ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1e1e1e"/>
                </a:solidFill>
                <a:latin typeface="Consolas"/>
              </a:rPr>
              <a:t>    </a:t>
            </a:r>
            <a:r>
              <a:rPr b="0" lang="en-US" sz="1150" spc="-1" strike="noStrike">
                <a:solidFill>
                  <a:srgbClr val="1e1e1e"/>
                </a:solidFill>
                <a:latin typeface="Consolas"/>
              </a:rPr>
              <a:t>}</a:t>
            </a:r>
            <a:endParaRPr b="0" lang="cs-CZ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1e1e1e"/>
                </a:solidFill>
                <a:latin typeface="Consolas"/>
              </a:rPr>
              <a:t>}</a:t>
            </a:r>
            <a:endParaRPr b="0" lang="cs-CZ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1e1e1e"/>
                </a:solidFill>
                <a:latin typeface="Consolas"/>
              </a:rPr>
              <a:t> </a:t>
            </a:r>
            <a:endParaRPr b="0" lang="cs-CZ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0000ff"/>
                </a:solidFill>
                <a:latin typeface="Consolas"/>
              </a:rPr>
              <a:t>class</a:t>
            </a:r>
            <a:r>
              <a:rPr b="0" lang="en-US" sz="1150" spc="-1" strike="noStrike">
                <a:solidFill>
                  <a:srgbClr val="1e1e1e"/>
                </a:solidFill>
                <a:latin typeface="Consolas"/>
              </a:rPr>
              <a:t> </a:t>
            </a:r>
            <a:r>
              <a:rPr b="0" lang="en-US" sz="1150" spc="-1" strike="noStrike">
                <a:solidFill>
                  <a:srgbClr val="2b91af"/>
                </a:solidFill>
                <a:latin typeface="Consolas"/>
              </a:rPr>
              <a:t>Student</a:t>
            </a:r>
            <a:r>
              <a:rPr b="0" lang="en-US" sz="1150" spc="-1" strike="noStrike">
                <a:solidFill>
                  <a:srgbClr val="1e1e1e"/>
                </a:solidFill>
                <a:latin typeface="Consolas"/>
              </a:rPr>
              <a:t> : </a:t>
            </a:r>
            <a:r>
              <a:rPr b="0" lang="en-US" sz="1150" spc="-1" strike="noStrike">
                <a:solidFill>
                  <a:srgbClr val="2b91af"/>
                </a:solidFill>
                <a:latin typeface="Consolas"/>
              </a:rPr>
              <a:t>Clovek</a:t>
            </a:r>
            <a:endParaRPr b="0" lang="cs-CZ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1e1e1e"/>
                </a:solidFill>
                <a:latin typeface="Consolas"/>
              </a:rPr>
              <a:t>{</a:t>
            </a:r>
            <a:endParaRPr b="0" lang="cs-CZ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1e1e1e"/>
                </a:solidFill>
                <a:latin typeface="Consolas"/>
              </a:rPr>
              <a:t>    </a:t>
            </a:r>
            <a:r>
              <a:rPr b="0" lang="en-US" sz="1150" spc="-1" strike="noStrike">
                <a:solidFill>
                  <a:srgbClr val="0000ff"/>
                </a:solidFill>
                <a:latin typeface="Consolas"/>
              </a:rPr>
              <a:t>public</a:t>
            </a:r>
            <a:r>
              <a:rPr b="0" lang="en-US" sz="1150" spc="-1" strike="noStrike">
                <a:solidFill>
                  <a:srgbClr val="1e1e1e"/>
                </a:solidFill>
                <a:latin typeface="Consolas"/>
              </a:rPr>
              <a:t> </a:t>
            </a:r>
            <a:r>
              <a:rPr b="0" lang="en-US" sz="1150" spc="-1" strike="noStrike">
                <a:solidFill>
                  <a:srgbClr val="0000ff"/>
                </a:solidFill>
                <a:latin typeface="Consolas"/>
              </a:rPr>
              <a:t>int</a:t>
            </a:r>
            <a:r>
              <a:rPr b="0" lang="en-US" sz="1150" spc="-1" strike="noStrike">
                <a:solidFill>
                  <a:srgbClr val="1e1e1e"/>
                </a:solidFill>
                <a:latin typeface="Consolas"/>
              </a:rPr>
              <a:t> Rocnik { </a:t>
            </a:r>
            <a:r>
              <a:rPr b="0" lang="en-US" sz="1150" spc="-1" strike="noStrike">
                <a:solidFill>
                  <a:srgbClr val="0000ff"/>
                </a:solidFill>
                <a:latin typeface="Consolas"/>
              </a:rPr>
              <a:t>get</a:t>
            </a:r>
            <a:r>
              <a:rPr b="0" lang="en-US" sz="1150" spc="-1" strike="noStrike">
                <a:solidFill>
                  <a:srgbClr val="1e1e1e"/>
                </a:solidFill>
                <a:latin typeface="Consolas"/>
              </a:rPr>
              <a:t>; }</a:t>
            </a:r>
            <a:endParaRPr b="0" lang="cs-CZ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1e1e1e"/>
                </a:solidFill>
                <a:latin typeface="Consolas"/>
              </a:rPr>
              <a:t> </a:t>
            </a:r>
            <a:endParaRPr b="0" lang="cs-CZ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1e1e1e"/>
                </a:solidFill>
                <a:latin typeface="Consolas"/>
              </a:rPr>
              <a:t>    </a:t>
            </a:r>
            <a:r>
              <a:rPr b="0" lang="en-US" sz="1150" spc="-1" strike="noStrike">
                <a:solidFill>
                  <a:srgbClr val="0000ff"/>
                </a:solidFill>
                <a:latin typeface="Consolas"/>
              </a:rPr>
              <a:t>public</a:t>
            </a:r>
            <a:r>
              <a:rPr b="0" lang="en-US" sz="1150" spc="-1" strike="noStrike">
                <a:solidFill>
                  <a:srgbClr val="1e1e1e"/>
                </a:solidFill>
                <a:latin typeface="Consolas"/>
              </a:rPr>
              <a:t> </a:t>
            </a:r>
            <a:r>
              <a:rPr b="0" lang="en-US" sz="1150" spc="-1" strike="noStrike">
                <a:solidFill>
                  <a:srgbClr val="2b91af"/>
                </a:solidFill>
                <a:latin typeface="Consolas"/>
              </a:rPr>
              <a:t>Student</a:t>
            </a:r>
            <a:r>
              <a:rPr b="0" lang="en-US" sz="1150" spc="-1" strike="noStrike">
                <a:solidFill>
                  <a:srgbClr val="1e1e1e"/>
                </a:solidFill>
                <a:latin typeface="Consolas"/>
              </a:rPr>
              <a:t>(</a:t>
            </a:r>
            <a:r>
              <a:rPr b="0" lang="en-US" sz="1150" spc="-1" strike="noStrike">
                <a:solidFill>
                  <a:srgbClr val="0000ff"/>
                </a:solidFill>
                <a:latin typeface="Consolas"/>
              </a:rPr>
              <a:t>string</a:t>
            </a:r>
            <a:r>
              <a:rPr b="0" lang="en-US" sz="1150" spc="-1" strike="noStrike">
                <a:solidFill>
                  <a:srgbClr val="1e1e1e"/>
                </a:solidFill>
                <a:latin typeface="Consolas"/>
              </a:rPr>
              <a:t> jmeno, </a:t>
            </a:r>
            <a:r>
              <a:rPr b="0" lang="en-US" sz="1150" spc="-1" strike="noStrike">
                <a:solidFill>
                  <a:srgbClr val="0000ff"/>
                </a:solidFill>
                <a:latin typeface="Consolas"/>
              </a:rPr>
              <a:t>int</a:t>
            </a:r>
            <a:r>
              <a:rPr b="0" lang="en-US" sz="1150" spc="-1" strike="noStrike">
                <a:solidFill>
                  <a:srgbClr val="1e1e1e"/>
                </a:solidFill>
                <a:latin typeface="Consolas"/>
              </a:rPr>
              <a:t> rocnik)</a:t>
            </a:r>
            <a:endParaRPr b="0" lang="cs-CZ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1e1e1e"/>
                </a:solidFill>
                <a:latin typeface="Consolas"/>
              </a:rPr>
              <a:t>        </a:t>
            </a:r>
            <a:r>
              <a:rPr b="0" lang="en-US" sz="1150" spc="-1" strike="noStrike">
                <a:solidFill>
                  <a:srgbClr val="1e1e1e"/>
                </a:solidFill>
                <a:latin typeface="Consolas"/>
              </a:rPr>
              <a:t>: </a:t>
            </a:r>
            <a:r>
              <a:rPr b="0" lang="en-US" sz="1150" spc="-1" strike="noStrike">
                <a:solidFill>
                  <a:srgbClr val="0000ff"/>
                </a:solidFill>
                <a:latin typeface="Consolas"/>
              </a:rPr>
              <a:t>base</a:t>
            </a:r>
            <a:r>
              <a:rPr b="0" lang="en-US" sz="1150" spc="-1" strike="noStrike">
                <a:solidFill>
                  <a:srgbClr val="1e1e1e"/>
                </a:solidFill>
                <a:latin typeface="Consolas"/>
              </a:rPr>
              <a:t>(jmeno)</a:t>
            </a:r>
            <a:endParaRPr b="0" lang="cs-CZ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1e1e1e"/>
                </a:solidFill>
                <a:latin typeface="Consolas"/>
              </a:rPr>
              <a:t>    </a:t>
            </a:r>
            <a:r>
              <a:rPr b="0" lang="en-US" sz="1150" spc="-1" strike="noStrike">
                <a:solidFill>
                  <a:srgbClr val="1e1e1e"/>
                </a:solidFill>
                <a:latin typeface="Consolas"/>
              </a:rPr>
              <a:t>{</a:t>
            </a:r>
            <a:endParaRPr b="0" lang="cs-CZ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1e1e1e"/>
                </a:solidFill>
                <a:latin typeface="Consolas"/>
              </a:rPr>
              <a:t>        </a:t>
            </a:r>
            <a:r>
              <a:rPr b="0" lang="en-US" sz="1150" spc="-1" strike="noStrike">
                <a:solidFill>
                  <a:srgbClr val="1e1e1e"/>
                </a:solidFill>
                <a:latin typeface="Consolas"/>
              </a:rPr>
              <a:t>Rocnik = rocnik;</a:t>
            </a:r>
            <a:endParaRPr b="0" lang="cs-CZ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1e1e1e"/>
                </a:solidFill>
                <a:latin typeface="Consolas"/>
              </a:rPr>
              <a:t>    </a:t>
            </a:r>
            <a:r>
              <a:rPr b="0" lang="en-US" sz="1150" spc="-1" strike="noStrike">
                <a:solidFill>
                  <a:srgbClr val="1e1e1e"/>
                </a:solidFill>
                <a:latin typeface="Consolas"/>
              </a:rPr>
              <a:t>}</a:t>
            </a:r>
            <a:endParaRPr b="0" lang="cs-CZ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50" spc="-1" strike="noStrike">
                <a:solidFill>
                  <a:srgbClr val="1e1e1e"/>
                </a:solidFill>
                <a:latin typeface="Consolas"/>
              </a:rPr>
              <a:t>}</a:t>
            </a:r>
            <a:endParaRPr b="0" lang="cs-CZ" sz="11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914400" y="1371600"/>
            <a:ext cx="10362960" cy="1187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0" lang="en-US" sz="4000" spc="-1" strike="noStrike">
                <a:solidFill>
                  <a:schemeClr val="dk1"/>
                </a:solidFill>
                <a:latin typeface="Grandview Display"/>
              </a:rPr>
              <a:t>Polymorfismus</a:t>
            </a:r>
            <a:endParaRPr b="0" lang="en-US" sz="40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137" name="PlaceHolder 2"/>
          <p:cNvSpPr>
            <a:spLocks noGrp="1"/>
          </p:cNvSpPr>
          <p:nvPr>
            <p:ph/>
          </p:nvPr>
        </p:nvSpPr>
        <p:spPr>
          <a:xfrm>
            <a:off x="914400" y="2649960"/>
            <a:ext cx="4699800" cy="3549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Předek označí metodu jako </a:t>
            </a:r>
            <a:r>
              <a:rPr b="1" lang="en-US" sz="1600" spc="-1" strike="noStrike">
                <a:solidFill>
                  <a:schemeClr val="dk1"/>
                </a:solidFill>
                <a:latin typeface="Grandview Display"/>
              </a:rPr>
              <a:t>virtual</a:t>
            </a:r>
            <a:endParaRPr b="0" lang="en-US" sz="1600" spc="-1" strike="noStrike">
              <a:solidFill>
                <a:schemeClr val="dk1"/>
              </a:solidFill>
              <a:latin typeface="Grandview Display"/>
            </a:endParaRPr>
          </a:p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Potomek ji přepíše pomocí </a:t>
            </a:r>
            <a:r>
              <a:rPr b="1" lang="en-US" sz="1600" spc="-1" strike="noStrike">
                <a:solidFill>
                  <a:schemeClr val="dk1"/>
                </a:solidFill>
                <a:latin typeface="Grandview Display"/>
              </a:rPr>
              <a:t>override</a:t>
            </a:r>
            <a:endParaRPr b="0" lang="en-US" sz="1600" spc="-1" strike="noStrike">
              <a:solidFill>
                <a:schemeClr val="dk1"/>
              </a:solidFill>
              <a:latin typeface="Grandview Display"/>
            </a:endParaRPr>
          </a:p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Consolas"/>
              </a:rPr>
              <a:t>base.Metoda()</a:t>
            </a: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 – zavolá původní implementaci</a:t>
            </a:r>
            <a:endParaRPr b="0" lang="en-US" sz="1600" spc="-1" strike="noStrike">
              <a:solidFill>
                <a:schemeClr val="dk1"/>
              </a:solidFill>
              <a:latin typeface="Grandview Display"/>
            </a:endParaRPr>
          </a:p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S objekty pracujeme přes </a:t>
            </a:r>
            <a:r>
              <a:rPr b="1" lang="en-US" sz="1600" spc="-1" strike="noStrike">
                <a:solidFill>
                  <a:schemeClr val="dk1"/>
                </a:solidFill>
                <a:latin typeface="Grandview Display"/>
              </a:rPr>
              <a:t>společný typ</a:t>
            </a:r>
            <a:endParaRPr b="0" lang="en-US" sz="1600" spc="-1" strike="noStrike">
              <a:solidFill>
                <a:schemeClr val="dk1"/>
              </a:solidFill>
              <a:latin typeface="Grandview Display"/>
            </a:endParaRPr>
          </a:p>
          <a:p>
            <a:pPr lvl="1" marL="49392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500" spc="-1" strike="noStrike">
                <a:solidFill>
                  <a:schemeClr val="dk1"/>
                </a:solidFill>
                <a:latin typeface="Grandview Display"/>
              </a:rPr>
              <a:t>neřešíme, co přesně objekt je, ale co umí</a:t>
            </a:r>
            <a:endParaRPr b="0" lang="en-US" sz="1500" spc="-1" strike="noStrike">
              <a:solidFill>
                <a:schemeClr val="dk1"/>
              </a:solidFill>
              <a:latin typeface="Grandview Display"/>
            </a:endParaRPr>
          </a:p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Nový typ = nová třída, existující kód se nemění</a:t>
            </a:r>
            <a:endParaRPr b="0" lang="en-US" sz="1600" spc="-1" strike="noStrike">
              <a:solidFill>
                <a:schemeClr val="dk1"/>
              </a:solidFill>
              <a:latin typeface="Grandview Display"/>
            </a:endParaRPr>
          </a:p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Pozor: override ≠ přetížení (overload)</a:t>
            </a:r>
            <a:endParaRPr b="0" lang="en-US" sz="16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138" name="PlaceHolder 3"/>
          <p:cNvSpPr>
            <a:spLocks noGrp="1"/>
          </p:cNvSpPr>
          <p:nvPr>
            <p:ph type="dt" idx="55"/>
          </p:nvPr>
        </p:nvSpPr>
        <p:spPr>
          <a:xfrm>
            <a:off x="91260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spcAft>
                <a:spcPts val="601"/>
              </a:spcAft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defTabSz="457200">
              <a:lnSpc>
                <a:spcPct val="100000"/>
              </a:lnSpc>
              <a:spcAft>
                <a:spcPts val="601"/>
              </a:spcAft>
              <a:buNone/>
            </a:pPr>
            <a:fld id="{75324BA6-1BD1-4778-B19E-7E0BBF32BA9F}" type="datetime1"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10/02/2026</a:t>
            </a:fld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9" name="PlaceHolder 4"/>
          <p:cNvSpPr>
            <a:spLocks noGrp="1"/>
          </p:cNvSpPr>
          <p:nvPr>
            <p:ph type="sldNum" idx="56"/>
          </p:nvPr>
        </p:nvSpPr>
        <p:spPr>
          <a:xfrm>
            <a:off x="10807920" y="6356520"/>
            <a:ext cx="722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spcAft>
                <a:spcPts val="601"/>
              </a:spcAft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algn="r" defTabSz="457200">
              <a:lnSpc>
                <a:spcPct val="100000"/>
              </a:lnSpc>
              <a:spcAft>
                <a:spcPts val="601"/>
              </a:spcAft>
              <a:buNone/>
            </a:pPr>
            <a:fld id="{69CB6792-265D-4AE1-8D1A-9962110FBC7C}" type="slidenum"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&lt;číslo&gt;</a:t>
            </a:fld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0" name="Kód"/>
          <p:cNvSpPr/>
          <p:nvPr/>
        </p:nvSpPr>
        <p:spPr>
          <a:xfrm>
            <a:off x="5799960" y="2649960"/>
            <a:ext cx="5477400" cy="3549600"/>
          </a:xfrm>
          <a:prstGeom prst="roundRect">
            <a:avLst>
              <a:gd name="adj" fmla="val 4000"/>
            </a:avLst>
          </a:prstGeom>
          <a:solidFill>
            <a:srgbClr val="f4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164520" rIns="164520" tIns="164520" bIns="16452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0000ff"/>
                </a:solidFill>
                <a:latin typeface="Consolas"/>
              </a:rPr>
              <a:t>class</a:t>
            </a: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2b91af"/>
                </a:solidFill>
                <a:latin typeface="Consolas"/>
              </a:rPr>
              <a:t>Zvire</a:t>
            </a:r>
            <a:endParaRPr b="0" lang="cs-CZ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{</a:t>
            </a:r>
            <a:endParaRPr b="0" lang="cs-CZ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    </a:t>
            </a:r>
            <a:r>
              <a:rPr b="0" lang="en-US" sz="1250" spc="-1" strike="noStrike">
                <a:solidFill>
                  <a:srgbClr val="0000ff"/>
                </a:solidFill>
                <a:latin typeface="Consolas"/>
              </a:rPr>
              <a:t>public</a:t>
            </a: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0000ff"/>
                </a:solidFill>
                <a:latin typeface="Consolas"/>
              </a:rPr>
              <a:t>virtual</a:t>
            </a: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0000ff"/>
                </a:solidFill>
                <a:latin typeface="Consolas"/>
              </a:rPr>
              <a:t>string</a:t>
            </a: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74531f"/>
                </a:solidFill>
                <a:latin typeface="Consolas"/>
              </a:rPr>
              <a:t>Zvuk</a:t>
            </a: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() =&gt; </a:t>
            </a:r>
            <a:r>
              <a:rPr b="0" lang="en-US" sz="1250" spc="-1" strike="noStrike">
                <a:solidFill>
                  <a:srgbClr val="a31515"/>
                </a:solidFill>
                <a:latin typeface="Consolas"/>
              </a:rPr>
              <a:t>"..."</a:t>
            </a: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;</a:t>
            </a:r>
            <a:endParaRPr b="0" lang="cs-CZ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}</a:t>
            </a:r>
            <a:endParaRPr b="0" lang="cs-CZ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0000ff"/>
                </a:solidFill>
                <a:latin typeface="Consolas"/>
              </a:rPr>
              <a:t>class</a:t>
            </a: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2b91af"/>
                </a:solidFill>
                <a:latin typeface="Consolas"/>
              </a:rPr>
              <a:t>Pes</a:t>
            </a: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 : </a:t>
            </a:r>
            <a:r>
              <a:rPr b="0" lang="en-US" sz="1250" spc="-1" strike="noStrike">
                <a:solidFill>
                  <a:srgbClr val="2b91af"/>
                </a:solidFill>
                <a:latin typeface="Consolas"/>
              </a:rPr>
              <a:t>Zvire</a:t>
            </a:r>
            <a:endParaRPr b="0" lang="cs-CZ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{</a:t>
            </a:r>
            <a:endParaRPr b="0" lang="cs-CZ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    </a:t>
            </a:r>
            <a:r>
              <a:rPr b="0" lang="en-US" sz="1250" spc="-1" strike="noStrike">
                <a:solidFill>
                  <a:srgbClr val="0000ff"/>
                </a:solidFill>
                <a:latin typeface="Consolas"/>
              </a:rPr>
              <a:t>public</a:t>
            </a: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0000ff"/>
                </a:solidFill>
                <a:latin typeface="Consolas"/>
              </a:rPr>
              <a:t>override</a:t>
            </a: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0000ff"/>
                </a:solidFill>
                <a:latin typeface="Consolas"/>
              </a:rPr>
              <a:t>string</a:t>
            </a: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74531f"/>
                </a:solidFill>
                <a:latin typeface="Consolas"/>
              </a:rPr>
              <a:t>Zvuk</a:t>
            </a: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() =&gt; </a:t>
            </a:r>
            <a:r>
              <a:rPr b="0" lang="en-US" sz="1250" spc="-1" strike="noStrike">
                <a:solidFill>
                  <a:srgbClr val="a31515"/>
                </a:solidFill>
                <a:latin typeface="Consolas"/>
              </a:rPr>
              <a:t>"Haf"</a:t>
            </a: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;</a:t>
            </a:r>
            <a:endParaRPr b="0" lang="cs-CZ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}</a:t>
            </a:r>
            <a:endParaRPr b="0" lang="cs-CZ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0000ff"/>
                </a:solidFill>
                <a:latin typeface="Consolas"/>
              </a:rPr>
              <a:t>class</a:t>
            </a: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2b91af"/>
                </a:solidFill>
                <a:latin typeface="Consolas"/>
              </a:rPr>
              <a:t>Kocka</a:t>
            </a: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 : </a:t>
            </a:r>
            <a:r>
              <a:rPr b="0" lang="en-US" sz="1250" spc="-1" strike="noStrike">
                <a:solidFill>
                  <a:srgbClr val="2b91af"/>
                </a:solidFill>
                <a:latin typeface="Consolas"/>
              </a:rPr>
              <a:t>Zvire</a:t>
            </a:r>
            <a:endParaRPr b="0" lang="cs-CZ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{</a:t>
            </a:r>
            <a:endParaRPr b="0" lang="cs-CZ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    </a:t>
            </a:r>
            <a:r>
              <a:rPr b="0" lang="en-US" sz="1250" spc="-1" strike="noStrike">
                <a:solidFill>
                  <a:srgbClr val="0000ff"/>
                </a:solidFill>
                <a:latin typeface="Consolas"/>
              </a:rPr>
              <a:t>public</a:t>
            </a: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0000ff"/>
                </a:solidFill>
                <a:latin typeface="Consolas"/>
              </a:rPr>
              <a:t>override</a:t>
            </a: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0000ff"/>
                </a:solidFill>
                <a:latin typeface="Consolas"/>
              </a:rPr>
              <a:t>string</a:t>
            </a: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74531f"/>
                </a:solidFill>
                <a:latin typeface="Consolas"/>
              </a:rPr>
              <a:t>Zvuk</a:t>
            </a: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() =&gt; </a:t>
            </a:r>
            <a:r>
              <a:rPr b="0" lang="en-US" sz="1250" spc="-1" strike="noStrike">
                <a:solidFill>
                  <a:srgbClr val="a31515"/>
                </a:solidFill>
                <a:latin typeface="Consolas"/>
              </a:rPr>
              <a:t>"Mňau"</a:t>
            </a: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;</a:t>
            </a:r>
            <a:endParaRPr b="0" lang="cs-CZ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}</a:t>
            </a:r>
            <a:endParaRPr b="0" lang="cs-CZ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 </a:t>
            </a:r>
            <a:endParaRPr b="0" lang="cs-CZ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2b91af"/>
                </a:solidFill>
                <a:latin typeface="Consolas"/>
              </a:rPr>
              <a:t>List</a:t>
            </a: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&lt;</a:t>
            </a:r>
            <a:r>
              <a:rPr b="0" lang="en-US" sz="1250" spc="-1" strike="noStrike">
                <a:solidFill>
                  <a:srgbClr val="2b91af"/>
                </a:solidFill>
                <a:latin typeface="Consolas"/>
              </a:rPr>
              <a:t>Zvire</a:t>
            </a: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&gt; zoo = </a:t>
            </a:r>
            <a:r>
              <a:rPr b="0" lang="en-US" sz="1250" spc="-1" strike="noStrike">
                <a:solidFill>
                  <a:srgbClr val="0000ff"/>
                </a:solidFill>
                <a:latin typeface="Consolas"/>
              </a:rPr>
              <a:t>new</a:t>
            </a: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2b91af"/>
                </a:solidFill>
                <a:latin typeface="Consolas"/>
              </a:rPr>
              <a:t>List</a:t>
            </a: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&lt;</a:t>
            </a:r>
            <a:r>
              <a:rPr b="0" lang="en-US" sz="1250" spc="-1" strike="noStrike">
                <a:solidFill>
                  <a:srgbClr val="2b91af"/>
                </a:solidFill>
                <a:latin typeface="Consolas"/>
              </a:rPr>
              <a:t>Zvire</a:t>
            </a: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&gt;</a:t>
            </a:r>
            <a:endParaRPr b="0" lang="cs-CZ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    </a:t>
            </a: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{ </a:t>
            </a:r>
            <a:r>
              <a:rPr b="0" lang="en-US" sz="1250" spc="-1" strike="noStrike">
                <a:solidFill>
                  <a:srgbClr val="0000ff"/>
                </a:solidFill>
                <a:latin typeface="Consolas"/>
              </a:rPr>
              <a:t>new</a:t>
            </a: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2b91af"/>
                </a:solidFill>
                <a:latin typeface="Consolas"/>
              </a:rPr>
              <a:t>Pes</a:t>
            </a: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(), </a:t>
            </a:r>
            <a:r>
              <a:rPr b="0" lang="en-US" sz="1250" spc="-1" strike="noStrike">
                <a:solidFill>
                  <a:srgbClr val="0000ff"/>
                </a:solidFill>
                <a:latin typeface="Consolas"/>
              </a:rPr>
              <a:t>new</a:t>
            </a: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2b91af"/>
                </a:solidFill>
                <a:latin typeface="Consolas"/>
              </a:rPr>
              <a:t>Kocka</a:t>
            </a: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() };</a:t>
            </a:r>
            <a:endParaRPr b="0" lang="cs-CZ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0000ff"/>
                </a:solidFill>
                <a:latin typeface="Consolas"/>
              </a:rPr>
              <a:t>foreach</a:t>
            </a: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 (</a:t>
            </a:r>
            <a:r>
              <a:rPr b="0" lang="en-US" sz="1250" spc="-1" strike="noStrike">
                <a:solidFill>
                  <a:srgbClr val="2b91af"/>
                </a:solidFill>
                <a:latin typeface="Consolas"/>
              </a:rPr>
              <a:t>Zvire</a:t>
            </a: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 z </a:t>
            </a:r>
            <a:r>
              <a:rPr b="0" lang="en-US" sz="1250" spc="-1" strike="noStrike">
                <a:solidFill>
                  <a:srgbClr val="0000ff"/>
                </a:solidFill>
                <a:latin typeface="Consolas"/>
              </a:rPr>
              <a:t>in</a:t>
            </a: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 zoo)</a:t>
            </a:r>
            <a:endParaRPr b="0" lang="cs-CZ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    </a:t>
            </a:r>
            <a:r>
              <a:rPr b="0" lang="en-US" sz="1250" spc="-1" strike="noStrike">
                <a:solidFill>
                  <a:srgbClr val="2b91af"/>
                </a:solidFill>
                <a:latin typeface="Consolas"/>
              </a:rPr>
              <a:t>Console</a:t>
            </a: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.</a:t>
            </a:r>
            <a:r>
              <a:rPr b="0" lang="en-US" sz="1250" spc="-1" strike="noStrike">
                <a:solidFill>
                  <a:srgbClr val="74531f"/>
                </a:solidFill>
                <a:latin typeface="Consolas"/>
              </a:rPr>
              <a:t>WriteLine</a:t>
            </a: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(z.</a:t>
            </a:r>
            <a:r>
              <a:rPr b="0" lang="en-US" sz="1250" spc="-1" strike="noStrike">
                <a:solidFill>
                  <a:srgbClr val="74531f"/>
                </a:solidFill>
                <a:latin typeface="Consolas"/>
              </a:rPr>
              <a:t>Zvuk</a:t>
            </a: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());</a:t>
            </a:r>
            <a:endParaRPr b="0" lang="cs-CZ" sz="12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914400" y="1371600"/>
            <a:ext cx="10362960" cy="1187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0" lang="en-US" sz="4000" spc="-1" strike="noStrike">
                <a:solidFill>
                  <a:schemeClr val="dk1"/>
                </a:solidFill>
                <a:latin typeface="Grandview Display"/>
              </a:rPr>
              <a:t>Abstraktní třída a rozhraní</a:t>
            </a:r>
            <a:endParaRPr b="0" lang="en-US" sz="40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142" name="PlaceHolder 2"/>
          <p:cNvSpPr>
            <a:spLocks noGrp="1"/>
          </p:cNvSpPr>
          <p:nvPr>
            <p:ph type="dt" idx="57"/>
          </p:nvPr>
        </p:nvSpPr>
        <p:spPr>
          <a:xfrm>
            <a:off x="91260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spcAft>
                <a:spcPts val="601"/>
              </a:spcAft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defTabSz="457200">
              <a:lnSpc>
                <a:spcPct val="100000"/>
              </a:lnSpc>
              <a:spcAft>
                <a:spcPts val="601"/>
              </a:spcAft>
              <a:buNone/>
            </a:pPr>
            <a:fld id="{1CD67E86-06B2-4279-94C2-7A88E7298027}" type="datetime1"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10/02/2026</a:t>
            </a:fld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3" name="PlaceHolder 3"/>
          <p:cNvSpPr>
            <a:spLocks noGrp="1"/>
          </p:cNvSpPr>
          <p:nvPr>
            <p:ph type="sldNum" idx="58"/>
          </p:nvPr>
        </p:nvSpPr>
        <p:spPr>
          <a:xfrm>
            <a:off x="10807920" y="6356520"/>
            <a:ext cx="722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spcAft>
                <a:spcPts val="601"/>
              </a:spcAft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algn="r" defTabSz="457200">
              <a:lnSpc>
                <a:spcPct val="100000"/>
              </a:lnSpc>
              <a:spcAft>
                <a:spcPts val="601"/>
              </a:spcAft>
              <a:buNone/>
            </a:pPr>
            <a:fld id="{DA6DD70A-F74E-4609-B7CB-7467887477D3}" type="slidenum"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&lt;číslo&gt;</a:t>
            </a:fld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graphicFrame>
        <p:nvGraphicFramePr>
          <p:cNvPr id="144" name="Table 14"/>
          <p:cNvGraphicFramePr/>
          <p:nvPr/>
        </p:nvGraphicFramePr>
        <p:xfrm>
          <a:off x="914400" y="2599920"/>
          <a:ext cx="10362960" cy="3218400"/>
        </p:xfrm>
        <a:graphic>
          <a:graphicData uri="http://schemas.openxmlformats.org/drawingml/2006/table">
            <a:tbl>
              <a:tblPr/>
              <a:tblGrid>
                <a:gridCol w="2694240"/>
                <a:gridCol w="3834360"/>
                <a:gridCol w="3834360"/>
              </a:tblGrid>
              <a:tr h="402120">
                <a:tc>
                  <a:txBody>
                    <a:bodyPr anchor="ctr">
                      <a:noAutofit/>
                    </a:bodyPr>
                    <a:p>
                      <a:endParaRPr b="0" lang="en-US" sz="1800" spc="-1" strike="noStrike">
                        <a:solidFill>
                          <a:srgbClr val="ffffff"/>
                        </a:solidFill>
                        <a:latin typeface="Grandview Display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973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US" sz="1600" spc="-1" strike="noStrike">
                          <a:solidFill>
                            <a:srgbClr val="ffffff"/>
                          </a:solidFill>
                          <a:latin typeface="Grandview Display"/>
                        </a:rPr>
                        <a:t>Abstraktní třída</a:t>
                      </a:r>
                      <a:endParaRPr b="0" lang="cs-CZ" sz="16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973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US" sz="1600" spc="-1" strike="noStrike">
                          <a:solidFill>
                            <a:srgbClr val="ffffff"/>
                          </a:solidFill>
                          <a:latin typeface="Grandview Display"/>
                        </a:rPr>
                        <a:t>Rozhraní (interface)</a:t>
                      </a:r>
                      <a:endParaRPr b="0" lang="cs-CZ" sz="16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973eb"/>
                    </a:solidFill>
                  </a:tcPr>
                </a:tc>
              </a:tr>
              <a:tr h="40212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Grandview Display"/>
                        </a:rPr>
                        <a:t>Klíčové slovo</a:t>
                      </a:r>
                      <a:endParaRPr b="0" lang="cs-CZ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Grandview Display"/>
                        </a:rPr>
                        <a:t>abstract class</a:t>
                      </a:r>
                      <a:endParaRPr b="0" lang="cs-CZ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Grandview Display"/>
                        </a:rPr>
                        <a:t>interface</a:t>
                      </a:r>
                      <a:endParaRPr b="0" lang="cs-CZ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12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Grandview Display"/>
                        </a:rPr>
                        <a:t>Instance (new)</a:t>
                      </a:r>
                      <a:endParaRPr b="0" lang="cs-CZ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Grandview Display"/>
                        </a:rPr>
                        <a:t>nelze vytvořit</a:t>
                      </a:r>
                      <a:endParaRPr b="0" lang="cs-CZ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Grandview Display"/>
                        </a:rPr>
                        <a:t>nelze vytvořit</a:t>
                      </a:r>
                      <a:endParaRPr b="0" lang="cs-CZ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5f8"/>
                    </a:solidFill>
                  </a:tcPr>
                </a:tc>
              </a:tr>
              <a:tr h="40212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Grandview Display"/>
                        </a:rPr>
                        <a:t>Implementace metod</a:t>
                      </a:r>
                      <a:endParaRPr b="0" lang="cs-CZ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Grandview Display"/>
                        </a:rPr>
                        <a:t>běžné i abstraktní metody</a:t>
                      </a:r>
                      <a:endParaRPr b="0" lang="cs-CZ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Grandview Display"/>
                        </a:rPr>
                        <a:t>jen předpis (smlouva)</a:t>
                      </a:r>
                      <a:endParaRPr b="0" lang="cs-CZ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12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Grandview Display"/>
                        </a:rPr>
                        <a:t>Fields / konstruktor</a:t>
                      </a:r>
                      <a:endParaRPr b="0" lang="cs-CZ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Grandview Display"/>
                        </a:rPr>
                        <a:t>ano</a:t>
                      </a:r>
                      <a:endParaRPr b="0" lang="cs-CZ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Grandview Display"/>
                        </a:rPr>
                        <a:t>ne</a:t>
                      </a:r>
                      <a:endParaRPr b="0" lang="cs-CZ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5f8"/>
                    </a:solidFill>
                  </a:tcPr>
                </a:tc>
              </a:tr>
              <a:tr h="40212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Grandview Display"/>
                        </a:rPr>
                        <a:t>Kolik lze použít</a:t>
                      </a:r>
                      <a:endParaRPr b="0" lang="cs-CZ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Grandview Display"/>
                        </a:rPr>
                        <a:t>dědit jen z jedné</a:t>
                      </a:r>
                      <a:endParaRPr b="0" lang="cs-CZ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Grandview Display"/>
                        </a:rPr>
                        <a:t>implementovat více</a:t>
                      </a:r>
                      <a:endParaRPr b="0" lang="cs-CZ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12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Grandview Display"/>
                        </a:rPr>
                        <a:t>Vztah</a:t>
                      </a:r>
                      <a:endParaRPr b="0" lang="cs-CZ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Grandview Display"/>
                        </a:rPr>
                        <a:t>„</a:t>
                      </a: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Grandview Display"/>
                        </a:rPr>
                        <a:t>je“ – společný základ</a:t>
                      </a:r>
                      <a:endParaRPr b="0" lang="cs-CZ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Grandview Display"/>
                        </a:rPr>
                        <a:t>„</a:t>
                      </a: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Grandview Display"/>
                        </a:rPr>
                        <a:t>umí“ – schopnost</a:t>
                      </a:r>
                      <a:endParaRPr b="0" lang="cs-CZ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5f8"/>
                    </a:solidFill>
                  </a:tcPr>
                </a:tc>
              </a:tr>
              <a:tr h="40212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Grandview Display"/>
                        </a:rPr>
                        <a:t>Příklad</a:t>
                      </a:r>
                      <a:endParaRPr b="0" lang="cs-CZ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Grandview Display"/>
                        </a:rPr>
                        <a:t>Tvar → Kruh, Obdelnik</a:t>
                      </a:r>
                      <a:endParaRPr b="0" lang="cs-CZ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Grandview Display"/>
                        </a:rPr>
                        <a:t>IComparable, IDisposable</a:t>
                      </a:r>
                      <a:endParaRPr b="0" lang="cs-CZ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912600" y="1371600"/>
            <a:ext cx="10442520" cy="939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0" lang="en-US" sz="4000" spc="-1" strike="noStrike">
                <a:solidFill>
                  <a:schemeClr val="dk1"/>
                </a:solidFill>
                <a:latin typeface="Grandview Display"/>
              </a:rPr>
              <a:t>Abstrakce v kódu</a:t>
            </a:r>
            <a:endParaRPr b="0" lang="en-US" sz="40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/>
          </p:nvPr>
        </p:nvSpPr>
        <p:spPr>
          <a:xfrm>
            <a:off x="912600" y="2311200"/>
            <a:ext cx="5084640" cy="69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1800" spc="299" strike="noStrike" cap="all">
                <a:solidFill>
                  <a:schemeClr val="dk1"/>
                </a:solidFill>
                <a:latin typeface="Grandview Display"/>
              </a:rPr>
              <a:t>Abstraktní třída</a:t>
            </a:r>
            <a:endParaRPr b="0" lang="en-US" sz="18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147" name="PlaceHolder 3"/>
          <p:cNvSpPr>
            <a:spLocks noGrp="1"/>
          </p:cNvSpPr>
          <p:nvPr>
            <p:ph/>
          </p:nvPr>
        </p:nvSpPr>
        <p:spPr>
          <a:xfrm>
            <a:off x="6172200" y="2311200"/>
            <a:ext cx="5182920" cy="69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1800" spc="299" strike="noStrike" cap="all">
                <a:solidFill>
                  <a:schemeClr val="dk1"/>
                </a:solidFill>
                <a:latin typeface="Grandview Display"/>
              </a:rPr>
              <a:t>Rozhraní</a:t>
            </a:r>
            <a:endParaRPr b="0" lang="en-US" sz="18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148" name="PlaceHolder 4"/>
          <p:cNvSpPr>
            <a:spLocks noGrp="1"/>
          </p:cNvSpPr>
          <p:nvPr>
            <p:ph type="dt" idx="59"/>
          </p:nvPr>
        </p:nvSpPr>
        <p:spPr>
          <a:xfrm>
            <a:off x="91260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spcAft>
                <a:spcPts val="601"/>
              </a:spcAft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defTabSz="457200">
              <a:lnSpc>
                <a:spcPct val="100000"/>
              </a:lnSpc>
              <a:spcAft>
                <a:spcPts val="601"/>
              </a:spcAft>
              <a:buNone/>
            </a:pPr>
            <a:fld id="{17AADF86-3A0C-4EAC-826C-A9706AAB6651}" type="datetime1"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10/02/2026</a:t>
            </a:fld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9" name="PlaceHolder 5"/>
          <p:cNvSpPr>
            <a:spLocks noGrp="1"/>
          </p:cNvSpPr>
          <p:nvPr>
            <p:ph type="sldNum" idx="60"/>
          </p:nvPr>
        </p:nvSpPr>
        <p:spPr>
          <a:xfrm>
            <a:off x="10807920" y="6356520"/>
            <a:ext cx="722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spcAft>
                <a:spcPts val="601"/>
              </a:spcAft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algn="r" defTabSz="457200">
              <a:lnSpc>
                <a:spcPct val="100000"/>
              </a:lnSpc>
              <a:spcAft>
                <a:spcPts val="601"/>
              </a:spcAft>
              <a:buNone/>
            </a:pPr>
            <a:fld id="{9E1EFC13-0CD7-4059-9A91-A5AF5AFBAFC9}" type="slidenum"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&lt;číslo&gt;</a:t>
            </a:fld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0" name="Kód"/>
          <p:cNvSpPr/>
          <p:nvPr/>
        </p:nvSpPr>
        <p:spPr>
          <a:xfrm>
            <a:off x="912600" y="3099960"/>
            <a:ext cx="5084640" cy="2999520"/>
          </a:xfrm>
          <a:prstGeom prst="roundRect">
            <a:avLst>
              <a:gd name="adj" fmla="val 4000"/>
            </a:avLst>
          </a:prstGeom>
          <a:solidFill>
            <a:srgbClr val="f4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164520" rIns="164520" tIns="164520" bIns="16452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0000ff"/>
                </a:solidFill>
                <a:latin typeface="Consolas"/>
              </a:rPr>
              <a:t>abstract</a:t>
            </a:r>
            <a:r>
              <a:rPr b="0" lang="en-US" sz="1300" spc="-1" strike="noStrike">
                <a:solidFill>
                  <a:srgbClr val="1e1e1e"/>
                </a:solidFill>
                <a:latin typeface="Consolas"/>
              </a:rPr>
              <a:t> </a:t>
            </a:r>
            <a:r>
              <a:rPr b="0" lang="en-US" sz="1300" spc="-1" strike="noStrike">
                <a:solidFill>
                  <a:srgbClr val="0000ff"/>
                </a:solidFill>
                <a:latin typeface="Consolas"/>
              </a:rPr>
              <a:t>class</a:t>
            </a:r>
            <a:r>
              <a:rPr b="0" lang="en-US" sz="1300" spc="-1" strike="noStrike">
                <a:solidFill>
                  <a:srgbClr val="1e1e1e"/>
                </a:solidFill>
                <a:latin typeface="Consolas"/>
              </a:rPr>
              <a:t> </a:t>
            </a:r>
            <a:r>
              <a:rPr b="0" lang="en-US" sz="1300" spc="-1" strike="noStrike">
                <a:solidFill>
                  <a:srgbClr val="2b91af"/>
                </a:solidFill>
                <a:latin typeface="Consolas"/>
              </a:rPr>
              <a:t>Tvar</a:t>
            </a:r>
            <a:endParaRPr b="0" lang="cs-CZ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1e1e1e"/>
                </a:solidFill>
                <a:latin typeface="Consolas"/>
              </a:rPr>
              <a:t>{</a:t>
            </a:r>
            <a:endParaRPr b="0" lang="cs-CZ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1e1e1e"/>
                </a:solidFill>
                <a:latin typeface="Consolas"/>
              </a:rPr>
              <a:t>    </a:t>
            </a:r>
            <a:r>
              <a:rPr b="0" lang="en-US" sz="1300" spc="-1" strike="noStrike">
                <a:solidFill>
                  <a:srgbClr val="0000ff"/>
                </a:solidFill>
                <a:latin typeface="Consolas"/>
              </a:rPr>
              <a:t>public</a:t>
            </a:r>
            <a:r>
              <a:rPr b="0" lang="en-US" sz="1300" spc="-1" strike="noStrike">
                <a:solidFill>
                  <a:srgbClr val="1e1e1e"/>
                </a:solidFill>
                <a:latin typeface="Consolas"/>
              </a:rPr>
              <a:t> </a:t>
            </a:r>
            <a:r>
              <a:rPr b="0" lang="en-US" sz="1300" spc="-1" strike="noStrike">
                <a:solidFill>
                  <a:srgbClr val="0000ff"/>
                </a:solidFill>
                <a:latin typeface="Consolas"/>
              </a:rPr>
              <a:t>abstract</a:t>
            </a:r>
            <a:r>
              <a:rPr b="0" lang="en-US" sz="1300" spc="-1" strike="noStrike">
                <a:solidFill>
                  <a:srgbClr val="1e1e1e"/>
                </a:solidFill>
                <a:latin typeface="Consolas"/>
              </a:rPr>
              <a:t> </a:t>
            </a:r>
            <a:r>
              <a:rPr b="0" lang="en-US" sz="1300" spc="-1" strike="noStrike">
                <a:solidFill>
                  <a:srgbClr val="0000ff"/>
                </a:solidFill>
                <a:latin typeface="Consolas"/>
              </a:rPr>
              <a:t>double</a:t>
            </a:r>
            <a:r>
              <a:rPr b="0" lang="en-US" sz="1300" spc="-1" strike="noStrike">
                <a:solidFill>
                  <a:srgbClr val="1e1e1e"/>
                </a:solidFill>
                <a:latin typeface="Consolas"/>
              </a:rPr>
              <a:t> </a:t>
            </a:r>
            <a:r>
              <a:rPr b="0" lang="en-US" sz="1300" spc="-1" strike="noStrike">
                <a:solidFill>
                  <a:srgbClr val="74531f"/>
                </a:solidFill>
                <a:latin typeface="Consolas"/>
              </a:rPr>
              <a:t>Obsah</a:t>
            </a:r>
            <a:r>
              <a:rPr b="0" lang="en-US" sz="1300" spc="-1" strike="noStrike">
                <a:solidFill>
                  <a:srgbClr val="1e1e1e"/>
                </a:solidFill>
                <a:latin typeface="Consolas"/>
              </a:rPr>
              <a:t>();</a:t>
            </a:r>
            <a:endParaRPr b="0" lang="cs-CZ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1e1e1e"/>
                </a:solidFill>
                <a:latin typeface="Consolas"/>
              </a:rPr>
              <a:t> </a:t>
            </a:r>
            <a:endParaRPr b="0" lang="cs-CZ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1e1e1e"/>
                </a:solidFill>
                <a:latin typeface="Consolas"/>
              </a:rPr>
              <a:t>    </a:t>
            </a:r>
            <a:r>
              <a:rPr b="0" lang="en-US" sz="1300" spc="-1" strike="noStrike">
                <a:solidFill>
                  <a:srgbClr val="0000ff"/>
                </a:solidFill>
                <a:latin typeface="Consolas"/>
              </a:rPr>
              <a:t>public</a:t>
            </a:r>
            <a:r>
              <a:rPr b="0" lang="en-US" sz="1300" spc="-1" strike="noStrike">
                <a:solidFill>
                  <a:srgbClr val="1e1e1e"/>
                </a:solidFill>
                <a:latin typeface="Consolas"/>
              </a:rPr>
              <a:t> </a:t>
            </a:r>
            <a:r>
              <a:rPr b="0" lang="en-US" sz="1300" spc="-1" strike="noStrike">
                <a:solidFill>
                  <a:srgbClr val="0000ff"/>
                </a:solidFill>
                <a:latin typeface="Consolas"/>
              </a:rPr>
              <a:t>void</a:t>
            </a:r>
            <a:r>
              <a:rPr b="0" lang="en-US" sz="1300" spc="-1" strike="noStrike">
                <a:solidFill>
                  <a:srgbClr val="1e1e1e"/>
                </a:solidFill>
                <a:latin typeface="Consolas"/>
              </a:rPr>
              <a:t> </a:t>
            </a:r>
            <a:r>
              <a:rPr b="0" lang="en-US" sz="1300" spc="-1" strike="noStrike">
                <a:solidFill>
                  <a:srgbClr val="74531f"/>
                </a:solidFill>
                <a:latin typeface="Consolas"/>
              </a:rPr>
              <a:t>Vypis</a:t>
            </a:r>
            <a:r>
              <a:rPr b="0" lang="en-US" sz="1300" spc="-1" strike="noStrike">
                <a:solidFill>
                  <a:srgbClr val="1e1e1e"/>
                </a:solidFill>
                <a:latin typeface="Consolas"/>
              </a:rPr>
              <a:t>() =&gt;</a:t>
            </a:r>
            <a:endParaRPr b="0" lang="cs-CZ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1e1e1e"/>
                </a:solidFill>
                <a:latin typeface="Consolas"/>
              </a:rPr>
              <a:t>        </a:t>
            </a:r>
            <a:r>
              <a:rPr b="0" lang="en-US" sz="1300" spc="-1" strike="noStrike">
                <a:solidFill>
                  <a:srgbClr val="2b91af"/>
                </a:solidFill>
                <a:latin typeface="Consolas"/>
              </a:rPr>
              <a:t>Console</a:t>
            </a:r>
            <a:r>
              <a:rPr b="0" lang="en-US" sz="1300" spc="-1" strike="noStrike">
                <a:solidFill>
                  <a:srgbClr val="1e1e1e"/>
                </a:solidFill>
                <a:latin typeface="Consolas"/>
              </a:rPr>
              <a:t>.</a:t>
            </a:r>
            <a:r>
              <a:rPr b="0" lang="en-US" sz="1300" spc="-1" strike="noStrike">
                <a:solidFill>
                  <a:srgbClr val="74531f"/>
                </a:solidFill>
                <a:latin typeface="Consolas"/>
              </a:rPr>
              <a:t>WriteLine</a:t>
            </a:r>
            <a:r>
              <a:rPr b="0" lang="en-US" sz="1300" spc="-1" strike="noStrike">
                <a:solidFill>
                  <a:srgbClr val="1e1e1e"/>
                </a:solidFill>
                <a:latin typeface="Consolas"/>
              </a:rPr>
              <a:t>(</a:t>
            </a:r>
            <a:r>
              <a:rPr b="0" lang="en-US" sz="1300" spc="-1" strike="noStrike">
                <a:solidFill>
                  <a:srgbClr val="74531f"/>
                </a:solidFill>
                <a:latin typeface="Consolas"/>
              </a:rPr>
              <a:t>Obsah</a:t>
            </a:r>
            <a:r>
              <a:rPr b="0" lang="en-US" sz="1300" spc="-1" strike="noStrike">
                <a:solidFill>
                  <a:srgbClr val="1e1e1e"/>
                </a:solidFill>
                <a:latin typeface="Consolas"/>
              </a:rPr>
              <a:t>());</a:t>
            </a:r>
            <a:endParaRPr b="0" lang="cs-CZ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1e1e1e"/>
                </a:solidFill>
                <a:latin typeface="Consolas"/>
              </a:rPr>
              <a:t>}</a:t>
            </a:r>
            <a:endParaRPr b="0" lang="cs-CZ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1e1e1e"/>
                </a:solidFill>
                <a:latin typeface="Consolas"/>
              </a:rPr>
              <a:t> </a:t>
            </a:r>
            <a:endParaRPr b="0" lang="cs-CZ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0000ff"/>
                </a:solidFill>
                <a:latin typeface="Consolas"/>
              </a:rPr>
              <a:t>class</a:t>
            </a:r>
            <a:r>
              <a:rPr b="0" lang="en-US" sz="1300" spc="-1" strike="noStrike">
                <a:solidFill>
                  <a:srgbClr val="1e1e1e"/>
                </a:solidFill>
                <a:latin typeface="Consolas"/>
              </a:rPr>
              <a:t> </a:t>
            </a:r>
            <a:r>
              <a:rPr b="0" lang="en-US" sz="1300" spc="-1" strike="noStrike">
                <a:solidFill>
                  <a:srgbClr val="2b91af"/>
                </a:solidFill>
                <a:latin typeface="Consolas"/>
              </a:rPr>
              <a:t>Kruh</a:t>
            </a:r>
            <a:r>
              <a:rPr b="0" lang="en-US" sz="1300" spc="-1" strike="noStrike">
                <a:solidFill>
                  <a:srgbClr val="1e1e1e"/>
                </a:solidFill>
                <a:latin typeface="Consolas"/>
              </a:rPr>
              <a:t> : </a:t>
            </a:r>
            <a:r>
              <a:rPr b="0" lang="en-US" sz="1300" spc="-1" strike="noStrike">
                <a:solidFill>
                  <a:srgbClr val="2b91af"/>
                </a:solidFill>
                <a:latin typeface="Consolas"/>
              </a:rPr>
              <a:t>Tvar</a:t>
            </a:r>
            <a:endParaRPr b="0" lang="cs-CZ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1e1e1e"/>
                </a:solidFill>
                <a:latin typeface="Consolas"/>
              </a:rPr>
              <a:t>{</a:t>
            </a:r>
            <a:endParaRPr b="0" lang="cs-CZ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1e1e1e"/>
                </a:solidFill>
                <a:latin typeface="Consolas"/>
              </a:rPr>
              <a:t>    </a:t>
            </a:r>
            <a:r>
              <a:rPr b="0" lang="en-US" sz="1300" spc="-1" strike="noStrike">
                <a:solidFill>
                  <a:srgbClr val="0000ff"/>
                </a:solidFill>
                <a:latin typeface="Consolas"/>
              </a:rPr>
              <a:t>public</a:t>
            </a:r>
            <a:r>
              <a:rPr b="0" lang="en-US" sz="1300" spc="-1" strike="noStrike">
                <a:solidFill>
                  <a:srgbClr val="1e1e1e"/>
                </a:solidFill>
                <a:latin typeface="Consolas"/>
              </a:rPr>
              <a:t> </a:t>
            </a:r>
            <a:r>
              <a:rPr b="0" lang="en-US" sz="1300" spc="-1" strike="noStrike">
                <a:solidFill>
                  <a:srgbClr val="0000ff"/>
                </a:solidFill>
                <a:latin typeface="Consolas"/>
              </a:rPr>
              <a:t>double</a:t>
            </a:r>
            <a:r>
              <a:rPr b="0" lang="en-US" sz="1300" spc="-1" strike="noStrike">
                <a:solidFill>
                  <a:srgbClr val="1e1e1e"/>
                </a:solidFill>
                <a:latin typeface="Consolas"/>
              </a:rPr>
              <a:t> R { </a:t>
            </a:r>
            <a:r>
              <a:rPr b="0" lang="en-US" sz="1300" spc="-1" strike="noStrike">
                <a:solidFill>
                  <a:srgbClr val="0000ff"/>
                </a:solidFill>
                <a:latin typeface="Consolas"/>
              </a:rPr>
              <a:t>get</a:t>
            </a:r>
            <a:r>
              <a:rPr b="0" lang="en-US" sz="1300" spc="-1" strike="noStrike">
                <a:solidFill>
                  <a:srgbClr val="1e1e1e"/>
                </a:solidFill>
                <a:latin typeface="Consolas"/>
              </a:rPr>
              <a:t>; </a:t>
            </a:r>
            <a:r>
              <a:rPr b="0" lang="en-US" sz="1300" spc="-1" strike="noStrike">
                <a:solidFill>
                  <a:srgbClr val="0000ff"/>
                </a:solidFill>
                <a:latin typeface="Consolas"/>
              </a:rPr>
              <a:t>set</a:t>
            </a:r>
            <a:r>
              <a:rPr b="0" lang="en-US" sz="1300" spc="-1" strike="noStrike">
                <a:solidFill>
                  <a:srgbClr val="1e1e1e"/>
                </a:solidFill>
                <a:latin typeface="Consolas"/>
              </a:rPr>
              <a:t>; }</a:t>
            </a:r>
            <a:endParaRPr b="0" lang="cs-CZ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1e1e1e"/>
                </a:solidFill>
                <a:latin typeface="Consolas"/>
              </a:rPr>
              <a:t>    </a:t>
            </a:r>
            <a:r>
              <a:rPr b="0" lang="en-US" sz="1300" spc="-1" strike="noStrike">
                <a:solidFill>
                  <a:srgbClr val="0000ff"/>
                </a:solidFill>
                <a:latin typeface="Consolas"/>
              </a:rPr>
              <a:t>public</a:t>
            </a:r>
            <a:r>
              <a:rPr b="0" lang="en-US" sz="1300" spc="-1" strike="noStrike">
                <a:solidFill>
                  <a:srgbClr val="1e1e1e"/>
                </a:solidFill>
                <a:latin typeface="Consolas"/>
              </a:rPr>
              <a:t> </a:t>
            </a:r>
            <a:r>
              <a:rPr b="0" lang="en-US" sz="1300" spc="-1" strike="noStrike">
                <a:solidFill>
                  <a:srgbClr val="0000ff"/>
                </a:solidFill>
                <a:latin typeface="Consolas"/>
              </a:rPr>
              <a:t>override</a:t>
            </a:r>
            <a:r>
              <a:rPr b="0" lang="en-US" sz="1300" spc="-1" strike="noStrike">
                <a:solidFill>
                  <a:srgbClr val="1e1e1e"/>
                </a:solidFill>
                <a:latin typeface="Consolas"/>
              </a:rPr>
              <a:t> </a:t>
            </a:r>
            <a:r>
              <a:rPr b="0" lang="en-US" sz="1300" spc="-1" strike="noStrike">
                <a:solidFill>
                  <a:srgbClr val="0000ff"/>
                </a:solidFill>
                <a:latin typeface="Consolas"/>
              </a:rPr>
              <a:t>double</a:t>
            </a:r>
            <a:r>
              <a:rPr b="0" lang="en-US" sz="1300" spc="-1" strike="noStrike">
                <a:solidFill>
                  <a:srgbClr val="1e1e1e"/>
                </a:solidFill>
                <a:latin typeface="Consolas"/>
              </a:rPr>
              <a:t> </a:t>
            </a:r>
            <a:r>
              <a:rPr b="0" lang="en-US" sz="1300" spc="-1" strike="noStrike">
                <a:solidFill>
                  <a:srgbClr val="74531f"/>
                </a:solidFill>
                <a:latin typeface="Consolas"/>
              </a:rPr>
              <a:t>Obsah</a:t>
            </a:r>
            <a:r>
              <a:rPr b="0" lang="en-US" sz="1300" spc="-1" strike="noStrike">
                <a:solidFill>
                  <a:srgbClr val="1e1e1e"/>
                </a:solidFill>
                <a:latin typeface="Consolas"/>
              </a:rPr>
              <a:t>()</a:t>
            </a:r>
            <a:endParaRPr b="0" lang="cs-CZ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1e1e1e"/>
                </a:solidFill>
                <a:latin typeface="Consolas"/>
              </a:rPr>
              <a:t>        </a:t>
            </a:r>
            <a:r>
              <a:rPr b="0" lang="en-US" sz="1300" spc="-1" strike="noStrike">
                <a:solidFill>
                  <a:srgbClr val="1e1e1e"/>
                </a:solidFill>
                <a:latin typeface="Consolas"/>
              </a:rPr>
              <a:t>=&gt; </a:t>
            </a:r>
            <a:r>
              <a:rPr b="0" lang="en-US" sz="1300" spc="-1" strike="noStrike">
                <a:solidFill>
                  <a:srgbClr val="2b91af"/>
                </a:solidFill>
                <a:latin typeface="Consolas"/>
              </a:rPr>
              <a:t>Math</a:t>
            </a:r>
            <a:r>
              <a:rPr b="0" lang="en-US" sz="1300" spc="-1" strike="noStrike">
                <a:solidFill>
                  <a:srgbClr val="1e1e1e"/>
                </a:solidFill>
                <a:latin typeface="Consolas"/>
              </a:rPr>
              <a:t>.PI * R * R;</a:t>
            </a:r>
            <a:endParaRPr b="0" lang="cs-CZ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1e1e1e"/>
                </a:solidFill>
                <a:latin typeface="Consolas"/>
              </a:rPr>
              <a:t>}</a:t>
            </a:r>
            <a:endParaRPr b="0" lang="cs-CZ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Kód"/>
          <p:cNvSpPr/>
          <p:nvPr/>
        </p:nvSpPr>
        <p:spPr>
          <a:xfrm>
            <a:off x="6172200" y="3099960"/>
            <a:ext cx="5182920" cy="2999520"/>
          </a:xfrm>
          <a:prstGeom prst="roundRect">
            <a:avLst>
              <a:gd name="adj" fmla="val 4000"/>
            </a:avLst>
          </a:prstGeom>
          <a:solidFill>
            <a:srgbClr val="f4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164520" rIns="164520" tIns="164520" bIns="16452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ff"/>
                </a:solidFill>
                <a:latin typeface="Consolas"/>
              </a:rPr>
              <a:t>interface</a:t>
            </a:r>
            <a:r>
              <a:rPr b="0" lang="en-US" sz="1200" spc="-1" strike="noStrike">
                <a:solidFill>
                  <a:srgbClr val="1e1e1e"/>
                </a:solidFill>
                <a:latin typeface="Consolas"/>
              </a:rPr>
              <a:t> </a:t>
            </a:r>
            <a:r>
              <a:rPr b="0" lang="en-US" sz="1200" spc="-1" strike="noStrike">
                <a:solidFill>
                  <a:srgbClr val="2b91af"/>
                </a:solidFill>
                <a:latin typeface="Consolas"/>
              </a:rPr>
              <a:t>IPohyblivy</a:t>
            </a:r>
            <a:endParaRPr b="0" lang="cs-CZ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1e1e1e"/>
                </a:solidFill>
                <a:latin typeface="Consolas"/>
              </a:rPr>
              <a:t>{</a:t>
            </a:r>
            <a:endParaRPr b="0" lang="cs-CZ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1e1e1e"/>
                </a:solidFill>
                <a:latin typeface="Consolas"/>
              </a:rPr>
              <a:t>    </a:t>
            </a:r>
            <a:r>
              <a:rPr b="0" lang="en-US" sz="1200" spc="-1" strike="noStrike">
                <a:solidFill>
                  <a:srgbClr val="0000ff"/>
                </a:solidFill>
                <a:latin typeface="Consolas"/>
              </a:rPr>
              <a:t>void</a:t>
            </a:r>
            <a:r>
              <a:rPr b="0" lang="en-US" sz="1200" spc="-1" strike="noStrike">
                <a:solidFill>
                  <a:srgbClr val="1e1e1e"/>
                </a:solidFill>
                <a:latin typeface="Consolas"/>
              </a:rPr>
              <a:t> </a:t>
            </a:r>
            <a:r>
              <a:rPr b="0" lang="en-US" sz="1200" spc="-1" strike="noStrike">
                <a:solidFill>
                  <a:srgbClr val="74531f"/>
                </a:solidFill>
                <a:latin typeface="Consolas"/>
              </a:rPr>
              <a:t>Posun</a:t>
            </a:r>
            <a:r>
              <a:rPr b="0" lang="en-US" sz="1200" spc="-1" strike="noStrike">
                <a:solidFill>
                  <a:srgbClr val="1e1e1e"/>
                </a:solidFill>
                <a:latin typeface="Consolas"/>
              </a:rPr>
              <a:t>(</a:t>
            </a:r>
            <a:r>
              <a:rPr b="0" lang="en-US" sz="1200" spc="-1" strike="noStrike">
                <a:solidFill>
                  <a:srgbClr val="0000ff"/>
                </a:solidFill>
                <a:latin typeface="Consolas"/>
              </a:rPr>
              <a:t>int</a:t>
            </a:r>
            <a:r>
              <a:rPr b="0" lang="en-US" sz="1200" spc="-1" strike="noStrike">
                <a:solidFill>
                  <a:srgbClr val="1e1e1e"/>
                </a:solidFill>
                <a:latin typeface="Consolas"/>
              </a:rPr>
              <a:t> dx, </a:t>
            </a:r>
            <a:r>
              <a:rPr b="0" lang="en-US" sz="1200" spc="-1" strike="noStrike">
                <a:solidFill>
                  <a:srgbClr val="0000ff"/>
                </a:solidFill>
                <a:latin typeface="Consolas"/>
              </a:rPr>
              <a:t>int</a:t>
            </a:r>
            <a:r>
              <a:rPr b="0" lang="en-US" sz="1200" spc="-1" strike="noStrike">
                <a:solidFill>
                  <a:srgbClr val="1e1e1e"/>
                </a:solidFill>
                <a:latin typeface="Consolas"/>
              </a:rPr>
              <a:t> dy);</a:t>
            </a:r>
            <a:endParaRPr b="0" lang="cs-CZ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1e1e1e"/>
                </a:solidFill>
                <a:latin typeface="Consolas"/>
              </a:rPr>
              <a:t>}</a:t>
            </a:r>
            <a:endParaRPr b="0" lang="cs-CZ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1e1e1e"/>
                </a:solidFill>
                <a:latin typeface="Consolas"/>
              </a:rPr>
              <a:t> </a:t>
            </a:r>
            <a:endParaRPr b="0" lang="cs-CZ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ff"/>
                </a:solidFill>
                <a:latin typeface="Consolas"/>
              </a:rPr>
              <a:t>class</a:t>
            </a:r>
            <a:r>
              <a:rPr b="0" lang="en-US" sz="1200" spc="-1" strike="noStrike">
                <a:solidFill>
                  <a:srgbClr val="1e1e1e"/>
                </a:solidFill>
                <a:latin typeface="Consolas"/>
              </a:rPr>
              <a:t> </a:t>
            </a:r>
            <a:r>
              <a:rPr b="0" lang="en-US" sz="1200" spc="-1" strike="noStrike">
                <a:solidFill>
                  <a:srgbClr val="2b91af"/>
                </a:solidFill>
                <a:latin typeface="Consolas"/>
              </a:rPr>
              <a:t>Hrac</a:t>
            </a:r>
            <a:r>
              <a:rPr b="0" lang="en-US" sz="1200" spc="-1" strike="noStrike">
                <a:solidFill>
                  <a:srgbClr val="1e1e1e"/>
                </a:solidFill>
                <a:latin typeface="Consolas"/>
              </a:rPr>
              <a:t> : </a:t>
            </a:r>
            <a:r>
              <a:rPr b="0" lang="en-US" sz="1200" spc="-1" strike="noStrike">
                <a:solidFill>
                  <a:srgbClr val="2b91af"/>
                </a:solidFill>
                <a:latin typeface="Consolas"/>
              </a:rPr>
              <a:t>IPohyblivy</a:t>
            </a:r>
            <a:endParaRPr b="0" lang="cs-CZ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1e1e1e"/>
                </a:solidFill>
                <a:latin typeface="Consolas"/>
              </a:rPr>
              <a:t>{</a:t>
            </a:r>
            <a:endParaRPr b="0" lang="cs-CZ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1e1e1e"/>
                </a:solidFill>
                <a:latin typeface="Consolas"/>
              </a:rPr>
              <a:t>    </a:t>
            </a:r>
            <a:r>
              <a:rPr b="0" lang="en-US" sz="1200" spc="-1" strike="noStrike">
                <a:solidFill>
                  <a:srgbClr val="0000ff"/>
                </a:solidFill>
                <a:latin typeface="Consolas"/>
              </a:rPr>
              <a:t>public</a:t>
            </a:r>
            <a:r>
              <a:rPr b="0" lang="en-US" sz="1200" spc="-1" strike="noStrike">
                <a:solidFill>
                  <a:srgbClr val="1e1e1e"/>
                </a:solidFill>
                <a:latin typeface="Consolas"/>
              </a:rPr>
              <a:t> </a:t>
            </a:r>
            <a:r>
              <a:rPr b="0" lang="en-US" sz="1200" spc="-1" strike="noStrike">
                <a:solidFill>
                  <a:srgbClr val="0000ff"/>
                </a:solidFill>
                <a:latin typeface="Consolas"/>
              </a:rPr>
              <a:t>int</a:t>
            </a:r>
            <a:r>
              <a:rPr b="0" lang="en-US" sz="1200" spc="-1" strike="noStrike">
                <a:solidFill>
                  <a:srgbClr val="1e1e1e"/>
                </a:solidFill>
                <a:latin typeface="Consolas"/>
              </a:rPr>
              <a:t> X { </a:t>
            </a:r>
            <a:r>
              <a:rPr b="0" lang="en-US" sz="1200" spc="-1" strike="noStrike">
                <a:solidFill>
                  <a:srgbClr val="0000ff"/>
                </a:solidFill>
                <a:latin typeface="Consolas"/>
              </a:rPr>
              <a:t>get</a:t>
            </a:r>
            <a:r>
              <a:rPr b="0" lang="en-US" sz="1200" spc="-1" strike="noStrike">
                <a:solidFill>
                  <a:srgbClr val="1e1e1e"/>
                </a:solidFill>
                <a:latin typeface="Consolas"/>
              </a:rPr>
              <a:t>; </a:t>
            </a:r>
            <a:r>
              <a:rPr b="0" lang="en-US" sz="1200" spc="-1" strike="noStrike">
                <a:solidFill>
                  <a:srgbClr val="0000ff"/>
                </a:solidFill>
                <a:latin typeface="Consolas"/>
              </a:rPr>
              <a:t>private</a:t>
            </a:r>
            <a:r>
              <a:rPr b="0" lang="en-US" sz="1200" spc="-1" strike="noStrike">
                <a:solidFill>
                  <a:srgbClr val="1e1e1e"/>
                </a:solidFill>
                <a:latin typeface="Consolas"/>
              </a:rPr>
              <a:t> </a:t>
            </a:r>
            <a:r>
              <a:rPr b="0" lang="en-US" sz="1200" spc="-1" strike="noStrike">
                <a:solidFill>
                  <a:srgbClr val="0000ff"/>
                </a:solidFill>
                <a:latin typeface="Consolas"/>
              </a:rPr>
              <a:t>set</a:t>
            </a:r>
            <a:r>
              <a:rPr b="0" lang="en-US" sz="1200" spc="-1" strike="noStrike">
                <a:solidFill>
                  <a:srgbClr val="1e1e1e"/>
                </a:solidFill>
                <a:latin typeface="Consolas"/>
              </a:rPr>
              <a:t>; }</a:t>
            </a:r>
            <a:endParaRPr b="0" lang="cs-CZ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1e1e1e"/>
                </a:solidFill>
                <a:latin typeface="Consolas"/>
              </a:rPr>
              <a:t>    </a:t>
            </a:r>
            <a:r>
              <a:rPr b="0" lang="en-US" sz="1200" spc="-1" strike="noStrike">
                <a:solidFill>
                  <a:srgbClr val="0000ff"/>
                </a:solidFill>
                <a:latin typeface="Consolas"/>
              </a:rPr>
              <a:t>public</a:t>
            </a:r>
            <a:r>
              <a:rPr b="0" lang="en-US" sz="1200" spc="-1" strike="noStrike">
                <a:solidFill>
                  <a:srgbClr val="1e1e1e"/>
                </a:solidFill>
                <a:latin typeface="Consolas"/>
              </a:rPr>
              <a:t> </a:t>
            </a:r>
            <a:r>
              <a:rPr b="0" lang="en-US" sz="1200" spc="-1" strike="noStrike">
                <a:solidFill>
                  <a:srgbClr val="0000ff"/>
                </a:solidFill>
                <a:latin typeface="Consolas"/>
              </a:rPr>
              <a:t>int</a:t>
            </a:r>
            <a:r>
              <a:rPr b="0" lang="en-US" sz="1200" spc="-1" strike="noStrike">
                <a:solidFill>
                  <a:srgbClr val="1e1e1e"/>
                </a:solidFill>
                <a:latin typeface="Consolas"/>
              </a:rPr>
              <a:t> Y { </a:t>
            </a:r>
            <a:r>
              <a:rPr b="0" lang="en-US" sz="1200" spc="-1" strike="noStrike">
                <a:solidFill>
                  <a:srgbClr val="0000ff"/>
                </a:solidFill>
                <a:latin typeface="Consolas"/>
              </a:rPr>
              <a:t>get</a:t>
            </a:r>
            <a:r>
              <a:rPr b="0" lang="en-US" sz="1200" spc="-1" strike="noStrike">
                <a:solidFill>
                  <a:srgbClr val="1e1e1e"/>
                </a:solidFill>
                <a:latin typeface="Consolas"/>
              </a:rPr>
              <a:t>; </a:t>
            </a:r>
            <a:r>
              <a:rPr b="0" lang="en-US" sz="1200" spc="-1" strike="noStrike">
                <a:solidFill>
                  <a:srgbClr val="0000ff"/>
                </a:solidFill>
                <a:latin typeface="Consolas"/>
              </a:rPr>
              <a:t>private</a:t>
            </a:r>
            <a:r>
              <a:rPr b="0" lang="en-US" sz="1200" spc="-1" strike="noStrike">
                <a:solidFill>
                  <a:srgbClr val="1e1e1e"/>
                </a:solidFill>
                <a:latin typeface="Consolas"/>
              </a:rPr>
              <a:t> </a:t>
            </a:r>
            <a:r>
              <a:rPr b="0" lang="en-US" sz="1200" spc="-1" strike="noStrike">
                <a:solidFill>
                  <a:srgbClr val="0000ff"/>
                </a:solidFill>
                <a:latin typeface="Consolas"/>
              </a:rPr>
              <a:t>set</a:t>
            </a:r>
            <a:r>
              <a:rPr b="0" lang="en-US" sz="1200" spc="-1" strike="noStrike">
                <a:solidFill>
                  <a:srgbClr val="1e1e1e"/>
                </a:solidFill>
                <a:latin typeface="Consolas"/>
              </a:rPr>
              <a:t>; }</a:t>
            </a:r>
            <a:endParaRPr b="0" lang="cs-CZ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1e1e1e"/>
                </a:solidFill>
                <a:latin typeface="Consolas"/>
              </a:rPr>
              <a:t> </a:t>
            </a:r>
            <a:endParaRPr b="0" lang="cs-CZ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1e1e1e"/>
                </a:solidFill>
                <a:latin typeface="Consolas"/>
              </a:rPr>
              <a:t>    </a:t>
            </a:r>
            <a:r>
              <a:rPr b="0" lang="en-US" sz="1200" spc="-1" strike="noStrike">
                <a:solidFill>
                  <a:srgbClr val="0000ff"/>
                </a:solidFill>
                <a:latin typeface="Consolas"/>
              </a:rPr>
              <a:t>public</a:t>
            </a:r>
            <a:r>
              <a:rPr b="0" lang="en-US" sz="1200" spc="-1" strike="noStrike">
                <a:solidFill>
                  <a:srgbClr val="1e1e1e"/>
                </a:solidFill>
                <a:latin typeface="Consolas"/>
              </a:rPr>
              <a:t> </a:t>
            </a:r>
            <a:r>
              <a:rPr b="0" lang="en-US" sz="1200" spc="-1" strike="noStrike">
                <a:solidFill>
                  <a:srgbClr val="0000ff"/>
                </a:solidFill>
                <a:latin typeface="Consolas"/>
              </a:rPr>
              <a:t>void</a:t>
            </a:r>
            <a:r>
              <a:rPr b="0" lang="en-US" sz="1200" spc="-1" strike="noStrike">
                <a:solidFill>
                  <a:srgbClr val="1e1e1e"/>
                </a:solidFill>
                <a:latin typeface="Consolas"/>
              </a:rPr>
              <a:t> </a:t>
            </a:r>
            <a:r>
              <a:rPr b="0" lang="en-US" sz="1200" spc="-1" strike="noStrike">
                <a:solidFill>
                  <a:srgbClr val="74531f"/>
                </a:solidFill>
                <a:latin typeface="Consolas"/>
              </a:rPr>
              <a:t>Posun</a:t>
            </a:r>
            <a:r>
              <a:rPr b="0" lang="en-US" sz="1200" spc="-1" strike="noStrike">
                <a:solidFill>
                  <a:srgbClr val="1e1e1e"/>
                </a:solidFill>
                <a:latin typeface="Consolas"/>
              </a:rPr>
              <a:t>(</a:t>
            </a:r>
            <a:r>
              <a:rPr b="0" lang="en-US" sz="1200" spc="-1" strike="noStrike">
                <a:solidFill>
                  <a:srgbClr val="0000ff"/>
                </a:solidFill>
                <a:latin typeface="Consolas"/>
              </a:rPr>
              <a:t>int</a:t>
            </a:r>
            <a:r>
              <a:rPr b="0" lang="en-US" sz="1200" spc="-1" strike="noStrike">
                <a:solidFill>
                  <a:srgbClr val="1e1e1e"/>
                </a:solidFill>
                <a:latin typeface="Consolas"/>
              </a:rPr>
              <a:t> dx, </a:t>
            </a:r>
            <a:r>
              <a:rPr b="0" lang="en-US" sz="1200" spc="-1" strike="noStrike">
                <a:solidFill>
                  <a:srgbClr val="0000ff"/>
                </a:solidFill>
                <a:latin typeface="Consolas"/>
              </a:rPr>
              <a:t>int</a:t>
            </a:r>
            <a:r>
              <a:rPr b="0" lang="en-US" sz="1200" spc="-1" strike="noStrike">
                <a:solidFill>
                  <a:srgbClr val="1e1e1e"/>
                </a:solidFill>
                <a:latin typeface="Consolas"/>
              </a:rPr>
              <a:t> dy)</a:t>
            </a:r>
            <a:endParaRPr b="0" lang="cs-CZ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1e1e1e"/>
                </a:solidFill>
                <a:latin typeface="Consolas"/>
              </a:rPr>
              <a:t>    </a:t>
            </a:r>
            <a:r>
              <a:rPr b="0" lang="en-US" sz="1200" spc="-1" strike="noStrike">
                <a:solidFill>
                  <a:srgbClr val="1e1e1e"/>
                </a:solidFill>
                <a:latin typeface="Consolas"/>
              </a:rPr>
              <a:t>{</a:t>
            </a:r>
            <a:endParaRPr b="0" lang="cs-CZ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1e1e1e"/>
                </a:solidFill>
                <a:latin typeface="Consolas"/>
              </a:rPr>
              <a:t>        </a:t>
            </a:r>
            <a:r>
              <a:rPr b="0" lang="en-US" sz="1200" spc="-1" strike="noStrike">
                <a:solidFill>
                  <a:srgbClr val="1e1e1e"/>
                </a:solidFill>
                <a:latin typeface="Consolas"/>
              </a:rPr>
              <a:t>X += dx; Y += dy;</a:t>
            </a:r>
            <a:endParaRPr b="0" lang="cs-CZ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1e1e1e"/>
                </a:solidFill>
                <a:latin typeface="Consolas"/>
              </a:rPr>
              <a:t>    </a:t>
            </a:r>
            <a:r>
              <a:rPr b="0" lang="en-US" sz="1200" spc="-1" strike="noStrike">
                <a:solidFill>
                  <a:srgbClr val="1e1e1e"/>
                </a:solidFill>
                <a:latin typeface="Consolas"/>
              </a:rPr>
              <a:t>}</a:t>
            </a:r>
            <a:endParaRPr b="0" lang="cs-CZ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1e1e1e"/>
                </a:solidFill>
                <a:latin typeface="Consolas"/>
              </a:rPr>
              <a:t>}</a:t>
            </a:r>
            <a:endParaRPr b="0" lang="cs-CZ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title"/>
          </p:nvPr>
        </p:nvSpPr>
        <p:spPr>
          <a:xfrm>
            <a:off x="914400" y="1371600"/>
            <a:ext cx="10362960" cy="1187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0" lang="en-US" sz="4000" spc="-1" strike="noStrike">
                <a:solidFill>
                  <a:schemeClr val="dk1"/>
                </a:solidFill>
                <a:latin typeface="Grandview Display"/>
              </a:rPr>
              <a:t>Předdefinovaná rozhraní</a:t>
            </a:r>
            <a:endParaRPr b="0" lang="en-US" sz="40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153" name="PlaceHolder 2"/>
          <p:cNvSpPr>
            <a:spLocks noGrp="1"/>
          </p:cNvSpPr>
          <p:nvPr>
            <p:ph/>
          </p:nvPr>
        </p:nvSpPr>
        <p:spPr>
          <a:xfrm>
            <a:off x="914400" y="2649960"/>
            <a:ext cx="4699800" cy="3549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Knihovna .NET nabízí řadu rozhraní:</a:t>
            </a:r>
            <a:endParaRPr b="0" lang="en-US" sz="1600" spc="-1" strike="noStrike">
              <a:solidFill>
                <a:schemeClr val="dk1"/>
              </a:solidFill>
              <a:latin typeface="Grandview Display"/>
            </a:endParaRPr>
          </a:p>
          <a:p>
            <a:pPr lvl="1" marL="49392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1" lang="en-US" sz="1500" spc="-1" strike="noStrike">
                <a:solidFill>
                  <a:schemeClr val="dk1"/>
                </a:solidFill>
                <a:latin typeface="Grandview Display"/>
              </a:rPr>
              <a:t>IComparable&lt;T&gt;</a:t>
            </a:r>
            <a:r>
              <a:rPr b="0" lang="en-US" sz="1500" spc="-1" strike="noStrike">
                <a:solidFill>
                  <a:schemeClr val="dk1"/>
                </a:solidFill>
                <a:latin typeface="Grandview Display"/>
              </a:rPr>
              <a:t> – objekty lze porovnat a řadit</a:t>
            </a:r>
            <a:endParaRPr b="0" lang="en-US" sz="1500" spc="-1" strike="noStrike">
              <a:solidFill>
                <a:schemeClr val="dk1"/>
              </a:solidFill>
              <a:latin typeface="Grandview Display"/>
            </a:endParaRPr>
          </a:p>
          <a:p>
            <a:pPr lvl="1" marL="49392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1" lang="en-US" sz="1500" spc="-1" strike="noStrike">
                <a:solidFill>
                  <a:schemeClr val="dk1"/>
                </a:solidFill>
                <a:latin typeface="Grandview Display"/>
              </a:rPr>
              <a:t>IEnumerable&lt;T&gt;</a:t>
            </a:r>
            <a:r>
              <a:rPr b="0" lang="en-US" sz="1500" spc="-1" strike="noStrike">
                <a:solidFill>
                  <a:schemeClr val="dk1"/>
                </a:solidFill>
                <a:latin typeface="Grandview Display"/>
              </a:rPr>
              <a:t> – objekt lze procházet foreach</a:t>
            </a:r>
            <a:endParaRPr b="0" lang="en-US" sz="1500" spc="-1" strike="noStrike">
              <a:solidFill>
                <a:schemeClr val="dk1"/>
              </a:solidFill>
              <a:latin typeface="Grandview Display"/>
            </a:endParaRPr>
          </a:p>
          <a:p>
            <a:pPr lvl="1" marL="49392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1" lang="en-US" sz="1500" spc="-1" strike="noStrike">
                <a:solidFill>
                  <a:schemeClr val="dk1"/>
                </a:solidFill>
                <a:latin typeface="Grandview Display"/>
              </a:rPr>
              <a:t>IDisposable</a:t>
            </a:r>
            <a:r>
              <a:rPr b="0" lang="en-US" sz="1500" spc="-1" strike="noStrike">
                <a:solidFill>
                  <a:schemeClr val="dk1"/>
                </a:solidFill>
                <a:latin typeface="Grandview Display"/>
              </a:rPr>
              <a:t> – objekt uvolňuje prostředky</a:t>
            </a:r>
            <a:endParaRPr b="0" lang="en-US" sz="1500" spc="-1" strike="noStrike">
              <a:solidFill>
                <a:schemeClr val="dk1"/>
              </a:solidFill>
              <a:latin typeface="Grandview Display"/>
            </a:endParaRPr>
          </a:p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Implementací rozhraní získáme hotové funkce knihovny</a:t>
            </a:r>
            <a:endParaRPr b="0" lang="en-US" sz="1600" spc="-1" strike="noStrike">
              <a:solidFill>
                <a:schemeClr val="dk1"/>
              </a:solidFill>
              <a:latin typeface="Grandview Display"/>
            </a:endParaRPr>
          </a:p>
          <a:p>
            <a:pPr lvl="1" marL="49392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500" spc="-1" strike="noStrike">
                <a:solidFill>
                  <a:schemeClr val="dk1"/>
                </a:solidFill>
                <a:latin typeface="Grandview Display"/>
              </a:rPr>
              <a:t>např. </a:t>
            </a:r>
            <a:r>
              <a:rPr b="0" lang="en-US" sz="1500" spc="-1" strike="noStrike">
                <a:solidFill>
                  <a:schemeClr val="dk1"/>
                </a:solidFill>
                <a:latin typeface="Consolas"/>
              </a:rPr>
              <a:t>List.Sort()</a:t>
            </a:r>
            <a:r>
              <a:rPr b="0" lang="en-US" sz="1500" spc="-1" strike="noStrike">
                <a:solidFill>
                  <a:schemeClr val="dk1"/>
                </a:solidFill>
                <a:latin typeface="Grandview Display"/>
              </a:rPr>
              <a:t> umí řadit naše objekty</a:t>
            </a:r>
            <a:endParaRPr b="0" lang="en-US" sz="1500" spc="-1" strike="noStrike">
              <a:solidFill>
                <a:schemeClr val="dk1"/>
              </a:solidFill>
              <a:latin typeface="Grandview Display"/>
            </a:endParaRPr>
          </a:p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Konvence: název rozhraní začíná písmenem </a:t>
            </a:r>
            <a:r>
              <a:rPr b="1" lang="en-US" sz="1600" spc="-1" strike="noStrike">
                <a:solidFill>
                  <a:schemeClr val="dk1"/>
                </a:solidFill>
                <a:latin typeface="Grandview Display"/>
              </a:rPr>
              <a:t>I</a:t>
            </a:r>
            <a:endParaRPr b="0" lang="en-US" sz="16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154" name="PlaceHolder 3"/>
          <p:cNvSpPr>
            <a:spLocks noGrp="1"/>
          </p:cNvSpPr>
          <p:nvPr>
            <p:ph type="dt" idx="61"/>
          </p:nvPr>
        </p:nvSpPr>
        <p:spPr>
          <a:xfrm>
            <a:off x="91260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spcAft>
                <a:spcPts val="601"/>
              </a:spcAft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defTabSz="457200">
              <a:lnSpc>
                <a:spcPct val="100000"/>
              </a:lnSpc>
              <a:spcAft>
                <a:spcPts val="601"/>
              </a:spcAft>
              <a:buNone/>
            </a:pPr>
            <a:fld id="{8D2FF475-D92A-4980-806B-7DC9F54DBA48}" type="datetime1"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10/02/2026</a:t>
            </a:fld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5" name="PlaceHolder 4"/>
          <p:cNvSpPr>
            <a:spLocks noGrp="1"/>
          </p:cNvSpPr>
          <p:nvPr>
            <p:ph type="sldNum" idx="62"/>
          </p:nvPr>
        </p:nvSpPr>
        <p:spPr>
          <a:xfrm>
            <a:off x="10807920" y="6356520"/>
            <a:ext cx="722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spcAft>
                <a:spcPts val="601"/>
              </a:spcAft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algn="r" defTabSz="457200">
              <a:lnSpc>
                <a:spcPct val="100000"/>
              </a:lnSpc>
              <a:spcAft>
                <a:spcPts val="601"/>
              </a:spcAft>
              <a:buNone/>
            </a:pPr>
            <a:fld id="{29EE4A56-358E-49D5-883C-20B06B0D52EE}" type="slidenum"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&lt;číslo&gt;</a:t>
            </a:fld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6" name="Kód"/>
          <p:cNvSpPr/>
          <p:nvPr/>
        </p:nvSpPr>
        <p:spPr>
          <a:xfrm>
            <a:off x="5799960" y="2649960"/>
            <a:ext cx="5477400" cy="3549600"/>
          </a:xfrm>
          <a:prstGeom prst="roundRect">
            <a:avLst>
              <a:gd name="adj" fmla="val 4000"/>
            </a:avLst>
          </a:prstGeom>
          <a:solidFill>
            <a:srgbClr val="f4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164520" rIns="164520" tIns="164520" bIns="16452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450" spc="-1" strike="noStrike">
                <a:solidFill>
                  <a:srgbClr val="0000ff"/>
                </a:solidFill>
                <a:latin typeface="Consolas"/>
              </a:rPr>
              <a:t>class</a:t>
            </a:r>
            <a:r>
              <a:rPr b="0" lang="en-US" sz="1450" spc="-1" strike="noStrike">
                <a:solidFill>
                  <a:srgbClr val="1e1e1e"/>
                </a:solidFill>
                <a:latin typeface="Consolas"/>
              </a:rPr>
              <a:t> </a:t>
            </a:r>
            <a:r>
              <a:rPr b="0" lang="en-US" sz="1450" spc="-1" strike="noStrike">
                <a:solidFill>
                  <a:srgbClr val="2b91af"/>
                </a:solidFill>
                <a:latin typeface="Consolas"/>
              </a:rPr>
              <a:t>Student</a:t>
            </a:r>
            <a:r>
              <a:rPr b="0" lang="en-US" sz="1450" spc="-1" strike="noStrike">
                <a:solidFill>
                  <a:srgbClr val="1e1e1e"/>
                </a:solidFill>
                <a:latin typeface="Consolas"/>
              </a:rPr>
              <a:t> : </a:t>
            </a:r>
            <a:r>
              <a:rPr b="0" lang="en-US" sz="1450" spc="-1" strike="noStrike">
                <a:solidFill>
                  <a:srgbClr val="2b91af"/>
                </a:solidFill>
                <a:latin typeface="Consolas"/>
              </a:rPr>
              <a:t>IComparable</a:t>
            </a:r>
            <a:r>
              <a:rPr b="0" lang="en-US" sz="1450" spc="-1" strike="noStrike">
                <a:solidFill>
                  <a:srgbClr val="1e1e1e"/>
                </a:solidFill>
                <a:latin typeface="Consolas"/>
              </a:rPr>
              <a:t>&lt;</a:t>
            </a:r>
            <a:r>
              <a:rPr b="0" lang="en-US" sz="1450" spc="-1" strike="noStrike">
                <a:solidFill>
                  <a:srgbClr val="2b91af"/>
                </a:solidFill>
                <a:latin typeface="Consolas"/>
              </a:rPr>
              <a:t>Student</a:t>
            </a:r>
            <a:r>
              <a:rPr b="0" lang="en-US" sz="1450" spc="-1" strike="noStrike">
                <a:solidFill>
                  <a:srgbClr val="1e1e1e"/>
                </a:solidFill>
                <a:latin typeface="Consolas"/>
              </a:rPr>
              <a:t>&gt;</a:t>
            </a:r>
            <a:endParaRPr b="0" lang="cs-CZ" sz="14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50" spc="-1" strike="noStrike">
                <a:solidFill>
                  <a:srgbClr val="1e1e1e"/>
                </a:solidFill>
                <a:latin typeface="Consolas"/>
              </a:rPr>
              <a:t>{</a:t>
            </a:r>
            <a:endParaRPr b="0" lang="cs-CZ" sz="14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50" spc="-1" strike="noStrike">
                <a:solidFill>
                  <a:srgbClr val="1e1e1e"/>
                </a:solidFill>
                <a:latin typeface="Consolas"/>
              </a:rPr>
              <a:t>    </a:t>
            </a:r>
            <a:r>
              <a:rPr b="0" lang="en-US" sz="1450" spc="-1" strike="noStrike">
                <a:solidFill>
                  <a:srgbClr val="0000ff"/>
                </a:solidFill>
                <a:latin typeface="Consolas"/>
              </a:rPr>
              <a:t>public</a:t>
            </a:r>
            <a:r>
              <a:rPr b="0" lang="en-US" sz="1450" spc="-1" strike="noStrike">
                <a:solidFill>
                  <a:srgbClr val="1e1e1e"/>
                </a:solidFill>
                <a:latin typeface="Consolas"/>
              </a:rPr>
              <a:t> </a:t>
            </a:r>
            <a:r>
              <a:rPr b="0" lang="en-US" sz="1450" spc="-1" strike="noStrike">
                <a:solidFill>
                  <a:srgbClr val="0000ff"/>
                </a:solidFill>
                <a:latin typeface="Consolas"/>
              </a:rPr>
              <a:t>string</a:t>
            </a:r>
            <a:r>
              <a:rPr b="0" lang="en-US" sz="1450" spc="-1" strike="noStrike">
                <a:solidFill>
                  <a:srgbClr val="1e1e1e"/>
                </a:solidFill>
                <a:latin typeface="Consolas"/>
              </a:rPr>
              <a:t> Jmeno { </a:t>
            </a:r>
            <a:r>
              <a:rPr b="0" lang="en-US" sz="1450" spc="-1" strike="noStrike">
                <a:solidFill>
                  <a:srgbClr val="0000ff"/>
                </a:solidFill>
                <a:latin typeface="Consolas"/>
              </a:rPr>
              <a:t>get</a:t>
            </a:r>
            <a:r>
              <a:rPr b="0" lang="en-US" sz="1450" spc="-1" strike="noStrike">
                <a:solidFill>
                  <a:srgbClr val="1e1e1e"/>
                </a:solidFill>
                <a:latin typeface="Consolas"/>
              </a:rPr>
              <a:t>; </a:t>
            </a:r>
            <a:r>
              <a:rPr b="0" lang="en-US" sz="1450" spc="-1" strike="noStrike">
                <a:solidFill>
                  <a:srgbClr val="0000ff"/>
                </a:solidFill>
                <a:latin typeface="Consolas"/>
              </a:rPr>
              <a:t>set</a:t>
            </a:r>
            <a:r>
              <a:rPr b="0" lang="en-US" sz="1450" spc="-1" strike="noStrike">
                <a:solidFill>
                  <a:srgbClr val="1e1e1e"/>
                </a:solidFill>
                <a:latin typeface="Consolas"/>
              </a:rPr>
              <a:t>; }</a:t>
            </a:r>
            <a:endParaRPr b="0" lang="cs-CZ" sz="14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50" spc="-1" strike="noStrike">
                <a:solidFill>
                  <a:srgbClr val="1e1e1e"/>
                </a:solidFill>
                <a:latin typeface="Consolas"/>
              </a:rPr>
              <a:t>    </a:t>
            </a:r>
            <a:r>
              <a:rPr b="0" lang="en-US" sz="1450" spc="-1" strike="noStrike">
                <a:solidFill>
                  <a:srgbClr val="0000ff"/>
                </a:solidFill>
                <a:latin typeface="Consolas"/>
              </a:rPr>
              <a:t>public</a:t>
            </a:r>
            <a:r>
              <a:rPr b="0" lang="en-US" sz="1450" spc="-1" strike="noStrike">
                <a:solidFill>
                  <a:srgbClr val="1e1e1e"/>
                </a:solidFill>
                <a:latin typeface="Consolas"/>
              </a:rPr>
              <a:t> </a:t>
            </a:r>
            <a:r>
              <a:rPr b="0" lang="en-US" sz="1450" spc="-1" strike="noStrike">
                <a:solidFill>
                  <a:srgbClr val="0000ff"/>
                </a:solidFill>
                <a:latin typeface="Consolas"/>
              </a:rPr>
              <a:t>double</a:t>
            </a:r>
            <a:r>
              <a:rPr b="0" lang="en-US" sz="1450" spc="-1" strike="noStrike">
                <a:solidFill>
                  <a:srgbClr val="1e1e1e"/>
                </a:solidFill>
                <a:latin typeface="Consolas"/>
              </a:rPr>
              <a:t> Prumer { </a:t>
            </a:r>
            <a:r>
              <a:rPr b="0" lang="en-US" sz="1450" spc="-1" strike="noStrike">
                <a:solidFill>
                  <a:srgbClr val="0000ff"/>
                </a:solidFill>
                <a:latin typeface="Consolas"/>
              </a:rPr>
              <a:t>get</a:t>
            </a:r>
            <a:r>
              <a:rPr b="0" lang="en-US" sz="1450" spc="-1" strike="noStrike">
                <a:solidFill>
                  <a:srgbClr val="1e1e1e"/>
                </a:solidFill>
                <a:latin typeface="Consolas"/>
              </a:rPr>
              <a:t>; </a:t>
            </a:r>
            <a:r>
              <a:rPr b="0" lang="en-US" sz="1450" spc="-1" strike="noStrike">
                <a:solidFill>
                  <a:srgbClr val="0000ff"/>
                </a:solidFill>
                <a:latin typeface="Consolas"/>
              </a:rPr>
              <a:t>set</a:t>
            </a:r>
            <a:r>
              <a:rPr b="0" lang="en-US" sz="1450" spc="-1" strike="noStrike">
                <a:solidFill>
                  <a:srgbClr val="1e1e1e"/>
                </a:solidFill>
                <a:latin typeface="Consolas"/>
              </a:rPr>
              <a:t>; }</a:t>
            </a:r>
            <a:endParaRPr b="0" lang="cs-CZ" sz="14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50" spc="-1" strike="noStrike">
                <a:solidFill>
                  <a:srgbClr val="1e1e1e"/>
                </a:solidFill>
                <a:latin typeface="Consolas"/>
              </a:rPr>
              <a:t> </a:t>
            </a:r>
            <a:endParaRPr b="0" lang="cs-CZ" sz="14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50" spc="-1" strike="noStrike">
                <a:solidFill>
                  <a:srgbClr val="1e1e1e"/>
                </a:solidFill>
                <a:latin typeface="Consolas"/>
              </a:rPr>
              <a:t>    </a:t>
            </a:r>
            <a:r>
              <a:rPr b="0" lang="en-US" sz="1450" spc="-1" strike="noStrike">
                <a:solidFill>
                  <a:srgbClr val="0000ff"/>
                </a:solidFill>
                <a:latin typeface="Consolas"/>
              </a:rPr>
              <a:t>public</a:t>
            </a:r>
            <a:r>
              <a:rPr b="0" lang="en-US" sz="1450" spc="-1" strike="noStrike">
                <a:solidFill>
                  <a:srgbClr val="1e1e1e"/>
                </a:solidFill>
                <a:latin typeface="Consolas"/>
              </a:rPr>
              <a:t> </a:t>
            </a:r>
            <a:r>
              <a:rPr b="0" lang="en-US" sz="1450" spc="-1" strike="noStrike">
                <a:solidFill>
                  <a:srgbClr val="0000ff"/>
                </a:solidFill>
                <a:latin typeface="Consolas"/>
              </a:rPr>
              <a:t>int</a:t>
            </a:r>
            <a:r>
              <a:rPr b="0" lang="en-US" sz="1450" spc="-1" strike="noStrike">
                <a:solidFill>
                  <a:srgbClr val="1e1e1e"/>
                </a:solidFill>
                <a:latin typeface="Consolas"/>
              </a:rPr>
              <a:t> </a:t>
            </a:r>
            <a:r>
              <a:rPr b="0" lang="en-US" sz="1450" spc="-1" strike="noStrike">
                <a:solidFill>
                  <a:srgbClr val="74531f"/>
                </a:solidFill>
                <a:latin typeface="Consolas"/>
              </a:rPr>
              <a:t>CompareTo</a:t>
            </a:r>
            <a:r>
              <a:rPr b="0" lang="en-US" sz="1450" spc="-1" strike="noStrike">
                <a:solidFill>
                  <a:srgbClr val="1e1e1e"/>
                </a:solidFill>
                <a:latin typeface="Consolas"/>
              </a:rPr>
              <a:t>(</a:t>
            </a:r>
            <a:r>
              <a:rPr b="0" lang="en-US" sz="1450" spc="-1" strike="noStrike">
                <a:solidFill>
                  <a:srgbClr val="2b91af"/>
                </a:solidFill>
                <a:latin typeface="Consolas"/>
              </a:rPr>
              <a:t>Student</a:t>
            </a:r>
            <a:r>
              <a:rPr b="0" lang="en-US" sz="1450" spc="-1" strike="noStrike">
                <a:solidFill>
                  <a:srgbClr val="1e1e1e"/>
                </a:solidFill>
                <a:latin typeface="Consolas"/>
              </a:rPr>
              <a:t> other)</a:t>
            </a:r>
            <a:endParaRPr b="0" lang="cs-CZ" sz="14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50" spc="-1" strike="noStrike">
                <a:solidFill>
                  <a:srgbClr val="1e1e1e"/>
                </a:solidFill>
                <a:latin typeface="Consolas"/>
              </a:rPr>
              <a:t>    </a:t>
            </a:r>
            <a:r>
              <a:rPr b="0" lang="en-US" sz="1450" spc="-1" strike="noStrike">
                <a:solidFill>
                  <a:srgbClr val="1e1e1e"/>
                </a:solidFill>
                <a:latin typeface="Consolas"/>
              </a:rPr>
              <a:t>{</a:t>
            </a:r>
            <a:endParaRPr b="0" lang="cs-CZ" sz="14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50" spc="-1" strike="noStrike">
                <a:solidFill>
                  <a:srgbClr val="1e1e1e"/>
                </a:solidFill>
                <a:latin typeface="Consolas"/>
              </a:rPr>
              <a:t>        </a:t>
            </a:r>
            <a:r>
              <a:rPr b="0" lang="en-US" sz="1450" spc="-1" strike="noStrike">
                <a:solidFill>
                  <a:srgbClr val="0000ff"/>
                </a:solidFill>
                <a:latin typeface="Consolas"/>
              </a:rPr>
              <a:t>return</a:t>
            </a:r>
            <a:r>
              <a:rPr b="0" lang="en-US" sz="1450" spc="-1" strike="noStrike">
                <a:solidFill>
                  <a:srgbClr val="1e1e1e"/>
                </a:solidFill>
                <a:latin typeface="Consolas"/>
              </a:rPr>
              <a:t> Prumer.</a:t>
            </a:r>
            <a:r>
              <a:rPr b="0" lang="en-US" sz="1450" spc="-1" strike="noStrike">
                <a:solidFill>
                  <a:srgbClr val="74531f"/>
                </a:solidFill>
                <a:latin typeface="Consolas"/>
              </a:rPr>
              <a:t>CompareTo</a:t>
            </a:r>
            <a:r>
              <a:rPr b="0" lang="en-US" sz="1450" spc="-1" strike="noStrike">
                <a:solidFill>
                  <a:srgbClr val="1e1e1e"/>
                </a:solidFill>
                <a:latin typeface="Consolas"/>
              </a:rPr>
              <a:t>(other.Prumer);</a:t>
            </a:r>
            <a:endParaRPr b="0" lang="cs-CZ" sz="14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50" spc="-1" strike="noStrike">
                <a:solidFill>
                  <a:srgbClr val="1e1e1e"/>
                </a:solidFill>
                <a:latin typeface="Consolas"/>
              </a:rPr>
              <a:t>    </a:t>
            </a:r>
            <a:r>
              <a:rPr b="0" lang="en-US" sz="1450" spc="-1" strike="noStrike">
                <a:solidFill>
                  <a:srgbClr val="1e1e1e"/>
                </a:solidFill>
                <a:latin typeface="Consolas"/>
              </a:rPr>
              <a:t>}</a:t>
            </a:r>
            <a:endParaRPr b="0" lang="cs-CZ" sz="14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50" spc="-1" strike="noStrike">
                <a:solidFill>
                  <a:srgbClr val="1e1e1e"/>
                </a:solidFill>
                <a:latin typeface="Consolas"/>
              </a:rPr>
              <a:t>}</a:t>
            </a:r>
            <a:endParaRPr b="0" lang="cs-CZ" sz="14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50" spc="-1" strike="noStrike">
                <a:solidFill>
                  <a:srgbClr val="1e1e1e"/>
                </a:solidFill>
                <a:latin typeface="Consolas"/>
              </a:rPr>
              <a:t> </a:t>
            </a:r>
            <a:endParaRPr b="0" lang="cs-CZ" sz="14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50" spc="-1" strike="noStrike">
                <a:solidFill>
                  <a:srgbClr val="2b91af"/>
                </a:solidFill>
                <a:latin typeface="Consolas"/>
              </a:rPr>
              <a:t>List</a:t>
            </a:r>
            <a:r>
              <a:rPr b="0" lang="en-US" sz="1450" spc="-1" strike="noStrike">
                <a:solidFill>
                  <a:srgbClr val="1e1e1e"/>
                </a:solidFill>
                <a:latin typeface="Consolas"/>
              </a:rPr>
              <a:t>&lt;</a:t>
            </a:r>
            <a:r>
              <a:rPr b="0" lang="en-US" sz="1450" spc="-1" strike="noStrike">
                <a:solidFill>
                  <a:srgbClr val="2b91af"/>
                </a:solidFill>
                <a:latin typeface="Consolas"/>
              </a:rPr>
              <a:t>Student</a:t>
            </a:r>
            <a:r>
              <a:rPr b="0" lang="en-US" sz="1450" spc="-1" strike="noStrike">
                <a:solidFill>
                  <a:srgbClr val="1e1e1e"/>
                </a:solidFill>
                <a:latin typeface="Consolas"/>
              </a:rPr>
              <a:t>&gt; trida = </a:t>
            </a:r>
            <a:r>
              <a:rPr b="0" lang="en-US" sz="1450" spc="-1" strike="noStrike">
                <a:solidFill>
                  <a:srgbClr val="74531f"/>
                </a:solidFill>
                <a:latin typeface="Consolas"/>
              </a:rPr>
              <a:t>NactiStudenty</a:t>
            </a:r>
            <a:r>
              <a:rPr b="0" lang="en-US" sz="1450" spc="-1" strike="noStrike">
                <a:solidFill>
                  <a:srgbClr val="1e1e1e"/>
                </a:solidFill>
                <a:latin typeface="Consolas"/>
              </a:rPr>
              <a:t>();</a:t>
            </a:r>
            <a:endParaRPr b="0" lang="cs-CZ" sz="14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50" spc="-1" strike="noStrike">
                <a:solidFill>
                  <a:srgbClr val="1e1e1e"/>
                </a:solidFill>
                <a:latin typeface="Consolas"/>
              </a:rPr>
              <a:t>trida.</a:t>
            </a:r>
            <a:r>
              <a:rPr b="0" lang="en-US" sz="1450" spc="-1" strike="noStrike">
                <a:solidFill>
                  <a:srgbClr val="74531f"/>
                </a:solidFill>
                <a:latin typeface="Consolas"/>
              </a:rPr>
              <a:t>Sort</a:t>
            </a:r>
            <a:r>
              <a:rPr b="0" lang="en-US" sz="1450" spc="-1" strike="noStrike">
                <a:solidFill>
                  <a:srgbClr val="1e1e1e"/>
                </a:solidFill>
                <a:latin typeface="Consolas"/>
              </a:rPr>
              <a:t>();   </a:t>
            </a:r>
            <a:r>
              <a:rPr b="0" lang="en-US" sz="1450" spc="-1" strike="noStrike">
                <a:solidFill>
                  <a:srgbClr val="008000"/>
                </a:solidFill>
                <a:latin typeface="Consolas"/>
              </a:rPr>
              <a:t>// řadí podle průměru</a:t>
            </a:r>
            <a:endParaRPr b="0" lang="cs-CZ" sz="14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title"/>
          </p:nvPr>
        </p:nvSpPr>
        <p:spPr>
          <a:xfrm>
            <a:off x="912600" y="1371600"/>
            <a:ext cx="10442520" cy="939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0" lang="en-US" sz="4000" spc="-1" strike="noStrike">
                <a:solidFill>
                  <a:schemeClr val="dk1"/>
                </a:solidFill>
                <a:latin typeface="Grandview Display"/>
              </a:rPr>
              <a:t>Dědičnost a kompozice</a:t>
            </a:r>
            <a:endParaRPr b="0" lang="en-US" sz="40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158" name="PlaceHolder 2"/>
          <p:cNvSpPr>
            <a:spLocks noGrp="1"/>
          </p:cNvSpPr>
          <p:nvPr>
            <p:ph/>
          </p:nvPr>
        </p:nvSpPr>
        <p:spPr>
          <a:xfrm>
            <a:off x="912600" y="2311200"/>
            <a:ext cx="5084640" cy="69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1800" spc="299" strike="noStrike" cap="all">
                <a:solidFill>
                  <a:schemeClr val="dk1"/>
                </a:solidFill>
                <a:latin typeface="Grandview Display"/>
              </a:rPr>
              <a:t>Dědičnost – „je“ (is-a)</a:t>
            </a:r>
            <a:endParaRPr b="0" lang="en-US" sz="18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159" name="PlaceHolder 3"/>
          <p:cNvSpPr>
            <a:spLocks noGrp="1"/>
          </p:cNvSpPr>
          <p:nvPr>
            <p:ph/>
          </p:nvPr>
        </p:nvSpPr>
        <p:spPr>
          <a:xfrm>
            <a:off x="6172200" y="2311200"/>
            <a:ext cx="5182920" cy="69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1800" spc="299" strike="noStrike" cap="all">
                <a:solidFill>
                  <a:schemeClr val="dk1"/>
                </a:solidFill>
                <a:latin typeface="Grandview Display"/>
              </a:rPr>
              <a:t>Kompozice – „má“ (has-a)</a:t>
            </a:r>
            <a:endParaRPr b="0" lang="en-US" sz="18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160" name="PlaceHolder 4"/>
          <p:cNvSpPr>
            <a:spLocks noGrp="1"/>
          </p:cNvSpPr>
          <p:nvPr>
            <p:ph type="dt" idx="63"/>
          </p:nvPr>
        </p:nvSpPr>
        <p:spPr>
          <a:xfrm>
            <a:off x="91260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spcAft>
                <a:spcPts val="601"/>
              </a:spcAft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defTabSz="457200">
              <a:lnSpc>
                <a:spcPct val="100000"/>
              </a:lnSpc>
              <a:spcAft>
                <a:spcPts val="601"/>
              </a:spcAft>
              <a:buNone/>
            </a:pPr>
            <a:fld id="{92A9ACC7-8B91-48B1-878F-1B085ED7EDA7}" type="datetime1"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10/02/2026</a:t>
            </a:fld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1" name="PlaceHolder 5"/>
          <p:cNvSpPr>
            <a:spLocks noGrp="1"/>
          </p:cNvSpPr>
          <p:nvPr>
            <p:ph type="sldNum" idx="64"/>
          </p:nvPr>
        </p:nvSpPr>
        <p:spPr>
          <a:xfrm>
            <a:off x="10807920" y="6356520"/>
            <a:ext cx="722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spcAft>
                <a:spcPts val="601"/>
              </a:spcAft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algn="r" defTabSz="457200">
              <a:lnSpc>
                <a:spcPct val="100000"/>
              </a:lnSpc>
              <a:spcAft>
                <a:spcPts val="601"/>
              </a:spcAft>
              <a:buNone/>
            </a:pPr>
            <a:fld id="{43B5F3B9-0205-4F0A-99FF-51239B2B8FD9}" type="slidenum"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&lt;číslo&gt;</a:t>
            </a:fld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2" name="TextBox 14"/>
          <p:cNvSpPr/>
          <p:nvPr/>
        </p:nvSpPr>
        <p:spPr>
          <a:xfrm>
            <a:off x="912600" y="3080160"/>
            <a:ext cx="508464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chemeClr val="dk1"/>
                </a:solidFill>
                <a:latin typeface="Grandview Display"/>
              </a:rPr>
              <a:t>Potomek je speciálním případem předka</a:t>
            </a:r>
            <a:endParaRPr b="0" lang="cs-CZ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chemeClr val="dk1"/>
                </a:solidFill>
                <a:latin typeface="Grandview Display"/>
              </a:rPr>
              <a:t>Pevná vazba na předka</a:t>
            </a:r>
            <a:endParaRPr b="0" lang="cs-CZ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TextBox 15"/>
          <p:cNvSpPr/>
          <p:nvPr/>
        </p:nvSpPr>
        <p:spPr>
          <a:xfrm>
            <a:off x="6172200" y="3080160"/>
            <a:ext cx="518292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chemeClr val="dk1"/>
                </a:solidFill>
                <a:latin typeface="Grandview Display"/>
              </a:rPr>
              <a:t>Objekt obsahuje jiný objekt jako svou část</a:t>
            </a:r>
            <a:endParaRPr b="0" lang="cs-CZ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chemeClr val="dk1"/>
                </a:solidFill>
                <a:latin typeface="Grandview Display"/>
              </a:rPr>
              <a:t>Volnější vazba, snáze testovatelná</a:t>
            </a:r>
            <a:endParaRPr b="0" lang="cs-CZ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Kód"/>
          <p:cNvSpPr/>
          <p:nvPr/>
        </p:nvSpPr>
        <p:spPr>
          <a:xfrm>
            <a:off x="912600" y="3750120"/>
            <a:ext cx="5084640" cy="2399760"/>
          </a:xfrm>
          <a:prstGeom prst="roundRect">
            <a:avLst>
              <a:gd name="adj" fmla="val 4000"/>
            </a:avLst>
          </a:prstGeom>
          <a:solidFill>
            <a:srgbClr val="f4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164520" rIns="164520" tIns="164520" bIns="16452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0000ff"/>
                </a:solidFill>
                <a:latin typeface="Consolas"/>
              </a:rPr>
              <a:t>class</a:t>
            </a:r>
            <a:r>
              <a:rPr b="0" lang="en-US" sz="1600" spc="-1" strike="noStrike">
                <a:solidFill>
                  <a:srgbClr val="1e1e1e"/>
                </a:solidFill>
                <a:latin typeface="Consolas"/>
              </a:rPr>
              <a:t> </a:t>
            </a:r>
            <a:r>
              <a:rPr b="0" lang="en-US" sz="1600" spc="-1" strike="noStrike">
                <a:solidFill>
                  <a:srgbClr val="2b91af"/>
                </a:solidFill>
                <a:latin typeface="Consolas"/>
              </a:rPr>
              <a:t>Auto</a:t>
            </a:r>
            <a:r>
              <a:rPr b="0" lang="en-US" sz="1600" spc="-1" strike="noStrike">
                <a:solidFill>
                  <a:srgbClr val="1e1e1e"/>
                </a:solidFill>
                <a:latin typeface="Consolas"/>
              </a:rPr>
              <a:t> : </a:t>
            </a:r>
            <a:r>
              <a:rPr b="0" lang="en-US" sz="1600" spc="-1" strike="noStrike">
                <a:solidFill>
                  <a:srgbClr val="2b91af"/>
                </a:solidFill>
                <a:latin typeface="Consolas"/>
              </a:rPr>
              <a:t>Vozidlo</a:t>
            </a:r>
            <a:r>
              <a:rPr b="0" lang="en-US" sz="1600" spc="-1" strike="noStrike">
                <a:solidFill>
                  <a:srgbClr val="1e1e1e"/>
                </a:solidFill>
                <a:latin typeface="Consolas"/>
              </a:rPr>
              <a:t> { }</a:t>
            </a:r>
            <a:endParaRPr b="0" lang="cs-CZ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008000"/>
                </a:solidFill>
                <a:latin typeface="Consolas"/>
              </a:rPr>
              <a:t>// Auto JE Vozidlo</a:t>
            </a:r>
            <a:endParaRPr b="0" lang="cs-CZ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1e1e1e"/>
                </a:solidFill>
                <a:latin typeface="Consolas"/>
              </a:rPr>
              <a:t> </a:t>
            </a:r>
            <a:endParaRPr b="0" lang="cs-CZ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0000ff"/>
                </a:solidFill>
                <a:latin typeface="Consolas"/>
              </a:rPr>
              <a:t>class</a:t>
            </a:r>
            <a:r>
              <a:rPr b="0" lang="en-US" sz="1600" spc="-1" strike="noStrike">
                <a:solidFill>
                  <a:srgbClr val="1e1e1e"/>
                </a:solidFill>
                <a:latin typeface="Consolas"/>
              </a:rPr>
              <a:t> </a:t>
            </a:r>
            <a:r>
              <a:rPr b="0" lang="en-US" sz="1600" spc="-1" strike="noStrike">
                <a:solidFill>
                  <a:srgbClr val="2b91af"/>
                </a:solidFill>
                <a:latin typeface="Consolas"/>
              </a:rPr>
              <a:t>Pes</a:t>
            </a:r>
            <a:r>
              <a:rPr b="0" lang="en-US" sz="1600" spc="-1" strike="noStrike">
                <a:solidFill>
                  <a:srgbClr val="1e1e1e"/>
                </a:solidFill>
                <a:latin typeface="Consolas"/>
              </a:rPr>
              <a:t> : </a:t>
            </a:r>
            <a:r>
              <a:rPr b="0" lang="en-US" sz="1600" spc="-1" strike="noStrike">
                <a:solidFill>
                  <a:srgbClr val="2b91af"/>
                </a:solidFill>
                <a:latin typeface="Consolas"/>
              </a:rPr>
              <a:t>Zvire</a:t>
            </a:r>
            <a:r>
              <a:rPr b="0" lang="en-US" sz="1600" spc="-1" strike="noStrike">
                <a:solidFill>
                  <a:srgbClr val="1e1e1e"/>
                </a:solidFill>
                <a:latin typeface="Consolas"/>
              </a:rPr>
              <a:t> { }</a:t>
            </a:r>
            <a:endParaRPr b="0" lang="cs-CZ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008000"/>
                </a:solidFill>
                <a:latin typeface="Consolas"/>
              </a:rPr>
              <a:t>// Pes JE Zvíře</a:t>
            </a:r>
            <a:endParaRPr b="0" lang="cs-CZ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Kód"/>
          <p:cNvSpPr/>
          <p:nvPr/>
        </p:nvSpPr>
        <p:spPr>
          <a:xfrm>
            <a:off x="6172200" y="3750120"/>
            <a:ext cx="5182920" cy="2399760"/>
          </a:xfrm>
          <a:prstGeom prst="roundRect">
            <a:avLst>
              <a:gd name="adj" fmla="val 4000"/>
            </a:avLst>
          </a:prstGeom>
          <a:solidFill>
            <a:srgbClr val="f4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164520" rIns="164520" tIns="164520" bIns="16452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0000ff"/>
                </a:solidFill>
                <a:latin typeface="Consolas"/>
              </a:rPr>
              <a:t>class</a:t>
            </a:r>
            <a:r>
              <a:rPr b="0" lang="en-US" sz="1600" spc="-1" strike="noStrike">
                <a:solidFill>
                  <a:srgbClr val="1e1e1e"/>
                </a:solidFill>
                <a:latin typeface="Consolas"/>
              </a:rPr>
              <a:t> </a:t>
            </a:r>
            <a:r>
              <a:rPr b="0" lang="en-US" sz="1600" spc="-1" strike="noStrike">
                <a:solidFill>
                  <a:srgbClr val="2b91af"/>
                </a:solidFill>
                <a:latin typeface="Consolas"/>
              </a:rPr>
              <a:t>Auto</a:t>
            </a:r>
            <a:endParaRPr b="0" lang="cs-CZ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1e1e1e"/>
                </a:solidFill>
                <a:latin typeface="Consolas"/>
              </a:rPr>
              <a:t>{</a:t>
            </a:r>
            <a:endParaRPr b="0" lang="cs-CZ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1e1e1e"/>
                </a:solidFill>
                <a:latin typeface="Consolas"/>
              </a:rPr>
              <a:t>    </a:t>
            </a:r>
            <a:r>
              <a:rPr b="0" lang="en-US" sz="1600" spc="-1" strike="noStrike">
                <a:solidFill>
                  <a:srgbClr val="0000ff"/>
                </a:solidFill>
                <a:latin typeface="Consolas"/>
              </a:rPr>
              <a:t>private</a:t>
            </a:r>
            <a:r>
              <a:rPr b="0" lang="en-US" sz="1600" spc="-1" strike="noStrike">
                <a:solidFill>
                  <a:srgbClr val="1e1e1e"/>
                </a:solidFill>
                <a:latin typeface="Consolas"/>
              </a:rPr>
              <a:t> </a:t>
            </a:r>
            <a:r>
              <a:rPr b="0" lang="en-US" sz="1600" spc="-1" strike="noStrike">
                <a:solidFill>
                  <a:srgbClr val="2b91af"/>
                </a:solidFill>
                <a:latin typeface="Consolas"/>
              </a:rPr>
              <a:t>Motor</a:t>
            </a:r>
            <a:r>
              <a:rPr b="0" lang="en-US" sz="1600" spc="-1" strike="noStrike">
                <a:solidFill>
                  <a:srgbClr val="1e1e1e"/>
                </a:solidFill>
                <a:latin typeface="Consolas"/>
              </a:rPr>
              <a:t> motor = </a:t>
            </a:r>
            <a:r>
              <a:rPr b="0" lang="en-US" sz="1600" spc="-1" strike="noStrike">
                <a:solidFill>
                  <a:srgbClr val="0000ff"/>
                </a:solidFill>
                <a:latin typeface="Consolas"/>
              </a:rPr>
              <a:t>new</a:t>
            </a:r>
            <a:r>
              <a:rPr b="0" lang="en-US" sz="1600" spc="-1" strike="noStrike">
                <a:solidFill>
                  <a:srgbClr val="1e1e1e"/>
                </a:solidFill>
                <a:latin typeface="Consolas"/>
              </a:rPr>
              <a:t> </a:t>
            </a:r>
            <a:r>
              <a:rPr b="0" lang="en-US" sz="1600" spc="-1" strike="noStrike">
                <a:solidFill>
                  <a:srgbClr val="2b91af"/>
                </a:solidFill>
                <a:latin typeface="Consolas"/>
              </a:rPr>
              <a:t>Motor</a:t>
            </a:r>
            <a:r>
              <a:rPr b="0" lang="en-US" sz="1600" spc="-1" strike="noStrike">
                <a:solidFill>
                  <a:srgbClr val="1e1e1e"/>
                </a:solidFill>
                <a:latin typeface="Consolas"/>
              </a:rPr>
              <a:t>();</a:t>
            </a:r>
            <a:endParaRPr b="0" lang="cs-CZ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1e1e1e"/>
                </a:solidFill>
                <a:latin typeface="Consolas"/>
              </a:rPr>
              <a:t>}</a:t>
            </a:r>
            <a:endParaRPr b="0" lang="cs-CZ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008000"/>
                </a:solidFill>
                <a:latin typeface="Consolas"/>
              </a:rPr>
              <a:t>// Auto MÁ Motor</a:t>
            </a:r>
            <a:endParaRPr b="0" lang="cs-CZ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PlaceHolder 1"/>
          <p:cNvSpPr>
            <a:spLocks noGrp="1"/>
          </p:cNvSpPr>
          <p:nvPr>
            <p:ph type="title"/>
          </p:nvPr>
        </p:nvSpPr>
        <p:spPr>
          <a:xfrm>
            <a:off x="914400" y="1371600"/>
            <a:ext cx="10362960" cy="1187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0" lang="en-US" sz="4000" spc="-1" strike="noStrike">
                <a:solidFill>
                  <a:schemeClr val="dk1"/>
                </a:solidFill>
                <a:latin typeface="Grandview Display"/>
              </a:rPr>
              <a:t>Třída a struktura</a:t>
            </a:r>
            <a:endParaRPr b="0" lang="en-US" sz="40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167" name="PlaceHolder 2"/>
          <p:cNvSpPr>
            <a:spLocks noGrp="1"/>
          </p:cNvSpPr>
          <p:nvPr>
            <p:ph type="dt" idx="65"/>
          </p:nvPr>
        </p:nvSpPr>
        <p:spPr>
          <a:xfrm>
            <a:off x="91260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spcAft>
                <a:spcPts val="601"/>
              </a:spcAft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defTabSz="457200">
              <a:lnSpc>
                <a:spcPct val="100000"/>
              </a:lnSpc>
              <a:spcAft>
                <a:spcPts val="601"/>
              </a:spcAft>
              <a:buNone/>
            </a:pPr>
            <a:fld id="{1D6FEDB9-F785-4448-8634-8DBFDDD41E25}" type="datetime1"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10/02/2026</a:t>
            </a:fld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8" name="PlaceHolder 3"/>
          <p:cNvSpPr>
            <a:spLocks noGrp="1"/>
          </p:cNvSpPr>
          <p:nvPr>
            <p:ph type="sldNum" idx="66"/>
          </p:nvPr>
        </p:nvSpPr>
        <p:spPr>
          <a:xfrm>
            <a:off x="10807920" y="6356520"/>
            <a:ext cx="722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spcAft>
                <a:spcPts val="601"/>
              </a:spcAft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algn="r" defTabSz="457200">
              <a:lnSpc>
                <a:spcPct val="100000"/>
              </a:lnSpc>
              <a:spcAft>
                <a:spcPts val="601"/>
              </a:spcAft>
              <a:buNone/>
            </a:pPr>
            <a:fld id="{AFBE0E50-EB5B-4F4F-B7FE-C72A8F112CC9}" type="slidenum"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&lt;číslo&gt;</a:t>
            </a:fld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graphicFrame>
        <p:nvGraphicFramePr>
          <p:cNvPr id="169" name="Table 14"/>
          <p:cNvGraphicFramePr/>
          <p:nvPr/>
        </p:nvGraphicFramePr>
        <p:xfrm>
          <a:off x="914400" y="2599920"/>
          <a:ext cx="10362960" cy="3084120"/>
        </p:xfrm>
        <a:graphic>
          <a:graphicData uri="http://schemas.openxmlformats.org/drawingml/2006/table">
            <a:tbl>
              <a:tblPr/>
              <a:tblGrid>
                <a:gridCol w="2694240"/>
                <a:gridCol w="3834360"/>
                <a:gridCol w="3834360"/>
              </a:tblGrid>
              <a:tr h="420480">
                <a:tc>
                  <a:txBody>
                    <a:bodyPr anchor="ctr">
                      <a:noAutofit/>
                    </a:bodyPr>
                    <a:p>
                      <a:endParaRPr b="0" lang="en-US" sz="1800" spc="-1" strike="noStrike">
                        <a:solidFill>
                          <a:srgbClr val="ffffff"/>
                        </a:solidFill>
                        <a:latin typeface="Grandview Display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973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US" sz="1600" spc="-1" strike="noStrike">
                          <a:solidFill>
                            <a:srgbClr val="ffffff"/>
                          </a:solidFill>
                          <a:latin typeface="Grandview Display"/>
                        </a:rPr>
                        <a:t>class</a:t>
                      </a:r>
                      <a:endParaRPr b="0" lang="cs-CZ" sz="16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973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US" sz="1600" spc="-1" strike="noStrike">
                          <a:solidFill>
                            <a:srgbClr val="ffffff"/>
                          </a:solidFill>
                          <a:latin typeface="Grandview Display"/>
                        </a:rPr>
                        <a:t>struct</a:t>
                      </a:r>
                      <a:endParaRPr b="0" lang="cs-CZ" sz="16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973eb"/>
                    </a:solidFill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Grandview Display"/>
                        </a:rPr>
                        <a:t>Datový typ</a:t>
                      </a:r>
                      <a:endParaRPr b="0" lang="cs-CZ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Grandview Display"/>
                        </a:rPr>
                        <a:t>referenční</a:t>
                      </a:r>
                      <a:endParaRPr b="0" lang="cs-CZ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Grandview Display"/>
                        </a:rPr>
                        <a:t>hodnotový</a:t>
                      </a:r>
                      <a:endParaRPr b="0" lang="cs-CZ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Grandview Display"/>
                        </a:rPr>
                        <a:t>Uložení</a:t>
                      </a:r>
                      <a:endParaRPr b="0" lang="cs-CZ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Grandview Display"/>
                        </a:rPr>
                        <a:t>halda (heap), na zásobníku jen odkaz</a:t>
                      </a:r>
                      <a:endParaRPr b="0" lang="cs-CZ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Grandview Display"/>
                        </a:rPr>
                        <a:t>typicky zásobník (stack)</a:t>
                      </a:r>
                      <a:endParaRPr b="0" lang="cs-CZ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5f8"/>
                    </a:solidFill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Grandview Display"/>
                        </a:rPr>
                        <a:t>Přiřazení / předání</a:t>
                      </a:r>
                      <a:endParaRPr b="0" lang="cs-CZ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Grandview Display"/>
                        </a:rPr>
                        <a:t>kopíruje se odkaz</a:t>
                      </a:r>
                      <a:endParaRPr b="0" lang="cs-CZ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Grandview Display"/>
                        </a:rPr>
                        <a:t>kopíruje se celá hodnota</a:t>
                      </a:r>
                      <a:endParaRPr b="0" lang="cs-CZ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Grandview Display"/>
                        </a:rPr>
                        <a:t>Dědičnost</a:t>
                      </a:r>
                      <a:endParaRPr b="0" lang="cs-CZ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Grandview Display"/>
                        </a:rPr>
                        <a:t>ano</a:t>
                      </a:r>
                      <a:endParaRPr b="0" lang="cs-CZ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Grandview Display"/>
                        </a:rPr>
                        <a:t>ne (jen rozhraní)</a:t>
                      </a:r>
                      <a:endParaRPr b="0" lang="cs-CZ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5f8"/>
                    </a:solidFill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Grandview Display"/>
                        </a:rPr>
                        <a:t>Výchozí hodnota</a:t>
                      </a:r>
                      <a:endParaRPr b="0" lang="cs-CZ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Grandview Display"/>
                        </a:rPr>
                        <a:t>null</a:t>
                      </a:r>
                      <a:endParaRPr b="0" lang="cs-CZ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Grandview Display"/>
                        </a:rPr>
                        <a:t>všechny členy na výchozí hodnotě</a:t>
                      </a:r>
                      <a:endParaRPr b="0" lang="cs-CZ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Grandview Display"/>
                        </a:rPr>
                        <a:t>Použití</a:t>
                      </a:r>
                      <a:endParaRPr b="0" lang="cs-CZ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Grandview Display"/>
                        </a:rPr>
                        <a:t>složitější objekty s chováním</a:t>
                      </a:r>
                      <a:endParaRPr b="0" lang="cs-CZ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Grandview Display"/>
                        </a:rPr>
                        <a:t>malá data: bod, barva, datum</a:t>
                      </a:r>
                      <a:endParaRPr b="0" lang="cs-CZ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5f8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PlaceHolder 1"/>
          <p:cNvSpPr>
            <a:spLocks noGrp="1"/>
          </p:cNvSpPr>
          <p:nvPr>
            <p:ph type="title"/>
          </p:nvPr>
        </p:nvSpPr>
        <p:spPr>
          <a:xfrm>
            <a:off x="914400" y="1371600"/>
            <a:ext cx="10362960" cy="1187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0" lang="en-US" sz="4000" spc="-1" strike="noStrike">
                <a:solidFill>
                  <a:schemeClr val="dk1"/>
                </a:solidFill>
                <a:latin typeface="Grandview Display"/>
              </a:rPr>
              <a:t>SOLID – připomenutí</a:t>
            </a:r>
            <a:endParaRPr b="0" lang="en-US" sz="40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171" name="PlaceHolder 2"/>
          <p:cNvSpPr>
            <a:spLocks noGrp="1"/>
          </p:cNvSpPr>
          <p:nvPr>
            <p:ph type="dt" idx="67"/>
          </p:nvPr>
        </p:nvSpPr>
        <p:spPr>
          <a:xfrm>
            <a:off x="91260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spcAft>
                <a:spcPts val="601"/>
              </a:spcAft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defTabSz="457200">
              <a:lnSpc>
                <a:spcPct val="100000"/>
              </a:lnSpc>
              <a:spcAft>
                <a:spcPts val="601"/>
              </a:spcAft>
              <a:buNone/>
            </a:pPr>
            <a:fld id="{712B4B50-BF67-4DC9-8862-BEA4B4E72B40}" type="datetime1"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10/02/2026</a:t>
            </a:fld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2" name="PlaceHolder 3"/>
          <p:cNvSpPr>
            <a:spLocks noGrp="1"/>
          </p:cNvSpPr>
          <p:nvPr>
            <p:ph type="sldNum" idx="68"/>
          </p:nvPr>
        </p:nvSpPr>
        <p:spPr>
          <a:xfrm>
            <a:off x="10807920" y="6356520"/>
            <a:ext cx="722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spcAft>
                <a:spcPts val="601"/>
              </a:spcAft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algn="r" defTabSz="457200">
              <a:lnSpc>
                <a:spcPct val="100000"/>
              </a:lnSpc>
              <a:spcAft>
                <a:spcPts val="601"/>
              </a:spcAft>
              <a:buNone/>
            </a:pPr>
            <a:fld id="{F96704D9-6228-4D31-A318-C2DB8ED831A9}" type="slidenum"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&lt;číslo&gt;</a:t>
            </a:fld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3" name="Oval 14"/>
          <p:cNvSpPr/>
          <p:nvPr/>
        </p:nvSpPr>
        <p:spPr>
          <a:xfrm>
            <a:off x="914400" y="2549880"/>
            <a:ext cx="639720" cy="639720"/>
          </a:xfrm>
          <a:prstGeom prst="ellipse">
            <a:avLst/>
          </a:prstGeom>
          <a:solidFill>
            <a:srgbClr val="197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2400" spc="-1" strike="noStrike">
                <a:solidFill>
                  <a:srgbClr val="ffffff"/>
                </a:solidFill>
                <a:latin typeface="Grandview Display"/>
              </a:rPr>
              <a:t>S</a:t>
            </a:r>
            <a:endParaRPr b="0" lang="cs-CZ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4" name="TextBox 15"/>
          <p:cNvSpPr/>
          <p:nvPr/>
        </p:nvSpPr>
        <p:spPr>
          <a:xfrm>
            <a:off x="1804320" y="2732040"/>
            <a:ext cx="3599640" cy="27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chemeClr val="dk1"/>
                </a:solidFill>
                <a:latin typeface="Grandview Display"/>
              </a:rPr>
              <a:t>Single responsibility</a:t>
            </a:r>
            <a:endParaRPr b="0" lang="cs-CZ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TextBox 16"/>
          <p:cNvSpPr/>
          <p:nvPr/>
        </p:nvSpPr>
        <p:spPr>
          <a:xfrm>
            <a:off x="5400000" y="2739600"/>
            <a:ext cx="5899680" cy="25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700" spc="-1" strike="noStrike">
                <a:solidFill>
                  <a:schemeClr val="dk1"/>
                </a:solidFill>
                <a:latin typeface="Grandview Display"/>
              </a:rPr>
              <a:t>Každá třída má jeden účel</a:t>
            </a:r>
            <a:endParaRPr b="0" lang="cs-CZ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Oval 17"/>
          <p:cNvSpPr/>
          <p:nvPr/>
        </p:nvSpPr>
        <p:spPr>
          <a:xfrm>
            <a:off x="914400" y="3269880"/>
            <a:ext cx="639720" cy="639720"/>
          </a:xfrm>
          <a:prstGeom prst="ellipse">
            <a:avLst/>
          </a:prstGeom>
          <a:solidFill>
            <a:srgbClr val="25c8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2400" spc="-1" strike="noStrike">
                <a:solidFill>
                  <a:srgbClr val="ffffff"/>
                </a:solidFill>
                <a:latin typeface="Grandview Display"/>
              </a:rPr>
              <a:t>O</a:t>
            </a:r>
            <a:endParaRPr b="0" lang="cs-CZ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7" name="TextBox 18"/>
          <p:cNvSpPr/>
          <p:nvPr/>
        </p:nvSpPr>
        <p:spPr>
          <a:xfrm>
            <a:off x="1804320" y="3452040"/>
            <a:ext cx="3599640" cy="27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chemeClr val="dk1"/>
                </a:solidFill>
                <a:latin typeface="Grandview Display"/>
              </a:rPr>
              <a:t>Open / Closed</a:t>
            </a:r>
            <a:endParaRPr b="0" lang="cs-CZ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TextBox 19"/>
          <p:cNvSpPr/>
          <p:nvPr/>
        </p:nvSpPr>
        <p:spPr>
          <a:xfrm>
            <a:off x="5400000" y="3459600"/>
            <a:ext cx="5899680" cy="25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700" spc="-1" strike="noStrike">
                <a:solidFill>
                  <a:schemeClr val="dk1"/>
                </a:solidFill>
                <a:latin typeface="Grandview Display"/>
              </a:rPr>
              <a:t>Otevřená pro rozšíření, uzavřená pro změnu</a:t>
            </a:r>
            <a:endParaRPr b="0" lang="cs-CZ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Oval 20"/>
          <p:cNvSpPr/>
          <p:nvPr/>
        </p:nvSpPr>
        <p:spPr>
          <a:xfrm>
            <a:off x="914400" y="3989880"/>
            <a:ext cx="639720" cy="639720"/>
          </a:xfrm>
          <a:prstGeom prst="ellipse">
            <a:avLst/>
          </a:prstGeom>
          <a:solidFill>
            <a:srgbClr val="bf8e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2400" spc="-1" strike="noStrike">
                <a:solidFill>
                  <a:srgbClr val="ffffff"/>
                </a:solidFill>
                <a:latin typeface="Grandview Display"/>
              </a:rPr>
              <a:t>L</a:t>
            </a:r>
            <a:endParaRPr b="0" lang="cs-CZ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TextBox 21"/>
          <p:cNvSpPr/>
          <p:nvPr/>
        </p:nvSpPr>
        <p:spPr>
          <a:xfrm>
            <a:off x="1804320" y="4172040"/>
            <a:ext cx="3599640" cy="27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chemeClr val="dk1"/>
                </a:solidFill>
                <a:latin typeface="Grandview Display"/>
              </a:rPr>
              <a:t>Liskov substitution</a:t>
            </a:r>
            <a:endParaRPr b="0" lang="cs-CZ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TextBox 22"/>
          <p:cNvSpPr/>
          <p:nvPr/>
        </p:nvSpPr>
        <p:spPr>
          <a:xfrm>
            <a:off x="5400000" y="4179600"/>
            <a:ext cx="5899680" cy="25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700" spc="-1" strike="noStrike">
                <a:solidFill>
                  <a:schemeClr val="dk1"/>
                </a:solidFill>
                <a:latin typeface="Grandview Display"/>
              </a:rPr>
              <a:t>Potomek funguje všude, kde se čeká předek</a:t>
            </a:r>
            <a:endParaRPr b="0" lang="cs-CZ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Oval 23"/>
          <p:cNvSpPr/>
          <p:nvPr/>
        </p:nvSpPr>
        <p:spPr>
          <a:xfrm>
            <a:off x="914400" y="4709880"/>
            <a:ext cx="639720" cy="639720"/>
          </a:xfrm>
          <a:prstGeom prst="ellipse">
            <a:avLst/>
          </a:prstGeom>
          <a:solidFill>
            <a:srgbClr val="fe7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2400" spc="-1" strike="noStrike">
                <a:solidFill>
                  <a:srgbClr val="ffffff"/>
                </a:solidFill>
                <a:latin typeface="Grandview Display"/>
              </a:rPr>
              <a:t>I</a:t>
            </a:r>
            <a:endParaRPr b="0" lang="cs-CZ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3" name="TextBox 24"/>
          <p:cNvSpPr/>
          <p:nvPr/>
        </p:nvSpPr>
        <p:spPr>
          <a:xfrm>
            <a:off x="1804320" y="4892040"/>
            <a:ext cx="3599640" cy="27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chemeClr val="dk1"/>
                </a:solidFill>
                <a:latin typeface="Grandview Display"/>
              </a:rPr>
              <a:t>Interface segregation</a:t>
            </a:r>
            <a:endParaRPr b="0" lang="cs-CZ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TextBox 25"/>
          <p:cNvSpPr/>
          <p:nvPr/>
        </p:nvSpPr>
        <p:spPr>
          <a:xfrm>
            <a:off x="5400000" y="4899600"/>
            <a:ext cx="5899680" cy="25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700" spc="-1" strike="noStrike">
                <a:solidFill>
                  <a:schemeClr val="dk1"/>
                </a:solidFill>
                <a:latin typeface="Grandview Display"/>
              </a:rPr>
              <a:t>Více malých rozhraní místo jednoho obřího</a:t>
            </a:r>
            <a:endParaRPr b="0" lang="cs-CZ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Oval 26"/>
          <p:cNvSpPr/>
          <p:nvPr/>
        </p:nvSpPr>
        <p:spPr>
          <a:xfrm>
            <a:off x="914400" y="5429880"/>
            <a:ext cx="639720" cy="639720"/>
          </a:xfrm>
          <a:prstGeom prst="ellipse">
            <a:avLst/>
          </a:prstGeom>
          <a:solidFill>
            <a:srgbClr val="fe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2400" spc="-1" strike="noStrike">
                <a:solidFill>
                  <a:srgbClr val="ffffff"/>
                </a:solidFill>
                <a:latin typeface="Grandview Display"/>
              </a:rPr>
              <a:t>D</a:t>
            </a:r>
            <a:endParaRPr b="0" lang="cs-CZ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6" name="TextBox 27"/>
          <p:cNvSpPr/>
          <p:nvPr/>
        </p:nvSpPr>
        <p:spPr>
          <a:xfrm>
            <a:off x="1804320" y="5612040"/>
            <a:ext cx="3599640" cy="27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chemeClr val="dk1"/>
                </a:solidFill>
                <a:latin typeface="Grandview Display"/>
              </a:rPr>
              <a:t>Dependency inversion</a:t>
            </a:r>
            <a:endParaRPr b="0" lang="cs-CZ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TextBox 28"/>
          <p:cNvSpPr/>
          <p:nvPr/>
        </p:nvSpPr>
        <p:spPr>
          <a:xfrm>
            <a:off x="5400000" y="5619600"/>
            <a:ext cx="5899680" cy="25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700" spc="-1" strike="noStrike">
                <a:solidFill>
                  <a:schemeClr val="dk1"/>
                </a:solidFill>
                <a:latin typeface="Grandview Display"/>
              </a:rPr>
              <a:t>Závislost na abstrakci, ne na konkrétní třídě</a:t>
            </a:r>
            <a:endParaRPr b="0" lang="cs-CZ" sz="1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laceHolder 1"/>
          <p:cNvSpPr>
            <a:spLocks noGrp="1"/>
          </p:cNvSpPr>
          <p:nvPr>
            <p:ph type="title"/>
          </p:nvPr>
        </p:nvSpPr>
        <p:spPr>
          <a:xfrm>
            <a:off x="914400" y="1371600"/>
            <a:ext cx="10362960" cy="1187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0" lang="en-US" sz="4000" spc="-1" strike="noStrike">
                <a:solidFill>
                  <a:schemeClr val="dk1"/>
                </a:solidFill>
                <a:latin typeface="Grandview Display"/>
              </a:rPr>
              <a:t>Code review – co je špatně?</a:t>
            </a:r>
            <a:endParaRPr b="0" lang="en-US" sz="40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189" name="PlaceHolder 2"/>
          <p:cNvSpPr>
            <a:spLocks noGrp="1"/>
          </p:cNvSpPr>
          <p:nvPr>
            <p:ph/>
          </p:nvPr>
        </p:nvSpPr>
        <p:spPr>
          <a:xfrm>
            <a:off x="914400" y="2649960"/>
            <a:ext cx="4699800" cy="3549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Třídu navrhl AI asistent pro hru s postavami</a:t>
            </a:r>
            <a:endParaRPr b="0" lang="en-US" sz="1600" spc="-1" strike="noStrike">
              <a:solidFill>
                <a:schemeClr val="dk1"/>
              </a:solidFill>
              <a:latin typeface="Grandview Display"/>
            </a:endParaRPr>
          </a:p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Najděte problémy z pohledu OOP:</a:t>
            </a:r>
            <a:endParaRPr b="0" lang="en-US" sz="1600" spc="-1" strike="noStrike">
              <a:solidFill>
                <a:schemeClr val="dk1"/>
              </a:solidFill>
              <a:latin typeface="Grandview Display"/>
            </a:endParaRPr>
          </a:p>
          <a:p>
            <a:pPr lvl="1" marL="49392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500" spc="-1" strike="noStrike">
                <a:solidFill>
                  <a:schemeClr val="dk1"/>
                </a:solidFill>
                <a:latin typeface="Grandview Display"/>
              </a:rPr>
              <a:t>Je dodrženo zapouzdření?</a:t>
            </a:r>
            <a:endParaRPr b="0" lang="en-US" sz="1500" spc="-1" strike="noStrike">
              <a:solidFill>
                <a:schemeClr val="dk1"/>
              </a:solidFill>
              <a:latin typeface="Grandview Display"/>
            </a:endParaRPr>
          </a:p>
          <a:p>
            <a:pPr lvl="1" marL="49392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500" spc="-1" strike="noStrike">
                <a:solidFill>
                  <a:schemeClr val="dk1"/>
                </a:solidFill>
                <a:latin typeface="Grandview Display"/>
              </a:rPr>
              <a:t>Co se stane, když přibude nový typ postavy?</a:t>
            </a:r>
            <a:endParaRPr b="0" lang="en-US" sz="1500" spc="-1" strike="noStrike">
              <a:solidFill>
                <a:schemeClr val="dk1"/>
              </a:solidFill>
              <a:latin typeface="Grandview Display"/>
            </a:endParaRPr>
          </a:p>
          <a:p>
            <a:pPr lvl="1" marL="49392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500" spc="-1" strike="noStrike">
                <a:solidFill>
                  <a:schemeClr val="dk1"/>
                </a:solidFill>
                <a:latin typeface="Grandview Display"/>
              </a:rPr>
              <a:t>Který pilíř OOP by kód zjednodušil?</a:t>
            </a:r>
            <a:endParaRPr b="0" lang="en-US" sz="1500" spc="-1" strike="noStrike">
              <a:solidFill>
                <a:schemeClr val="dk1"/>
              </a:solidFill>
              <a:latin typeface="Grandview Display"/>
            </a:endParaRPr>
          </a:p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Navrhněte lepší strukturu tříd</a:t>
            </a:r>
            <a:endParaRPr b="0" lang="en-US" sz="16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190" name="PlaceHolder 3"/>
          <p:cNvSpPr>
            <a:spLocks noGrp="1"/>
          </p:cNvSpPr>
          <p:nvPr>
            <p:ph type="dt" idx="69"/>
          </p:nvPr>
        </p:nvSpPr>
        <p:spPr>
          <a:xfrm>
            <a:off x="91260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spcAft>
                <a:spcPts val="601"/>
              </a:spcAft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defTabSz="457200">
              <a:lnSpc>
                <a:spcPct val="100000"/>
              </a:lnSpc>
              <a:spcAft>
                <a:spcPts val="601"/>
              </a:spcAft>
              <a:buNone/>
            </a:pPr>
            <a:fld id="{504866BD-72B9-4ECA-9B8C-23FD35DB1268}" type="datetime1"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10/02/2026</a:t>
            </a:fld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1" name="PlaceHolder 4"/>
          <p:cNvSpPr>
            <a:spLocks noGrp="1"/>
          </p:cNvSpPr>
          <p:nvPr>
            <p:ph type="sldNum" idx="70"/>
          </p:nvPr>
        </p:nvSpPr>
        <p:spPr>
          <a:xfrm>
            <a:off x="10807920" y="6356520"/>
            <a:ext cx="722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spcAft>
                <a:spcPts val="601"/>
              </a:spcAft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algn="r" defTabSz="457200">
              <a:lnSpc>
                <a:spcPct val="100000"/>
              </a:lnSpc>
              <a:spcAft>
                <a:spcPts val="601"/>
              </a:spcAft>
              <a:buNone/>
            </a:pPr>
            <a:fld id="{8B53537D-583D-4821-AE21-9E9E9CB91577}" type="slidenum"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&lt;číslo&gt;</a:t>
            </a:fld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2" name="Kód"/>
          <p:cNvSpPr/>
          <p:nvPr/>
        </p:nvSpPr>
        <p:spPr>
          <a:xfrm>
            <a:off x="5799960" y="2649960"/>
            <a:ext cx="5477400" cy="3549600"/>
          </a:xfrm>
          <a:prstGeom prst="roundRect">
            <a:avLst>
              <a:gd name="adj" fmla="val 4000"/>
            </a:avLst>
          </a:prstGeom>
          <a:solidFill>
            <a:srgbClr val="f4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164520" rIns="164520" tIns="164520" bIns="16452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0000ff"/>
                </a:solidFill>
                <a:latin typeface="Consolas"/>
              </a:rPr>
              <a:t>class</a:t>
            </a:r>
            <a:r>
              <a:rPr b="0" lang="en-US" sz="1400" spc="-1" strike="noStrike">
                <a:solidFill>
                  <a:srgbClr val="1e1e1e"/>
                </a:solidFill>
                <a:latin typeface="Consolas"/>
              </a:rPr>
              <a:t> </a:t>
            </a:r>
            <a:r>
              <a:rPr b="0" lang="en-US" sz="1400" spc="-1" strike="noStrike">
                <a:solidFill>
                  <a:srgbClr val="2b91af"/>
                </a:solidFill>
                <a:latin typeface="Consolas"/>
              </a:rPr>
              <a:t>Postava</a:t>
            </a:r>
            <a:endParaRPr b="0" lang="cs-CZ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1e1e1e"/>
                </a:solidFill>
                <a:latin typeface="Consolas"/>
              </a:rPr>
              <a:t>{</a:t>
            </a:r>
            <a:endParaRPr b="0" lang="cs-CZ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1e1e1e"/>
                </a:solidFill>
                <a:latin typeface="Consolas"/>
              </a:rPr>
              <a:t>    </a:t>
            </a:r>
            <a:r>
              <a:rPr b="0" lang="en-US" sz="1400" spc="-1" strike="noStrike">
                <a:solidFill>
                  <a:srgbClr val="0000ff"/>
                </a:solidFill>
                <a:latin typeface="Consolas"/>
              </a:rPr>
              <a:t>public</a:t>
            </a:r>
            <a:r>
              <a:rPr b="0" lang="en-US" sz="1400" spc="-1" strike="noStrike">
                <a:solidFill>
                  <a:srgbClr val="1e1e1e"/>
                </a:solidFill>
                <a:latin typeface="Consolas"/>
              </a:rPr>
              <a:t> </a:t>
            </a:r>
            <a:r>
              <a:rPr b="0" lang="en-US" sz="1400" spc="-1" strike="noStrike">
                <a:solidFill>
                  <a:srgbClr val="0000ff"/>
                </a:solidFill>
                <a:latin typeface="Consolas"/>
              </a:rPr>
              <a:t>string</a:t>
            </a:r>
            <a:r>
              <a:rPr b="0" lang="en-US" sz="1400" spc="-1" strike="noStrike">
                <a:solidFill>
                  <a:srgbClr val="1e1e1e"/>
                </a:solidFill>
                <a:latin typeface="Consolas"/>
              </a:rPr>
              <a:t> Jmeno;</a:t>
            </a:r>
            <a:endParaRPr b="0" lang="cs-CZ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1e1e1e"/>
                </a:solidFill>
                <a:latin typeface="Consolas"/>
              </a:rPr>
              <a:t>    </a:t>
            </a:r>
            <a:r>
              <a:rPr b="0" lang="en-US" sz="1400" spc="-1" strike="noStrike">
                <a:solidFill>
                  <a:srgbClr val="0000ff"/>
                </a:solidFill>
                <a:latin typeface="Consolas"/>
              </a:rPr>
              <a:t>public</a:t>
            </a:r>
            <a:r>
              <a:rPr b="0" lang="en-US" sz="1400" spc="-1" strike="noStrike">
                <a:solidFill>
                  <a:srgbClr val="1e1e1e"/>
                </a:solidFill>
                <a:latin typeface="Consolas"/>
              </a:rPr>
              <a:t> </a:t>
            </a:r>
            <a:r>
              <a:rPr b="0" lang="en-US" sz="1400" spc="-1" strike="noStrike">
                <a:solidFill>
                  <a:srgbClr val="0000ff"/>
                </a:solidFill>
                <a:latin typeface="Consolas"/>
              </a:rPr>
              <a:t>string</a:t>
            </a:r>
            <a:r>
              <a:rPr b="0" lang="en-US" sz="1400" spc="-1" strike="noStrike">
                <a:solidFill>
                  <a:srgbClr val="1e1e1e"/>
                </a:solidFill>
                <a:latin typeface="Consolas"/>
              </a:rPr>
              <a:t> Typ;      </a:t>
            </a:r>
            <a:r>
              <a:rPr b="0" lang="en-US" sz="1400" spc="-1" strike="noStrike">
                <a:solidFill>
                  <a:srgbClr val="008000"/>
                </a:solidFill>
                <a:latin typeface="Consolas"/>
              </a:rPr>
              <a:t>// "valecnik", "mag"</a:t>
            </a:r>
            <a:endParaRPr b="0" lang="cs-CZ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1e1e1e"/>
                </a:solidFill>
                <a:latin typeface="Consolas"/>
              </a:rPr>
              <a:t>    </a:t>
            </a:r>
            <a:r>
              <a:rPr b="0" lang="en-US" sz="1400" spc="-1" strike="noStrike">
                <a:solidFill>
                  <a:srgbClr val="0000ff"/>
                </a:solidFill>
                <a:latin typeface="Consolas"/>
              </a:rPr>
              <a:t>public</a:t>
            </a:r>
            <a:r>
              <a:rPr b="0" lang="en-US" sz="1400" spc="-1" strike="noStrike">
                <a:solidFill>
                  <a:srgbClr val="1e1e1e"/>
                </a:solidFill>
                <a:latin typeface="Consolas"/>
              </a:rPr>
              <a:t> </a:t>
            </a:r>
            <a:r>
              <a:rPr b="0" lang="en-US" sz="1400" spc="-1" strike="noStrike">
                <a:solidFill>
                  <a:srgbClr val="0000ff"/>
                </a:solidFill>
                <a:latin typeface="Consolas"/>
              </a:rPr>
              <a:t>int</a:t>
            </a:r>
            <a:r>
              <a:rPr b="0" lang="en-US" sz="1400" spc="-1" strike="noStrike">
                <a:solidFill>
                  <a:srgbClr val="1e1e1e"/>
                </a:solidFill>
                <a:latin typeface="Consolas"/>
              </a:rPr>
              <a:t> Body;</a:t>
            </a:r>
            <a:endParaRPr b="0" lang="cs-CZ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1e1e1e"/>
                </a:solidFill>
                <a:latin typeface="Consolas"/>
              </a:rPr>
              <a:t> </a:t>
            </a:r>
            <a:endParaRPr b="0" lang="cs-CZ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1e1e1e"/>
                </a:solidFill>
                <a:latin typeface="Consolas"/>
              </a:rPr>
              <a:t>    </a:t>
            </a:r>
            <a:r>
              <a:rPr b="0" lang="en-US" sz="1400" spc="-1" strike="noStrike">
                <a:solidFill>
                  <a:srgbClr val="0000ff"/>
                </a:solidFill>
                <a:latin typeface="Consolas"/>
              </a:rPr>
              <a:t>public</a:t>
            </a:r>
            <a:r>
              <a:rPr b="0" lang="en-US" sz="1400" spc="-1" strike="noStrike">
                <a:solidFill>
                  <a:srgbClr val="1e1e1e"/>
                </a:solidFill>
                <a:latin typeface="Consolas"/>
              </a:rPr>
              <a:t> </a:t>
            </a:r>
            <a:r>
              <a:rPr b="0" lang="en-US" sz="1400" spc="-1" strike="noStrike">
                <a:solidFill>
                  <a:srgbClr val="0000ff"/>
                </a:solidFill>
                <a:latin typeface="Consolas"/>
              </a:rPr>
              <a:t>void</a:t>
            </a:r>
            <a:r>
              <a:rPr b="0" lang="en-US" sz="1400" spc="-1" strike="noStrike">
                <a:solidFill>
                  <a:srgbClr val="1e1e1e"/>
                </a:solidFill>
                <a:latin typeface="Consolas"/>
              </a:rPr>
              <a:t> </a:t>
            </a:r>
            <a:r>
              <a:rPr b="0" lang="en-US" sz="1400" spc="-1" strike="noStrike">
                <a:solidFill>
                  <a:srgbClr val="74531f"/>
                </a:solidFill>
                <a:latin typeface="Consolas"/>
              </a:rPr>
              <a:t>Utok</a:t>
            </a:r>
            <a:r>
              <a:rPr b="0" lang="en-US" sz="1400" spc="-1" strike="noStrike">
                <a:solidFill>
                  <a:srgbClr val="1e1e1e"/>
                </a:solidFill>
                <a:latin typeface="Consolas"/>
              </a:rPr>
              <a:t>()</a:t>
            </a:r>
            <a:endParaRPr b="0" lang="cs-CZ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1e1e1e"/>
                </a:solidFill>
                <a:latin typeface="Consolas"/>
              </a:rPr>
              <a:t>    </a:t>
            </a:r>
            <a:r>
              <a:rPr b="0" lang="en-US" sz="1400" spc="-1" strike="noStrike">
                <a:solidFill>
                  <a:srgbClr val="1e1e1e"/>
                </a:solidFill>
                <a:latin typeface="Consolas"/>
              </a:rPr>
              <a:t>{</a:t>
            </a:r>
            <a:endParaRPr b="0" lang="cs-CZ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1e1e1e"/>
                </a:solidFill>
                <a:latin typeface="Consolas"/>
              </a:rPr>
              <a:t>        </a:t>
            </a:r>
            <a:r>
              <a:rPr b="0" lang="en-US" sz="1400" spc="-1" strike="noStrike">
                <a:solidFill>
                  <a:srgbClr val="0000ff"/>
                </a:solidFill>
                <a:latin typeface="Consolas"/>
              </a:rPr>
              <a:t>if</a:t>
            </a:r>
            <a:r>
              <a:rPr b="0" lang="en-US" sz="1400" spc="-1" strike="noStrike">
                <a:solidFill>
                  <a:srgbClr val="1e1e1e"/>
                </a:solidFill>
                <a:latin typeface="Consolas"/>
              </a:rPr>
              <a:t> (Typ == </a:t>
            </a:r>
            <a:r>
              <a:rPr b="0" lang="en-US" sz="1400" spc="-1" strike="noStrike">
                <a:solidFill>
                  <a:srgbClr val="a31515"/>
                </a:solidFill>
                <a:latin typeface="Consolas"/>
              </a:rPr>
              <a:t>"valecnik"</a:t>
            </a:r>
            <a:r>
              <a:rPr b="0" lang="en-US" sz="1400" spc="-1" strike="noStrike">
                <a:solidFill>
                  <a:srgbClr val="1e1e1e"/>
                </a:solidFill>
                <a:latin typeface="Consolas"/>
              </a:rPr>
              <a:t>)</a:t>
            </a:r>
            <a:endParaRPr b="0" lang="cs-CZ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1e1e1e"/>
                </a:solidFill>
                <a:latin typeface="Consolas"/>
              </a:rPr>
              <a:t>            </a:t>
            </a:r>
            <a:r>
              <a:rPr b="0" lang="en-US" sz="1400" spc="-1" strike="noStrike">
                <a:solidFill>
                  <a:srgbClr val="1e1e1e"/>
                </a:solidFill>
                <a:latin typeface="Consolas"/>
              </a:rPr>
              <a:t>Body += 3;</a:t>
            </a:r>
            <a:endParaRPr b="0" lang="cs-CZ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1e1e1e"/>
                </a:solidFill>
                <a:latin typeface="Consolas"/>
              </a:rPr>
              <a:t>        </a:t>
            </a:r>
            <a:r>
              <a:rPr b="0" lang="en-US" sz="1400" spc="-1" strike="noStrike">
                <a:solidFill>
                  <a:srgbClr val="0000ff"/>
                </a:solidFill>
                <a:latin typeface="Consolas"/>
              </a:rPr>
              <a:t>else</a:t>
            </a:r>
            <a:r>
              <a:rPr b="0" lang="en-US" sz="1400" spc="-1" strike="noStrike">
                <a:solidFill>
                  <a:srgbClr val="1e1e1e"/>
                </a:solidFill>
                <a:latin typeface="Consolas"/>
              </a:rPr>
              <a:t> </a:t>
            </a:r>
            <a:r>
              <a:rPr b="0" lang="en-US" sz="1400" spc="-1" strike="noStrike">
                <a:solidFill>
                  <a:srgbClr val="0000ff"/>
                </a:solidFill>
                <a:latin typeface="Consolas"/>
              </a:rPr>
              <a:t>if</a:t>
            </a:r>
            <a:r>
              <a:rPr b="0" lang="en-US" sz="1400" spc="-1" strike="noStrike">
                <a:solidFill>
                  <a:srgbClr val="1e1e1e"/>
                </a:solidFill>
                <a:latin typeface="Consolas"/>
              </a:rPr>
              <a:t> (Typ == </a:t>
            </a:r>
            <a:r>
              <a:rPr b="0" lang="en-US" sz="1400" spc="-1" strike="noStrike">
                <a:solidFill>
                  <a:srgbClr val="a31515"/>
                </a:solidFill>
                <a:latin typeface="Consolas"/>
              </a:rPr>
              <a:t>"mag"</a:t>
            </a:r>
            <a:r>
              <a:rPr b="0" lang="en-US" sz="1400" spc="-1" strike="noStrike">
                <a:solidFill>
                  <a:srgbClr val="1e1e1e"/>
                </a:solidFill>
                <a:latin typeface="Consolas"/>
              </a:rPr>
              <a:t>)</a:t>
            </a:r>
            <a:endParaRPr b="0" lang="cs-CZ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1e1e1e"/>
                </a:solidFill>
                <a:latin typeface="Consolas"/>
              </a:rPr>
              <a:t>            </a:t>
            </a:r>
            <a:r>
              <a:rPr b="0" lang="en-US" sz="1400" spc="-1" strike="noStrike">
                <a:solidFill>
                  <a:srgbClr val="1e1e1e"/>
                </a:solidFill>
                <a:latin typeface="Consolas"/>
              </a:rPr>
              <a:t>Body += 1;</a:t>
            </a:r>
            <a:endParaRPr b="0" lang="cs-CZ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1e1e1e"/>
                </a:solidFill>
                <a:latin typeface="Consolas"/>
              </a:rPr>
              <a:t>        </a:t>
            </a:r>
            <a:r>
              <a:rPr b="0" lang="en-US" sz="1400" spc="-1" strike="noStrike">
                <a:solidFill>
                  <a:srgbClr val="2b91af"/>
                </a:solidFill>
                <a:latin typeface="Consolas"/>
              </a:rPr>
              <a:t>Console</a:t>
            </a:r>
            <a:r>
              <a:rPr b="0" lang="en-US" sz="1400" spc="-1" strike="noStrike">
                <a:solidFill>
                  <a:srgbClr val="1e1e1e"/>
                </a:solidFill>
                <a:latin typeface="Consolas"/>
              </a:rPr>
              <a:t>.</a:t>
            </a:r>
            <a:r>
              <a:rPr b="0" lang="en-US" sz="1400" spc="-1" strike="noStrike">
                <a:solidFill>
                  <a:srgbClr val="74531f"/>
                </a:solidFill>
                <a:latin typeface="Consolas"/>
              </a:rPr>
              <a:t>WriteLine</a:t>
            </a:r>
            <a:r>
              <a:rPr b="0" lang="en-US" sz="1400" spc="-1" strike="noStrike">
                <a:solidFill>
                  <a:srgbClr val="1e1e1e"/>
                </a:solidFill>
                <a:latin typeface="Consolas"/>
              </a:rPr>
              <a:t>(Jmeno + </a:t>
            </a:r>
            <a:r>
              <a:rPr b="0" lang="en-US" sz="1400" spc="-1" strike="noStrike">
                <a:solidFill>
                  <a:srgbClr val="a31515"/>
                </a:solidFill>
                <a:latin typeface="Consolas"/>
              </a:rPr>
              <a:t>": "</a:t>
            </a:r>
            <a:r>
              <a:rPr b="0" lang="en-US" sz="1400" spc="-1" strike="noStrike">
                <a:solidFill>
                  <a:srgbClr val="1e1e1e"/>
                </a:solidFill>
                <a:latin typeface="Consolas"/>
              </a:rPr>
              <a:t> + Body);</a:t>
            </a:r>
            <a:endParaRPr b="0" lang="cs-CZ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1e1e1e"/>
                </a:solidFill>
                <a:latin typeface="Consolas"/>
              </a:rPr>
              <a:t>    </a:t>
            </a:r>
            <a:r>
              <a:rPr b="0" lang="en-US" sz="1400" spc="-1" strike="noStrike">
                <a:solidFill>
                  <a:srgbClr val="1e1e1e"/>
                </a:solidFill>
                <a:latin typeface="Consolas"/>
              </a:rPr>
              <a:t>}</a:t>
            </a:r>
            <a:endParaRPr b="0" lang="cs-CZ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1e1e1e"/>
                </a:solidFill>
                <a:latin typeface="Consolas"/>
              </a:rPr>
              <a:t>}</a:t>
            </a:r>
            <a:endParaRPr b="0" lang="cs-CZ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DashVTI">
  <a:themeElements>
    <a:clrScheme name="DashVTI">
      <a:dk1>
        <a:srgbClr val="000000"/>
      </a:dk1>
      <a:lt1>
        <a:srgbClr val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DashVTI">
      <a:majorFont>
        <a:latin typeface="Grandview Display" pitchFamily="0" charset="1"/>
        <a:ea typeface=""/>
        <a:cs typeface=""/>
      </a:majorFont>
      <a:minorFont>
        <a:latin typeface="Grandview Display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ashVTI">
  <a:themeElements>
    <a:clrScheme name="DashVTI">
      <a:dk1>
        <a:srgbClr val="000000"/>
      </a:dk1>
      <a:lt1>
        <a:srgbClr val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DashVTI">
      <a:majorFont>
        <a:latin typeface="Grandview Display" pitchFamily="0" charset="1"/>
        <a:ea typeface=""/>
        <a:cs typeface=""/>
      </a:majorFont>
      <a:minorFont>
        <a:latin typeface="Grandview Display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DashVTI">
  <a:themeElements>
    <a:clrScheme name="DashVTI">
      <a:dk1>
        <a:srgbClr val="000000"/>
      </a:dk1>
      <a:lt1>
        <a:srgbClr val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DashVTI">
      <a:majorFont>
        <a:latin typeface="Grandview Display" pitchFamily="0" charset="1"/>
        <a:ea typeface=""/>
        <a:cs typeface=""/>
      </a:majorFont>
      <a:minorFont>
        <a:latin typeface="Grandview Display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DashVTI">
  <a:themeElements>
    <a:clrScheme name="DashVTI">
      <a:dk1>
        <a:srgbClr val="000000"/>
      </a:dk1>
      <a:lt1>
        <a:srgbClr val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DashVTI">
      <a:majorFont>
        <a:latin typeface="Grandview Display" pitchFamily="0" charset="1"/>
        <a:ea typeface=""/>
        <a:cs typeface=""/>
      </a:majorFont>
      <a:minorFont>
        <a:latin typeface="Grandview Display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DashVTI">
  <a:themeElements>
    <a:clrScheme name="DashVTI">
      <a:dk1>
        <a:srgbClr val="000000"/>
      </a:dk1>
      <a:lt1>
        <a:srgbClr val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DashVTI">
      <a:majorFont>
        <a:latin typeface="Grandview Display" pitchFamily="0" charset="1"/>
        <a:ea typeface=""/>
        <a:cs typeface=""/>
      </a:majorFont>
      <a:minorFont>
        <a:latin typeface="Grandview Display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DashVTI">
  <a:themeElements>
    <a:clrScheme name="DashVTI">
      <a:dk1>
        <a:srgbClr val="000000"/>
      </a:dk1>
      <a:lt1>
        <a:srgbClr val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DashVTI">
      <a:majorFont>
        <a:latin typeface="Grandview Display" pitchFamily="0" charset="1"/>
        <a:ea typeface=""/>
        <a:cs typeface=""/>
      </a:majorFont>
      <a:minorFont>
        <a:latin typeface="Grandview Display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DashVTI">
  <a:themeElements>
    <a:clrScheme name="DashVTI">
      <a:dk1>
        <a:srgbClr val="000000"/>
      </a:dk1>
      <a:lt1>
        <a:srgbClr val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DashVTI">
      <a:majorFont>
        <a:latin typeface="Grandview Display" pitchFamily="0" charset="1"/>
        <a:ea typeface=""/>
        <a:cs typeface=""/>
      </a:majorFont>
      <a:minorFont>
        <a:latin typeface="Grandview Display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DashVTI">
  <a:themeElements>
    <a:clrScheme name="DashVTI">
      <a:dk1>
        <a:srgbClr val="000000"/>
      </a:dk1>
      <a:lt1>
        <a:srgbClr val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DashVTI">
      <a:majorFont>
        <a:latin typeface="Grandview Display" pitchFamily="0" charset="1"/>
        <a:ea typeface=""/>
        <a:cs typeface=""/>
      </a:majorFont>
      <a:minorFont>
        <a:latin typeface="Grandview Display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DashVTI">
  <a:themeElements>
    <a:clrScheme name="DashVTI">
      <a:dk1>
        <a:srgbClr val="000000"/>
      </a:dk1>
      <a:lt1>
        <a:srgbClr val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DashVTI">
      <a:majorFont>
        <a:latin typeface="Grandview Display" pitchFamily="0" charset="1"/>
        <a:ea typeface=""/>
        <a:cs typeface=""/>
      </a:majorFont>
      <a:minorFont>
        <a:latin typeface="Grandview Display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DashVTI">
  <a:themeElements>
    <a:clrScheme name="DashVTI">
      <a:dk1>
        <a:srgbClr val="000000"/>
      </a:dk1>
      <a:lt1>
        <a:srgbClr val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DashVTI">
      <a:majorFont>
        <a:latin typeface="Grandview Display" pitchFamily="0" charset="1"/>
        <a:ea typeface=""/>
        <a:cs typeface=""/>
      </a:majorFont>
      <a:minorFont>
        <a:latin typeface="Grandview Display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DashVTI">
  <a:themeElements>
    <a:clrScheme name="DashVTI">
      <a:dk1>
        <a:srgbClr val="000000"/>
      </a:dk1>
      <a:lt1>
        <a:srgbClr val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DashVTI">
      <a:majorFont>
        <a:latin typeface="Grandview Display" pitchFamily="0" charset="1"/>
        <a:ea typeface=""/>
        <a:cs typeface=""/>
      </a:majorFont>
      <a:minorFont>
        <a:latin typeface="Grandview Display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customXml/_rels/item1.xml.rels><?xml version="1.0" encoding="UTF-8"?>
<Relationships xmlns="http://schemas.openxmlformats.org/package/2006/relationships"><Relationship Id="rId1" Type="http://schemas.openxmlformats.org/officeDocument/2006/relationships/customXmlProps" Target="itemProps1.xml"/>
</Relationships>
</file>

<file path=customXml/_rels/item2.xml.rels><?xml version="1.0" encoding="UTF-8"?>
<Relationships xmlns="http://schemas.openxmlformats.org/package/2006/relationships"><Relationship Id="rId1" Type="http://schemas.openxmlformats.org/officeDocument/2006/relationships/customXmlProps" Target="itemProps2.xml"/>
</Relationships>
</file>

<file path=customXml/_rels/item3.xml.rels><?xml version="1.0" encoding="UTF-8"?>
<Relationships xmlns="http://schemas.openxmlformats.org/package/2006/relationships"><Relationship Id="rId1" Type="http://schemas.openxmlformats.org/officeDocument/2006/relationships/customXmlProps" Target="itemProps3.xml"/>
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1551E01F061E674F96D9948F82E90CC0" ma:contentTypeVersion="4" ma:contentTypeDescription="Vytvoří nový dokument" ma:contentTypeScope="" ma:versionID="0ed929cbc1eb582767fc023707286eaf">
  <xsd:schema xmlns:xsd="http://www.w3.org/2001/XMLSchema" xmlns:xs="http://www.w3.org/2001/XMLSchema" xmlns:p="http://schemas.microsoft.com/office/2006/metadata/properties" xmlns:ns2="5f0cc4f6-0c3c-4ea8-92ec-990817b169a4" targetNamespace="http://schemas.microsoft.com/office/2006/metadata/properties" ma:root="true" ma:fieldsID="dc4185c9b68f4bb432064f2de35ca5b8" ns2:_="">
    <xsd:import namespace="5f0cc4f6-0c3c-4ea8-92ec-990817b169a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f0cc4f6-0c3c-4ea8-92ec-990817b169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03DA256-BEF3-4703-AFA0-C69E0571B414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A503566E-0711-4326-999B-C5E7A9DBF8E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24F53EF-9926-4E19-812B-E852BC969F57}"/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440</TotalTime>
  <Application>LibreOffice/24.2.7.2$Linux_X86_64 LibreOffice_project/420$Build-2</Application>
  <AppVersion>15.0000</AppVersion>
  <Words>171</Words>
  <Paragraphs>31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2022-09-21T15:44:15Z</dcterms:created>
  <dc:creator>Sládeček David</dc:creator>
  <dc:description/>
  <dc:language>cs-CZ</dc:language>
  <cp:lastModifiedBy>David Sládeček</cp:lastModifiedBy>
  <dcterms:modified xsi:type="dcterms:W3CDTF">2026-10-02T13:22:04Z</dcterms:modified>
  <cp:revision>43</cp:revision>
  <dc:subject/>
  <dc:title>Programování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mplianceAssetId">
    <vt:lpwstr/>
  </property>
  <property fmtid="{D5CDD505-2E9C-101B-9397-08002B2CF9AE}" pid="3" name="ContentTypeId">
    <vt:lpwstr>0x0101001551E01F061E674F96D9948F82E90CC0</vt:lpwstr>
  </property>
  <property fmtid="{D5CDD505-2E9C-101B-9397-08002B2CF9AE}" pid="4" name="Notes">
    <vt:i4>1</vt:i4>
  </property>
  <property fmtid="{D5CDD505-2E9C-101B-9397-08002B2CF9AE}" pid="5" name="Order">
    <vt:r8>5200</vt:r8>
  </property>
  <property fmtid="{D5CDD505-2E9C-101B-9397-08002B2CF9AE}" pid="6" name="PresentationFormat">
    <vt:lpwstr>Širokoúhlá obrazovka</vt:lpwstr>
  </property>
  <property fmtid="{D5CDD505-2E9C-101B-9397-08002B2CF9AE}" pid="7" name="Slides">
    <vt:i4>7</vt:i4>
  </property>
  <property fmtid="{D5CDD505-2E9C-101B-9397-08002B2CF9AE}" pid="8" name="TemplateUrl">
    <vt:lpwstr/>
  </property>
  <property fmtid="{D5CDD505-2E9C-101B-9397-08002B2CF9AE}" pid="9" name="TriggerFlowInfo">
    <vt:lpwstr/>
  </property>
  <property fmtid="{D5CDD505-2E9C-101B-9397-08002B2CF9AE}" pid="10" name="_ExtendedDescription">
    <vt:lpwstr/>
  </property>
  <property fmtid="{D5CDD505-2E9C-101B-9397-08002B2CF9AE}" pid="11" name="_SharedFileIndex">
    <vt:lpwstr/>
  </property>
  <property fmtid="{D5CDD505-2E9C-101B-9397-08002B2CF9AE}" pid="12" name="_SourceUrl">
    <vt:lpwstr/>
  </property>
  <property fmtid="{D5CDD505-2E9C-101B-9397-08002B2CF9AE}" pid="13" name="xd_ProgID">
    <vt:lpwstr/>
  </property>
  <property fmtid="{D5CDD505-2E9C-101B-9397-08002B2CF9AE}" pid="14" name="xd_Signature">
    <vt:bool>0</vt:bool>
  </property>
</Properties>
</file>