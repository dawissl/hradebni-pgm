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8" r:id="rId4"/>
  </p:sldMasterIdLst>
  <p:notesMasterIdLst>
    <p:notesMasterId r:id="rId12"/>
  </p:notesMasterIdLst>
  <p:sldIdLst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277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5" dt="2026-09-03T05:44:59.0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8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microsoft.com/office/2016/11/relationships/changesInfo" Target="changesInfos/changesInfo1.xml"/><Relationship Id="rId18" Type="http://schemas.microsoft.com/office/2015/10/relationships/revisionInfo" Target="revisionInfo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slide" Target="slides/slide20.xml"/><Relationship Id="rId32" Type="http://schemas.openxmlformats.org/officeDocument/2006/relationships/slide" Target="slides/slide2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ládeček David" userId="S::sladecek@hradebni.cz::474d93f0-3a32-49cc-b837-47806091b590" providerId="AD" clId="Web-{00000000-0000-0000-0000-000000000000}"/>
    <pc:docChg chg="mod modSld addMainMaster delMainMaster">
      <pc:chgData name="Sládeček David" userId="S::sladecek@hradebni.cz::474d93f0-3a32-49cc-b837-47806091b590" providerId="AD" clId="Web-{00000000-0000-0000-0000-000000000000}" dt="2026-09-03T05:46:01.088" v="17"/>
      <pc:docMkLst>
        <pc:docMk/>
      </pc:docMkLst>
      <pc:sldChg chg="addSp delSp modSp mod setBg modClrScheme delDesignElem chgLayout">
        <pc:chgData name="Sládeček David" userId="S::sladecek@hradebni.cz::474d93f0-3a32-49cc-b837-47806091b590" providerId="AD" clId="Web-{00000000-0000-0000-0000-000000000000}" dt="2026-09-03T05:44:55.555" v="13" actId="20577"/>
        <pc:sldMkLst>
          <pc:docMk/>
          <pc:sldMk cId="1179415898" sldId="256"/>
        </pc:sldMkLst>
        <pc:spChg chg="mod ord">
          <ac:chgData name="Sládeček David" userId="S::sladecek@hradebni.cz::474d93f0-3a32-49cc-b837-47806091b590" providerId="AD" clId="Web-{00000000-0000-0000-0000-000000000000}" dt="2026-09-03T05:44:46.039" v="10" actId="20577"/>
          <ac:spMkLst>
            <pc:docMk/>
            <pc:sldMk cId="1179415898" sldId="256"/>
            <ac:spMk id="2" creationId="{37C90CD6-0E54-5071-9182-36048610B614}"/>
          </ac:spMkLst>
        </pc:spChg>
        <pc:spChg chg="mod ord">
          <ac:chgData name="Sládeček David" userId="S::sladecek@hradebni.cz::474d93f0-3a32-49cc-b837-47806091b590" providerId="AD" clId="Web-{00000000-0000-0000-0000-000000000000}" dt="2026-09-03T05:44:55.555" v="13" actId="20577"/>
          <ac:spMkLst>
            <pc:docMk/>
            <pc:sldMk cId="1179415898" sldId="256"/>
            <ac:spMk id="3" creationId="{EE364F67-BE5F-AA7F-9525-0F7D636F30F1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4:37.226" v="2"/>
          <ac:spMkLst>
            <pc:docMk/>
            <pc:sldMk cId="1179415898" sldId="256"/>
            <ac:spMk id="8" creationId="{85AE27A1-125B-7955-BB01-DB47E1984921}"/>
          </ac:spMkLst>
        </pc:spChg>
        <pc:spChg chg="del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1179415898" sldId="256"/>
            <ac:spMk id="9" creationId="{C0782607-67EF-47AC-96DF-A7DE2A282CCB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4:37.226" v="2"/>
          <ac:spMkLst>
            <pc:docMk/>
            <pc:sldMk cId="1179415898" sldId="256"/>
            <ac:spMk id="10" creationId="{090B1A9B-4205-8525-E5AA-27B99868A41B}"/>
          </ac:spMkLst>
        </pc:spChg>
        <pc:spChg chg="del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1179415898" sldId="256"/>
            <ac:spMk id="11" creationId="{65351FED-1024-4E4A-BE3B-371ABFCDF670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4:37.226" v="2"/>
          <ac:spMkLst>
            <pc:docMk/>
            <pc:sldMk cId="1179415898" sldId="256"/>
            <ac:spMk id="12" creationId="{2B584676-79BC-4E35-6927-8126B364614D}"/>
          </ac:spMkLst>
        </pc:spChg>
        <pc:spChg chg="del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1179415898" sldId="256"/>
            <ac:spMk id="13" creationId="{6692CD4C-1BDD-4687-BFFE-33F1462F855E}"/>
          </ac:spMkLst>
        </pc:spChg>
        <pc:picChg chg="del">
          <ac:chgData name="Sládeček David" userId="S::sladecek@hradebni.cz::474d93f0-3a32-49cc-b837-47806091b590" providerId="AD" clId="Web-{00000000-0000-0000-0000-000000000000}" dt="2026-09-03T05:44:31.741" v="1"/>
          <ac:picMkLst>
            <pc:docMk/>
            <pc:sldMk cId="1179415898" sldId="256"/>
            <ac:picMk id="5" creationId="{DF8F8E36-46E3-C140-472F-2A2C04AC366E}"/>
          </ac:picMkLst>
        </pc:picChg>
      </pc:sldChg>
      <pc:sldChg chg="addSp modSp mod modClrScheme chgLayout">
        <pc:chgData name="Sládeček David" userId="S::sladecek@hradebni.cz::474d93f0-3a32-49cc-b837-47806091b590" providerId="AD" clId="Web-{00000000-0000-0000-0000-000000000000}" dt="2026-09-03T05:45:31.931" v="14"/>
        <pc:sldMkLst>
          <pc:docMk/>
          <pc:sldMk cId="1193411076" sldId="257"/>
        </pc:sldMkLst>
        <pc:spChg chg="mod ord">
          <ac:chgData name="Sládeček David" userId="S::sladecek@hradebni.cz::474d93f0-3a32-49cc-b837-47806091b590" providerId="AD" clId="Web-{00000000-0000-0000-0000-000000000000}" dt="2026-09-03T05:45:31.931" v="14"/>
          <ac:spMkLst>
            <pc:docMk/>
            <pc:sldMk cId="1193411076" sldId="257"/>
            <ac:spMk id="2" creationId="{C2ABE8DD-861D-6DE5-4EB8-111F9340CB2B}"/>
          </ac:spMkLst>
        </pc:spChg>
        <pc:spChg chg="mod ord">
          <ac:chgData name="Sládeček David" userId="S::sladecek@hradebni.cz::474d93f0-3a32-49cc-b837-47806091b590" providerId="AD" clId="Web-{00000000-0000-0000-0000-000000000000}" dt="2026-09-03T05:45:31.931" v="14"/>
          <ac:spMkLst>
            <pc:docMk/>
            <pc:sldMk cId="1193411076" sldId="257"/>
            <ac:spMk id="3" creationId="{65972E93-DAC9-E513-56E0-FAE4C410CF5A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5:31.931" v="14"/>
          <ac:spMkLst>
            <pc:docMk/>
            <pc:sldMk cId="1193411076" sldId="257"/>
            <ac:spMk id="8" creationId="{B04C8FDB-7636-E099-933A-56FA7B97D758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5:31.931" v="14"/>
          <ac:spMkLst>
            <pc:docMk/>
            <pc:sldMk cId="1193411076" sldId="257"/>
            <ac:spMk id="10" creationId="{D695048C-4ED8-1785-CE5A-487FCF825C45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5:31.931" v="14"/>
          <ac:spMkLst>
            <pc:docMk/>
            <pc:sldMk cId="1193411076" sldId="257"/>
            <ac:spMk id="12" creationId="{67D57CBD-615F-100D-50B2-90B3CAFEB464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5:31.931" v="14"/>
          <ac:spMkLst>
            <pc:docMk/>
            <pc:sldMk cId="1193411076" sldId="257"/>
            <ac:spMk id="14" creationId="{16149381-361D-52A0-14E9-6E4EB5378B3B}"/>
          </ac:spMkLst>
        </pc:spChg>
      </pc:sldChg>
      <pc:sldChg chg="addSp modSp mod modClrScheme chgLayout">
        <pc:chgData name="Sládeček David" userId="S::sladecek@hradebni.cz::474d93f0-3a32-49cc-b837-47806091b590" providerId="AD" clId="Web-{00000000-0000-0000-0000-000000000000}" dt="2026-09-03T05:45:42.978" v="15"/>
        <pc:sldMkLst>
          <pc:docMk/>
          <pc:sldMk cId="3505840516" sldId="258"/>
        </pc:sldMkLst>
        <pc:spChg chg="mod ord">
          <ac:chgData name="Sládeček David" userId="S::sladecek@hradebni.cz::474d93f0-3a32-49cc-b837-47806091b590" providerId="AD" clId="Web-{00000000-0000-0000-0000-000000000000}" dt="2026-09-03T05:45:42.978" v="15"/>
          <ac:spMkLst>
            <pc:docMk/>
            <pc:sldMk cId="3505840516" sldId="258"/>
            <ac:spMk id="2" creationId="{AB386235-FE3A-529E-ABE4-2D0F0B9610CE}"/>
          </ac:spMkLst>
        </pc:spChg>
        <pc:spChg chg="mod ord">
          <ac:chgData name="Sládeček David" userId="S::sladecek@hradebni.cz::474d93f0-3a32-49cc-b837-47806091b590" providerId="AD" clId="Web-{00000000-0000-0000-0000-000000000000}" dt="2026-09-03T05:45:42.978" v="15"/>
          <ac:spMkLst>
            <pc:docMk/>
            <pc:sldMk cId="3505840516" sldId="258"/>
            <ac:spMk id="3" creationId="{232C0A67-6AAD-4B74-66BE-EE8315B5FD24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5:42.978" v="15"/>
          <ac:spMkLst>
            <pc:docMk/>
            <pc:sldMk cId="3505840516" sldId="258"/>
            <ac:spMk id="1031" creationId="{C4915C41-4C4D-22DA-6C1D-8EDCD60CBD6F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5:42.978" v="15"/>
          <ac:spMkLst>
            <pc:docMk/>
            <pc:sldMk cId="3505840516" sldId="258"/>
            <ac:spMk id="1033" creationId="{70C36DC6-11A5-C29B-C763-7C78570966D0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5:42.978" v="15"/>
          <ac:spMkLst>
            <pc:docMk/>
            <pc:sldMk cId="3505840516" sldId="258"/>
            <ac:spMk id="1035" creationId="{E622008F-6F8C-F456-F22A-BD8F931FB1F8}"/>
          </ac:spMkLst>
        </pc:spChg>
        <pc:picChg chg="mod">
          <ac:chgData name="Sládeček David" userId="S::sladecek@hradebni.cz::474d93f0-3a32-49cc-b837-47806091b590" providerId="AD" clId="Web-{00000000-0000-0000-0000-000000000000}" dt="2026-09-03T05:45:42.978" v="15"/>
          <ac:picMkLst>
            <pc:docMk/>
            <pc:sldMk cId="3505840516" sldId="258"/>
            <ac:picMk id="1026" creationId="{B200EB5D-7C8D-FFC8-A35F-45486B972532}"/>
          </ac:picMkLst>
        </pc:picChg>
      </pc:sldChg>
      <pc:sldChg chg="modSp mod modClrScheme chgLayout">
        <pc:chgData name="Sládeček David" userId="S::sladecek@hradebni.cz::474d93f0-3a32-49cc-b837-47806091b590" providerId="AD" clId="Web-{00000000-0000-0000-0000-000000000000}" dt="2026-09-03T05:44:24.397" v="0"/>
        <pc:sldMkLst>
          <pc:docMk/>
          <pc:sldMk cId="196183517" sldId="259"/>
        </pc:sldMkLst>
        <pc:spChg chg="mod ord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196183517" sldId="259"/>
            <ac:spMk id="2" creationId="{CC085EB1-21A1-CD43-A142-E14178B802F8}"/>
          </ac:spMkLst>
        </pc:spChg>
        <pc:spChg chg="mod ord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196183517" sldId="259"/>
            <ac:spMk id="4" creationId="{F5FE7AC0-A3B1-E3C0-FBD1-32FCB56D6E93}"/>
          </ac:spMkLst>
        </pc:spChg>
        <pc:spChg chg="mod ord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196183517" sldId="259"/>
            <ac:spMk id="6" creationId="{50EDE671-98A9-5358-733F-213EF1E92BAD}"/>
          </ac:spMkLst>
        </pc:spChg>
        <pc:picChg chg="mod ord">
          <ac:chgData name="Sládeček David" userId="S::sladecek@hradebni.cz::474d93f0-3a32-49cc-b837-47806091b590" providerId="AD" clId="Web-{00000000-0000-0000-0000-000000000000}" dt="2026-09-03T05:44:24.397" v="0"/>
          <ac:picMkLst>
            <pc:docMk/>
            <pc:sldMk cId="196183517" sldId="259"/>
            <ac:picMk id="9" creationId="{3648A306-1FEE-D803-2355-BF6400B690C5}"/>
          </ac:picMkLst>
        </pc:picChg>
        <pc:picChg chg="mod ord">
          <ac:chgData name="Sládeček David" userId="S::sladecek@hradebni.cz::474d93f0-3a32-49cc-b837-47806091b590" providerId="AD" clId="Web-{00000000-0000-0000-0000-000000000000}" dt="2026-09-03T05:44:24.397" v="0"/>
          <ac:picMkLst>
            <pc:docMk/>
            <pc:sldMk cId="196183517" sldId="259"/>
            <ac:picMk id="11" creationId="{2DA7B9AA-1866-F0CF-B410-4AC99794489B}"/>
          </ac:picMkLst>
        </pc:picChg>
      </pc:sldChg>
      <pc:sldChg chg="modSp mod modClrScheme chgLayout">
        <pc:chgData name="Sládeček David" userId="S::sladecek@hradebni.cz::474d93f0-3a32-49cc-b837-47806091b590" providerId="AD" clId="Web-{00000000-0000-0000-0000-000000000000}" dt="2026-09-03T05:44:24.397" v="0"/>
        <pc:sldMkLst>
          <pc:docMk/>
          <pc:sldMk cId="946532546" sldId="261"/>
        </pc:sldMkLst>
        <pc:spChg chg="mod ord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946532546" sldId="261"/>
            <ac:spMk id="2" creationId="{3E495D63-421F-19F8-9DDA-3496A16EE21A}"/>
          </ac:spMkLst>
        </pc:spChg>
        <pc:spChg chg="mod ord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946532546" sldId="261"/>
            <ac:spMk id="4" creationId="{10C756C9-0A46-08F9-4580-4EBB5A356F4B}"/>
          </ac:spMkLst>
        </pc:spChg>
        <pc:spChg chg="mod ord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946532546" sldId="261"/>
            <ac:spMk id="6" creationId="{20518221-AF82-FBC4-9E4A-D0692794CDC2}"/>
          </ac:spMkLst>
        </pc:spChg>
        <pc:picChg chg="mod ord">
          <ac:chgData name="Sládeček David" userId="S::sladecek@hradebni.cz::474d93f0-3a32-49cc-b837-47806091b590" providerId="AD" clId="Web-{00000000-0000-0000-0000-000000000000}" dt="2026-09-03T05:44:24.397" v="0"/>
          <ac:picMkLst>
            <pc:docMk/>
            <pc:sldMk cId="946532546" sldId="261"/>
            <ac:picMk id="9" creationId="{0B85BDB5-7257-A0A1-E77A-D60E437849AB}"/>
          </ac:picMkLst>
        </pc:picChg>
        <pc:picChg chg="mod ord">
          <ac:chgData name="Sládeček David" userId="S::sladecek@hradebni.cz::474d93f0-3a32-49cc-b837-47806091b590" providerId="AD" clId="Web-{00000000-0000-0000-0000-000000000000}" dt="2026-09-03T05:44:24.397" v="0"/>
          <ac:picMkLst>
            <pc:docMk/>
            <pc:sldMk cId="946532546" sldId="261"/>
            <ac:picMk id="11" creationId="{BB6D7327-302B-509A-422C-D85A5C7DEA80}"/>
          </ac:picMkLst>
        </pc:picChg>
      </pc:sldChg>
      <pc:sldChg chg="addSp delSp modSp mod setBg modClrScheme delDesignElem chgLayout">
        <pc:chgData name="Sládeček David" userId="S::sladecek@hradebni.cz::474d93f0-3a32-49cc-b837-47806091b590" providerId="AD" clId="Web-{00000000-0000-0000-0000-000000000000}" dt="2026-09-03T05:45:54.619" v="16"/>
        <pc:sldMkLst>
          <pc:docMk/>
          <pc:sldMk cId="1985706453" sldId="262"/>
        </pc:sldMkLst>
        <pc:spChg chg="mod ord">
          <ac:chgData name="Sládeček David" userId="S::sladecek@hradebni.cz::474d93f0-3a32-49cc-b837-47806091b590" providerId="AD" clId="Web-{00000000-0000-0000-0000-000000000000}" dt="2026-09-03T05:45:54.619" v="16"/>
          <ac:spMkLst>
            <pc:docMk/>
            <pc:sldMk cId="1985706453" sldId="262"/>
            <ac:spMk id="2" creationId="{97C71524-CE29-7204-814A-2C171F5C7AA0}"/>
          </ac:spMkLst>
        </pc:spChg>
        <pc:spChg chg="mod ord">
          <ac:chgData name="Sládeček David" userId="S::sladecek@hradebni.cz::474d93f0-3a32-49cc-b837-47806091b590" providerId="AD" clId="Web-{00000000-0000-0000-0000-000000000000}" dt="2026-09-03T05:45:54.619" v="16"/>
          <ac:spMkLst>
            <pc:docMk/>
            <pc:sldMk cId="1985706453" sldId="262"/>
            <ac:spMk id="3" creationId="{FCE06F1C-D258-274F-C40F-A7826AB59DB8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5:54.619" v="16"/>
          <ac:spMkLst>
            <pc:docMk/>
            <pc:sldMk cId="1985706453" sldId="262"/>
            <ac:spMk id="7" creationId="{8B9CD985-E840-BEAC-7B97-8E147416AE84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5:54.619" v="16"/>
          <ac:spMkLst>
            <pc:docMk/>
            <pc:sldMk cId="1985706453" sldId="262"/>
            <ac:spMk id="8" creationId="{F4ACA565-9F73-792B-C518-BC1899CB5307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5:54.619" v="16"/>
          <ac:spMkLst>
            <pc:docMk/>
            <pc:sldMk cId="1985706453" sldId="262"/>
            <ac:spMk id="9" creationId="{C5C07FE7-A99F-A56B-27A0-8B9C7EECD560}"/>
          </ac:spMkLst>
        </pc:spChg>
        <pc:spChg chg="del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1985706453" sldId="262"/>
            <ac:spMk id="10" creationId="{FBFE3618-8387-4153-870E-99EA1B9784F5}"/>
          </ac:spMkLst>
        </pc:spChg>
        <pc:spChg chg="del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1985706453" sldId="262"/>
            <ac:spMk id="12" creationId="{BB99A42A-5548-4BB8-9115-A05821C360AB}"/>
          </ac:spMkLst>
        </pc:spChg>
        <pc:spChg chg="del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1985706453" sldId="262"/>
            <ac:spMk id="14" creationId="{D49441E5-946F-46B3-BDD2-BAD088532367}"/>
          </ac:spMkLst>
        </pc:spChg>
        <pc:picChg chg="mod">
          <ac:chgData name="Sládeček David" userId="S::sladecek@hradebni.cz::474d93f0-3a32-49cc-b837-47806091b590" providerId="AD" clId="Web-{00000000-0000-0000-0000-000000000000}" dt="2026-09-03T05:45:54.619" v="16"/>
          <ac:picMkLst>
            <pc:docMk/>
            <pc:sldMk cId="1985706453" sldId="262"/>
            <ac:picMk id="5" creationId="{D171B47B-9E9F-AB8E-C232-952551B6B406}"/>
          </ac:picMkLst>
        </pc:picChg>
      </pc:sldChg>
      <pc:sldChg chg="addSp delSp modSp mod setBg modClrScheme delDesignElem chgLayout">
        <pc:chgData name="Sládeček David" userId="S::sladecek@hradebni.cz::474d93f0-3a32-49cc-b837-47806091b590" providerId="AD" clId="Web-{00000000-0000-0000-0000-000000000000}" dt="2026-09-03T05:46:01.088" v="17"/>
        <pc:sldMkLst>
          <pc:docMk/>
          <pc:sldMk cId="466483557" sldId="263"/>
        </pc:sldMkLst>
        <pc:spChg chg="mod ord">
          <ac:chgData name="Sládeček David" userId="S::sladecek@hradebni.cz::474d93f0-3a32-49cc-b837-47806091b590" providerId="AD" clId="Web-{00000000-0000-0000-0000-000000000000}" dt="2026-09-03T05:46:01.088" v="17"/>
          <ac:spMkLst>
            <pc:docMk/>
            <pc:sldMk cId="466483557" sldId="263"/>
            <ac:spMk id="2" creationId="{C9B8D8AD-726C-7AB6-573B-2C2C8B0A62DF}"/>
          </ac:spMkLst>
        </pc:spChg>
        <pc:spChg chg="mod ord">
          <ac:chgData name="Sládeček David" userId="S::sladecek@hradebni.cz::474d93f0-3a32-49cc-b837-47806091b590" providerId="AD" clId="Web-{00000000-0000-0000-0000-000000000000}" dt="2026-09-03T05:46:01.088" v="17"/>
          <ac:spMkLst>
            <pc:docMk/>
            <pc:sldMk cId="466483557" sldId="263"/>
            <ac:spMk id="3" creationId="{1B96F939-8674-C729-00B3-8A15A0B833A3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6:01.088" v="17"/>
          <ac:spMkLst>
            <pc:docMk/>
            <pc:sldMk cId="466483557" sldId="263"/>
            <ac:spMk id="7" creationId="{4A4A226E-3196-1301-70D8-6BD862BB3BB5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6:01.088" v="17"/>
          <ac:spMkLst>
            <pc:docMk/>
            <pc:sldMk cId="466483557" sldId="263"/>
            <ac:spMk id="8" creationId="{A464A21D-B1CD-D3AA-1F36-03255A9BAD04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6:01.088" v="17"/>
          <ac:spMkLst>
            <pc:docMk/>
            <pc:sldMk cId="466483557" sldId="263"/>
            <ac:spMk id="9" creationId="{2A6C7FF9-654B-7D48-B2BB-A1DE4357B440}"/>
          </ac:spMkLst>
        </pc:spChg>
        <pc:spChg chg="del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466483557" sldId="263"/>
            <ac:spMk id="10" creationId="{FBFE3618-8387-4153-870E-99EA1B9784F5}"/>
          </ac:spMkLst>
        </pc:spChg>
        <pc:spChg chg="del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466483557" sldId="263"/>
            <ac:spMk id="12" creationId="{BB99A42A-5548-4BB8-9115-A05821C360AB}"/>
          </ac:spMkLst>
        </pc:spChg>
        <pc:spChg chg="del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466483557" sldId="263"/>
            <ac:spMk id="14" creationId="{D49441E5-946F-46B3-BDD2-BAD088532367}"/>
          </ac:spMkLst>
        </pc:spChg>
        <pc:picChg chg="mod">
          <ac:chgData name="Sládeček David" userId="S::sladecek@hradebni.cz::474d93f0-3a32-49cc-b837-47806091b590" providerId="AD" clId="Web-{00000000-0000-0000-0000-000000000000}" dt="2026-09-03T05:46:01.088" v="17"/>
          <ac:picMkLst>
            <pc:docMk/>
            <pc:sldMk cId="466483557" sldId="263"/>
            <ac:picMk id="5" creationId="{BF1C7110-9407-DC37-2AC1-6DF260A3441E}"/>
          </ac:picMkLst>
        </pc:picChg>
      </pc:sldChg>
      <pc:sldMasterChg chg="del delSldLayout">
        <pc:chgData name="Sládeček David" userId="S::sladecek@hradebni.cz::474d93f0-3a32-49cc-b837-47806091b590" providerId="AD" clId="Web-{00000000-0000-0000-0000-000000000000}" dt="2026-09-03T05:44:24.397" v="0"/>
        <pc:sldMasterMkLst>
          <pc:docMk/>
          <pc:sldMasterMk cId="954265959" sldId="2147483711"/>
        </pc:sldMasterMkLst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14411100" sldId="2147483712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1013661319" sldId="2147483713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3689447562" sldId="2147483714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3480985426" sldId="2147483715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2905088054" sldId="2147483716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1416400854" sldId="2147483717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4081409244" sldId="2147483718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3755766572" sldId="2147483719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2088420204" sldId="2147483720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1031568211" sldId="2147483721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1553191059" sldId="2147483722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2927911751" sldId="2147483723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175866580" sldId="2147483724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430736733" sldId="2147483725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3326302660" sldId="2147483726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1757991005" sldId="2147483727"/>
          </pc:sldLayoutMkLst>
        </pc:sldLayoutChg>
      </pc:sldMasterChg>
      <pc:sldMasterChg chg="add addSldLayout modSldLayout">
        <pc:chgData name="Sládeček David" userId="S::sladecek@hradebni.cz::474d93f0-3a32-49cc-b837-47806091b590" providerId="AD" clId="Web-{00000000-0000-0000-0000-000000000000}" dt="2026-09-03T05:44:24.397" v="0"/>
        <pc:sldMasterMkLst>
          <pc:docMk/>
          <pc:sldMasterMk cId="2125188827" sldId="2147483728"/>
        </pc:sldMasterMkLst>
        <pc:sldLayoutChg chg="add mod replId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2125188827" sldId="2147483728"/>
            <pc:sldLayoutMk cId="510413956" sldId="2147483729"/>
          </pc:sldLayoutMkLst>
        </pc:sldLayoutChg>
        <pc:sldLayoutChg chg="add mod replId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2125188827" sldId="2147483728"/>
            <pc:sldLayoutMk cId="3677659548" sldId="2147483730"/>
          </pc:sldLayoutMkLst>
        </pc:sldLayoutChg>
        <pc:sldLayoutChg chg="add mod replId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2125188827" sldId="2147483728"/>
            <pc:sldLayoutMk cId="230259315" sldId="2147483731"/>
          </pc:sldLayoutMkLst>
        </pc:sldLayoutChg>
        <pc:sldLayoutChg chg="add mod replId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2125188827" sldId="2147483728"/>
            <pc:sldLayoutMk cId="867444874" sldId="2147483732"/>
          </pc:sldLayoutMkLst>
        </pc:sldLayoutChg>
        <pc:sldLayoutChg chg="add mod replId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2125188827" sldId="2147483728"/>
            <pc:sldLayoutMk cId="3277176555" sldId="2147483733"/>
          </pc:sldLayoutMkLst>
        </pc:sldLayoutChg>
        <pc:sldLayoutChg chg="add mod replId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2125188827" sldId="2147483728"/>
            <pc:sldLayoutMk cId="3737139801" sldId="2147483734"/>
          </pc:sldLayoutMkLst>
        </pc:sldLayoutChg>
        <pc:sldLayoutChg chg="add mod replId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2125188827" sldId="2147483728"/>
            <pc:sldLayoutMk cId="1526234535" sldId="2147483735"/>
          </pc:sldLayoutMkLst>
        </pc:sldLayoutChg>
        <pc:sldLayoutChg chg="add mod replId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2125188827" sldId="2147483728"/>
            <pc:sldLayoutMk cId="380103632" sldId="2147483736"/>
          </pc:sldLayoutMkLst>
        </pc:sldLayoutChg>
        <pc:sldLayoutChg chg="add mod replId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2125188827" sldId="2147483728"/>
            <pc:sldLayoutMk cId="1180637993" sldId="2147483737"/>
          </pc:sldLayoutMkLst>
        </pc:sldLayoutChg>
        <pc:sldLayoutChg chg="add mod replId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2125188827" sldId="2147483728"/>
            <pc:sldLayoutMk cId="2251727048" sldId="2147483738"/>
          </pc:sldLayoutMkLst>
        </pc:sldLayoutChg>
        <pc:sldLayoutChg chg="add mod replId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2125188827" sldId="2147483728"/>
            <pc:sldLayoutMk cId="61680780" sldId="2147483739"/>
          </pc:sldLayoutMkLst>
        </pc:sldLayoutChg>
      </pc:sldMaster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4CBD7E-8EC4-40D0-831C-FC6BF586B823}" type="datetimeFigureOut">
              <a:rPr lang="cs-CZ" smtClean="0"/>
              <a:t>02.09.2026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519CD6-A7A2-478E-9294-6B57494289C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7388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Řešení:</a:t>
            </a:r>
          </a:p>
          <a:p>
            <a:r>
              <a:t>1) Where(s =&gt; s.Prumer &lt;= 1.5).Select(s =&gt; s.Jmeno)</a:t>
            </a:r>
          </a:p>
          <a:p>
            <a:r>
              <a:t>2) GroupBy(s =&gt; s.Trida).Select(g =&gt; new { g.Key, Prumer = g.Average(s =&gt; s.Prumer) })</a:t>
            </a:r>
          </a:p>
          <a:p>
            <a:r>
              <a:t>3) OrderByDescending(s =&gt; s.Absence).Take(3)</a:t>
            </a:r>
          </a:p>
          <a:p>
            <a:r>
              <a:t>4) Any(s =&gt; s.Trida == "3.A" &amp;&amp; s.Prumer &gt; 4.0)</a:t>
            </a:r>
          </a:p>
          <a:p>
            <a:r>
              <a:t>5) OrderBy(s =&gt; s.Prijmeni).ThenBy(s =&gt; s.Jmeno).Select(s =&gt; $"{s.Prijmeni} {s.Jmeno}")</a:t>
            </a:r>
          </a:p>
          <a:p>
            <a:r>
              <a:t>6) FirstOrDefault(...) + kontrola null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Chyby:</a:t>
            </a:r>
          </a:p>
          <a:p>
            <a:r>
              <a:t>- First vyhodí výjimku, pokud student neexistuje → FirstOrDefault + kontrola null</a:t>
            </a:r>
          </a:p>
          <a:p>
            <a:r>
              <a:t>- druhé OrderBy zahodí první řazení → ThenBy</a:t>
            </a:r>
          </a:p>
          <a:p>
            <a:r>
              <a:t>- slabi se vyhodnotí dvakrát (Count a foreach) → ToList()</a:t>
            </a:r>
          </a:p>
          <a:p>
            <a:r>
              <a:t>- Where(...).Count() &gt; 0 projde celou kolekci → Any(...) skončí u první shody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2629" y="1371600"/>
            <a:ext cx="5935540" cy="2696866"/>
          </a:xfrm>
        </p:spPr>
        <p:txBody>
          <a:bodyPr anchor="t">
            <a:normAutofit/>
          </a:bodyPr>
          <a:lstStyle>
            <a:lvl1pPr algn="l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2629" y="4584879"/>
            <a:ext cx="593554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D83F1-BF6E-4A98-8153-BAC9ABDE7CE3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4139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76E92-E5C8-4FF8-B2BE-A516F6A1724E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76595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9" y="1709738"/>
            <a:ext cx="9214884" cy="3159974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2628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DB232-C681-46A2-B21F-2BD21E9CA134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259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4400" y="2849526"/>
            <a:ext cx="5105400" cy="321047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849526"/>
            <a:ext cx="5105400" cy="3210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BE26E-66F9-4E5F-9E07-CA7CDB200281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74448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371599"/>
            <a:ext cx="10442760" cy="93975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2628" y="2311353"/>
            <a:ext cx="5084947" cy="69537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2628" y="3006725"/>
            <a:ext cx="5084947" cy="318293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311353"/>
            <a:ext cx="5183188" cy="69537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006725"/>
            <a:ext cx="5183188" cy="318293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1A01C-F286-49E7-998E-3D5BB613F99A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176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C2C0A-F771-42D9-AAB0-90C3A2B0FEAD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7139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2A270-409D-4410-9649-B7481576446C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6234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463038"/>
            <a:ext cx="3859397" cy="147154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2628" y="2934586"/>
            <a:ext cx="3859397" cy="293440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00AA3-798A-4433-8927-6E115914B6EF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103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463038"/>
            <a:ext cx="3859397" cy="147154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2628" y="2934586"/>
            <a:ext cx="3859397" cy="293440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22871-0F85-43DC-99D7-CA8E7437E2EC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06379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BE5A2-57A1-4629-B29D-D386573AF9F3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17270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98077" y="1401097"/>
            <a:ext cx="2155722" cy="4775865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401097"/>
            <a:ext cx="8232058" cy="4775866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72485-1B57-41B4-A998-97848CC136C2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68078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371601"/>
            <a:ext cx="10363200" cy="118757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399" y="2559171"/>
            <a:ext cx="10363200" cy="33826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1262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E857DF4D-D974-434D-9D64-40B7405DF5F0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209B62C-3402-4623-9A7C-AA048B56F8C3}"/>
              </a:ext>
            </a:extLst>
          </p:cNvPr>
          <p:cNvCxnSpPr>
            <a:cxnSpLocks/>
          </p:cNvCxnSpPr>
          <p:nvPr/>
        </p:nvCxnSpPr>
        <p:spPr>
          <a:xfrm>
            <a:off x="990600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5188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39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  <p15:guide id="5" pos="576">
          <p15:clr>
            <a:srgbClr val="F26B43"/>
          </p15:clr>
        </p15:guide>
        <p15:guide id="6" orient="horz" pos="864">
          <p15:clr>
            <a:srgbClr val="F26B43"/>
          </p15:clr>
        </p15:guide>
      </p15:sldGuideLst>
    </p:ext>
  </p:extLst>
</p:sldMaster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Lambda funkce a LINQ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PROGRAMOVÁNÍ</a:t>
            </a: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D695048C-4ED8-1785-CE5A-487FCF825C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64C5578-5F64-41E3-8B71-FCD12A72B81F}" type="datetime1">
              <a:rPr lang="en-US" smtClean="0"/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16149381-361D-52A0-14E9-6E4EB537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Lambda výraz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914400" y="2650000"/>
            <a:ext cx="4700000" cy="35500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sz="1600"/>
              <a:t>= </a:t>
            </a:r>
            <a:r>
              <a:rPr b="1" sz="1600"/>
              <a:t>anonymní funkce</a:t>
            </a:r>
            <a:r>
              <a:rPr sz="1600"/>
              <a:t> – funkce bez jména</a:t>
            </a:r>
          </a:p>
          <a:p>
            <a:pPr>
              <a:lnSpc>
                <a:spcPct val="110000"/>
              </a:lnSpc>
            </a:pPr>
            <a:r>
              <a:rPr sz="1600"/>
              <a:t>Zapisujeme ji přímo tam, kde ji potřebujeme</a:t>
            </a:r>
          </a:p>
          <a:p>
            <a:pPr>
              <a:lnSpc>
                <a:spcPct val="110000"/>
              </a:lnSpc>
            </a:pPr>
            <a:r>
              <a:rPr sz="1600"/>
              <a:t>Syntaxe: </a:t>
            </a:r>
            <a:r>
              <a:rPr sz="1600">
                <a:latin typeface="Consolas"/>
              </a:rPr>
              <a:t>parametry =&gt; výraz</a:t>
            </a:r>
          </a:p>
          <a:p>
            <a:pPr>
              <a:lnSpc>
                <a:spcPct val="110000"/>
              </a:lnSpc>
            </a:pPr>
            <a:r>
              <a:rPr sz="1600"/>
              <a:t>Nebo blok: </a:t>
            </a:r>
            <a:r>
              <a:rPr sz="1600">
                <a:latin typeface="Consolas"/>
              </a:rPr>
              <a:t>parametry =&gt; { příkazy; return …; }</a:t>
            </a:r>
          </a:p>
          <a:p>
            <a:pPr>
              <a:lnSpc>
                <a:spcPct val="110000"/>
              </a:lnSpc>
            </a:pPr>
            <a:r>
              <a:rPr sz="1600"/>
              <a:t>Typy parametrů se obvykle </a:t>
            </a:r>
            <a:r>
              <a:rPr b="1" sz="1600"/>
              <a:t>odvodí</a:t>
            </a:r>
            <a:r>
              <a:rPr sz="1600"/>
              <a:t> z kontextu</a:t>
            </a:r>
          </a:p>
          <a:p>
            <a:pPr>
              <a:lnSpc>
                <a:spcPct val="110000"/>
              </a:lnSpc>
            </a:pPr>
            <a:r>
              <a:rPr sz="1600"/>
              <a:t>Šipku </a:t>
            </a:r>
            <a:r>
              <a:rPr sz="1600">
                <a:latin typeface="Consolas"/>
              </a:rPr>
              <a:t>=&gt;</a:t>
            </a:r>
            <a:r>
              <a:rPr sz="1600"/>
              <a:t> čteme „přechází na“</a:t>
            </a: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D695048C-4ED8-1785-CE5A-487FCF825C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64C5578-5F64-41E3-8B71-FCD12A72B81F}" type="datetime1">
              <a:rPr lang="en-US" smtClean="0"/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16149381-361D-52A0-14E9-6E4EB537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15" name="Kód"/>
          <p:cNvSpPr/>
          <p:nvPr/>
        </p:nvSpPr>
        <p:spPr>
          <a:xfrm>
            <a:off x="5800000" y="2650000"/>
            <a:ext cx="5477600" cy="355000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164592" bIns="164592"/>
          <a:lstStyle/>
          <a:p>
            <a:pPr algn="l"/>
            <a:r>
              <a:rPr sz="1550">
                <a:solidFill>
                  <a:srgbClr val="008000"/>
                </a:solidFill>
                <a:latin typeface="Consolas"/>
              </a:rPr>
              <a:t>// běžná metoda</a:t>
            </a:r>
          </a:p>
          <a:p>
            <a:pPr algn="l"/>
            <a:r>
              <a:rPr sz="1550">
                <a:solidFill>
                  <a:srgbClr val="0000FF"/>
                </a:solidFill>
                <a:latin typeface="Consolas"/>
              </a:rPr>
              <a:t>int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74531F"/>
                </a:solidFill>
                <a:latin typeface="Consolas"/>
              </a:rPr>
              <a:t>Zdvoj</a:t>
            </a:r>
            <a:r>
              <a:rPr sz="1550">
                <a:solidFill>
                  <a:srgbClr val="1E1E1E"/>
                </a:solidFill>
                <a:latin typeface="Consolas"/>
              </a:rPr>
              <a:t>(</a:t>
            </a:r>
            <a:r>
              <a:rPr sz="1550">
                <a:solidFill>
                  <a:srgbClr val="0000FF"/>
                </a:solidFill>
                <a:latin typeface="Consolas"/>
              </a:rPr>
              <a:t>int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x</a:t>
            </a:r>
            <a:r>
              <a:rPr sz="1550">
                <a:solidFill>
                  <a:srgbClr val="1E1E1E"/>
                </a:solidFill>
                <a:latin typeface="Consolas"/>
              </a:rPr>
              <a:t>)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{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0000FF"/>
                </a:solidFill>
                <a:latin typeface="Consolas"/>
              </a:rPr>
              <a:t>return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x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*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2</a:t>
            </a:r>
            <a:r>
              <a:rPr sz="1550">
                <a:solidFill>
                  <a:srgbClr val="1E1E1E"/>
                </a:solidFill>
                <a:latin typeface="Consolas"/>
              </a:rPr>
              <a:t>;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}</a:t>
            </a:r>
          </a:p>
          <a:p>
            <a:pPr algn="l"/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</a:p>
          <a:p>
            <a:pPr algn="l"/>
            <a:r>
              <a:rPr sz="1550">
                <a:solidFill>
                  <a:srgbClr val="008000"/>
                </a:solidFill>
                <a:latin typeface="Consolas"/>
              </a:rPr>
              <a:t>// stejná logika jako lambda</a:t>
            </a:r>
          </a:p>
          <a:p>
            <a:pPr algn="l"/>
            <a:r>
              <a:rPr sz="1550">
                <a:solidFill>
                  <a:srgbClr val="1E1E1E"/>
                </a:solidFill>
                <a:latin typeface="Consolas"/>
              </a:rPr>
              <a:t>(</a:t>
            </a:r>
            <a:r>
              <a:rPr sz="1550">
                <a:solidFill>
                  <a:srgbClr val="0000FF"/>
                </a:solidFill>
                <a:latin typeface="Consolas"/>
              </a:rPr>
              <a:t>int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x</a:t>
            </a:r>
            <a:r>
              <a:rPr sz="1550">
                <a:solidFill>
                  <a:srgbClr val="1E1E1E"/>
                </a:solidFill>
                <a:latin typeface="Consolas"/>
              </a:rPr>
              <a:t>)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=</a:t>
            </a:r>
            <a:r>
              <a:rPr sz="1550">
                <a:solidFill>
                  <a:srgbClr val="1E1E1E"/>
                </a:solidFill>
                <a:latin typeface="Consolas"/>
              </a:rPr>
              <a:t>&gt;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x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*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2</a:t>
            </a:r>
          </a:p>
          <a:p>
            <a:pPr algn="l"/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</a:p>
          <a:p>
            <a:pPr algn="l"/>
            <a:r>
              <a:rPr sz="1550">
                <a:solidFill>
                  <a:srgbClr val="008000"/>
                </a:solidFill>
                <a:latin typeface="Consolas"/>
              </a:rPr>
              <a:t>// zkrácený zápis – typ se odvodí</a:t>
            </a:r>
          </a:p>
          <a:p>
            <a:pPr algn="l"/>
            <a:r>
              <a:rPr sz="1550">
                <a:solidFill>
                  <a:srgbClr val="1E1E1E"/>
                </a:solidFill>
                <a:latin typeface="Consolas"/>
              </a:rPr>
              <a:t>x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=</a:t>
            </a:r>
            <a:r>
              <a:rPr sz="1550">
                <a:solidFill>
                  <a:srgbClr val="1E1E1E"/>
                </a:solidFill>
                <a:latin typeface="Consolas"/>
              </a:rPr>
              <a:t>&gt;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x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*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2</a:t>
            </a:r>
          </a:p>
          <a:p>
            <a:pPr algn="l"/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</a:p>
          <a:p>
            <a:pPr algn="l"/>
            <a:r>
              <a:rPr sz="1550">
                <a:solidFill>
                  <a:srgbClr val="008000"/>
                </a:solidFill>
                <a:latin typeface="Consolas"/>
              </a:rPr>
              <a:t>// více parametrů</a:t>
            </a:r>
          </a:p>
          <a:p>
            <a:pPr algn="l"/>
            <a:r>
              <a:rPr sz="1550">
                <a:solidFill>
                  <a:srgbClr val="1E1E1E"/>
                </a:solidFill>
                <a:latin typeface="Consolas"/>
              </a:rPr>
              <a:t>(</a:t>
            </a:r>
            <a:r>
              <a:rPr sz="1550">
                <a:solidFill>
                  <a:srgbClr val="1E1E1E"/>
                </a:solidFill>
                <a:latin typeface="Consolas"/>
              </a:rPr>
              <a:t>a</a:t>
            </a:r>
            <a:r>
              <a:rPr sz="1550">
                <a:solidFill>
                  <a:srgbClr val="1E1E1E"/>
                </a:solidFill>
                <a:latin typeface="Consolas"/>
              </a:rPr>
              <a:t>,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b</a:t>
            </a:r>
            <a:r>
              <a:rPr sz="1550">
                <a:solidFill>
                  <a:srgbClr val="1E1E1E"/>
                </a:solidFill>
                <a:latin typeface="Consolas"/>
              </a:rPr>
              <a:t>)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=</a:t>
            </a:r>
            <a:r>
              <a:rPr sz="1550">
                <a:solidFill>
                  <a:srgbClr val="1E1E1E"/>
                </a:solidFill>
                <a:latin typeface="Consolas"/>
              </a:rPr>
              <a:t>&gt;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a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+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b</a:t>
            </a:r>
          </a:p>
          <a:p>
            <a:pPr algn="l"/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</a:p>
          <a:p>
            <a:pPr algn="l"/>
            <a:r>
              <a:rPr sz="1550">
                <a:solidFill>
                  <a:srgbClr val="008000"/>
                </a:solidFill>
                <a:latin typeface="Consolas"/>
              </a:rPr>
              <a:t>// bez parametrů</a:t>
            </a:r>
          </a:p>
          <a:p>
            <a:pPr algn="l"/>
            <a:r>
              <a:rPr sz="1550">
                <a:solidFill>
                  <a:srgbClr val="1E1E1E"/>
                </a:solidFill>
                <a:latin typeface="Consolas"/>
              </a:rPr>
              <a:t>(</a:t>
            </a:r>
            <a:r>
              <a:rPr sz="1550">
                <a:solidFill>
                  <a:srgbClr val="1E1E1E"/>
                </a:solidFill>
                <a:latin typeface="Consolas"/>
              </a:rPr>
              <a:t>)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=</a:t>
            </a:r>
            <a:r>
              <a:rPr sz="1550">
                <a:solidFill>
                  <a:srgbClr val="1E1E1E"/>
                </a:solidFill>
                <a:latin typeface="Consolas"/>
              </a:rPr>
              <a:t>&gt;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2B91AF"/>
                </a:solidFill>
                <a:latin typeface="Consolas"/>
              </a:rPr>
              <a:t>Console</a:t>
            </a:r>
            <a:r>
              <a:rPr sz="1550">
                <a:solidFill>
                  <a:srgbClr val="1E1E1E"/>
                </a:solidFill>
                <a:latin typeface="Consolas"/>
              </a:rPr>
              <a:t>.</a:t>
            </a:r>
            <a:r>
              <a:rPr sz="1550">
                <a:solidFill>
                  <a:srgbClr val="74531F"/>
                </a:solidFill>
                <a:latin typeface="Consolas"/>
              </a:rPr>
              <a:t>WriteLine</a:t>
            </a:r>
            <a:r>
              <a:rPr sz="1550">
                <a:solidFill>
                  <a:srgbClr val="1E1E1E"/>
                </a:solidFill>
                <a:latin typeface="Consolas"/>
              </a:rPr>
              <a:t>(</a:t>
            </a:r>
            <a:r>
              <a:rPr sz="1550">
                <a:solidFill>
                  <a:srgbClr val="A31515"/>
                </a:solidFill>
                <a:latin typeface="Consolas"/>
              </a:rPr>
              <a:t>"Ahoj"</a:t>
            </a:r>
            <a:r>
              <a:rPr sz="1550">
                <a:solidFill>
                  <a:srgbClr val="1E1E1E"/>
                </a:solidFill>
                <a:latin typeface="Consolas"/>
              </a:rPr>
              <a:t>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Lambda a delegáti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914400" y="2650000"/>
            <a:ext cx="4700000" cy="35500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sz="1600"/>
              <a:t>Lambdu ukládáme do proměnné typu </a:t>
            </a:r>
            <a:r>
              <a:rPr b="1" sz="1600"/>
              <a:t>Func</a:t>
            </a:r>
            <a:r>
              <a:rPr sz="1600"/>
              <a:t> nebo </a:t>
            </a:r>
            <a:r>
              <a:rPr b="1" sz="1600"/>
              <a:t>Action</a:t>
            </a:r>
          </a:p>
          <a:p>
            <a:pPr lvl="1">
              <a:lnSpc>
                <a:spcPct val="110000"/>
              </a:lnSpc>
            </a:pPr>
            <a:r>
              <a:rPr sz="1500"/>
              <a:t>navazuje na téma delegátů</a:t>
            </a:r>
          </a:p>
          <a:p>
            <a:pPr>
              <a:lnSpc>
                <a:spcPct val="110000"/>
              </a:lnSpc>
            </a:pPr>
            <a:r>
              <a:rPr sz="1600"/>
              <a:t>Lambdu lze předat jako </a:t>
            </a:r>
            <a:r>
              <a:rPr b="1" sz="1600"/>
              <a:t>parametr metody</a:t>
            </a:r>
          </a:p>
          <a:p>
            <a:pPr>
              <a:lnSpc>
                <a:spcPct val="110000"/>
              </a:lnSpc>
            </a:pPr>
            <a:r>
              <a:rPr sz="1600"/>
              <a:t>Typické použití:</a:t>
            </a:r>
          </a:p>
          <a:p>
            <a:pPr lvl="1">
              <a:lnSpc>
                <a:spcPct val="110000"/>
              </a:lnSpc>
            </a:pPr>
            <a:r>
              <a:rPr sz="1500"/>
              <a:t>podmínka pro filtrování</a:t>
            </a:r>
          </a:p>
          <a:p>
            <a:pPr lvl="1">
              <a:lnSpc>
                <a:spcPct val="110000"/>
              </a:lnSpc>
            </a:pPr>
            <a:r>
              <a:rPr sz="1500"/>
              <a:t>klíč pro řazení</a:t>
            </a:r>
          </a:p>
          <a:p>
            <a:pPr lvl="1">
              <a:lnSpc>
                <a:spcPct val="110000"/>
              </a:lnSpc>
            </a:pPr>
            <a:r>
              <a:rPr sz="1500"/>
              <a:t>obsluha události</a:t>
            </a: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D695048C-4ED8-1785-CE5A-487FCF825C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64C5578-5F64-41E3-8B71-FCD12A72B81F}" type="datetime1">
              <a:rPr lang="en-US" smtClean="0"/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16149381-361D-52A0-14E9-6E4EB537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15" name="Kód"/>
          <p:cNvSpPr/>
          <p:nvPr/>
        </p:nvSpPr>
        <p:spPr>
          <a:xfrm>
            <a:off x="5800000" y="2650000"/>
            <a:ext cx="5477600" cy="355000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164592" bIns="164592"/>
          <a:lstStyle/>
          <a:p>
            <a:pPr algn="l"/>
            <a:r>
              <a:rPr sz="1500">
                <a:solidFill>
                  <a:srgbClr val="2B91AF"/>
                </a:solidFill>
                <a:latin typeface="Consolas"/>
              </a:rPr>
              <a:t>Func</a:t>
            </a:r>
            <a:r>
              <a:rPr sz="1500">
                <a:solidFill>
                  <a:srgbClr val="1E1E1E"/>
                </a:solidFill>
                <a:latin typeface="Consolas"/>
              </a:rPr>
              <a:t>&lt;</a:t>
            </a:r>
            <a:r>
              <a:rPr sz="1500">
                <a:solidFill>
                  <a:srgbClr val="0000FF"/>
                </a:solidFill>
                <a:latin typeface="Consolas"/>
              </a:rPr>
              <a:t>int</a:t>
            </a:r>
            <a:r>
              <a:rPr sz="1500">
                <a:solidFill>
                  <a:srgbClr val="1E1E1E"/>
                </a:solidFill>
                <a:latin typeface="Consolas"/>
              </a:rPr>
              <a:t>,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0000FF"/>
                </a:solidFill>
                <a:latin typeface="Consolas"/>
              </a:rPr>
              <a:t>int</a:t>
            </a:r>
            <a:r>
              <a:rPr sz="1500">
                <a:solidFill>
                  <a:srgbClr val="1E1E1E"/>
                </a:solidFill>
                <a:latin typeface="Consolas"/>
              </a:rPr>
              <a:t>&gt;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zdvoj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=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x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=</a:t>
            </a:r>
            <a:r>
              <a:rPr sz="1500">
                <a:solidFill>
                  <a:srgbClr val="1E1E1E"/>
                </a:solidFill>
                <a:latin typeface="Consolas"/>
              </a:rPr>
              <a:t>&gt;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x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*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2</a:t>
            </a:r>
            <a:r>
              <a:rPr sz="150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500">
                <a:solidFill>
                  <a:srgbClr val="2B91AF"/>
                </a:solidFill>
                <a:latin typeface="Consolas"/>
              </a:rPr>
              <a:t>Console</a:t>
            </a:r>
            <a:r>
              <a:rPr sz="1500">
                <a:solidFill>
                  <a:srgbClr val="1E1E1E"/>
                </a:solidFill>
                <a:latin typeface="Consolas"/>
              </a:rPr>
              <a:t>.</a:t>
            </a:r>
            <a:r>
              <a:rPr sz="1500">
                <a:solidFill>
                  <a:srgbClr val="74531F"/>
                </a:solidFill>
                <a:latin typeface="Consolas"/>
              </a:rPr>
              <a:t>WriteLine</a:t>
            </a:r>
            <a:r>
              <a:rPr sz="1500">
                <a:solidFill>
                  <a:srgbClr val="1E1E1E"/>
                </a:solidFill>
                <a:latin typeface="Consolas"/>
              </a:rPr>
              <a:t>(</a:t>
            </a:r>
            <a:r>
              <a:rPr sz="1500">
                <a:solidFill>
                  <a:srgbClr val="74531F"/>
                </a:solidFill>
                <a:latin typeface="Consolas"/>
              </a:rPr>
              <a:t>zdvoj</a:t>
            </a:r>
            <a:r>
              <a:rPr sz="1500">
                <a:solidFill>
                  <a:srgbClr val="1E1E1E"/>
                </a:solidFill>
                <a:latin typeface="Consolas"/>
              </a:rPr>
              <a:t>(</a:t>
            </a:r>
            <a:r>
              <a:rPr sz="1500">
                <a:solidFill>
                  <a:srgbClr val="1E1E1E"/>
                </a:solidFill>
                <a:latin typeface="Consolas"/>
              </a:rPr>
              <a:t>5</a:t>
            </a:r>
            <a:r>
              <a:rPr sz="1500">
                <a:solidFill>
                  <a:srgbClr val="1E1E1E"/>
                </a:solidFill>
                <a:latin typeface="Consolas"/>
              </a:rPr>
              <a:t>)</a:t>
            </a:r>
            <a:r>
              <a:rPr sz="1500">
                <a:solidFill>
                  <a:srgbClr val="1E1E1E"/>
                </a:solidFill>
                <a:latin typeface="Consolas"/>
              </a:rPr>
              <a:t>)</a:t>
            </a:r>
            <a:r>
              <a:rPr sz="1500">
                <a:solidFill>
                  <a:srgbClr val="1E1E1E"/>
                </a:solidFill>
                <a:latin typeface="Consolas"/>
              </a:rPr>
              <a:t>;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008000"/>
                </a:solidFill>
                <a:latin typeface="Consolas"/>
              </a:rPr>
              <a:t>// 10</a:t>
            </a:r>
          </a:p>
          <a:p>
            <a:pPr algn="l"/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</a:p>
          <a:p>
            <a:pPr algn="l"/>
            <a:r>
              <a:rPr sz="1500">
                <a:solidFill>
                  <a:srgbClr val="2B91AF"/>
                </a:solidFill>
                <a:latin typeface="Consolas"/>
              </a:rPr>
              <a:t>Func</a:t>
            </a:r>
            <a:r>
              <a:rPr sz="1500">
                <a:solidFill>
                  <a:srgbClr val="1E1E1E"/>
                </a:solidFill>
                <a:latin typeface="Consolas"/>
              </a:rPr>
              <a:t>&lt;</a:t>
            </a:r>
            <a:r>
              <a:rPr sz="1500">
                <a:solidFill>
                  <a:srgbClr val="0000FF"/>
                </a:solidFill>
                <a:latin typeface="Consolas"/>
              </a:rPr>
              <a:t>int</a:t>
            </a:r>
            <a:r>
              <a:rPr sz="1500">
                <a:solidFill>
                  <a:srgbClr val="1E1E1E"/>
                </a:solidFill>
                <a:latin typeface="Consolas"/>
              </a:rPr>
              <a:t>,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0000FF"/>
                </a:solidFill>
                <a:latin typeface="Consolas"/>
              </a:rPr>
              <a:t>int</a:t>
            </a:r>
            <a:r>
              <a:rPr sz="1500">
                <a:solidFill>
                  <a:srgbClr val="1E1E1E"/>
                </a:solidFill>
                <a:latin typeface="Consolas"/>
              </a:rPr>
              <a:t>,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0000FF"/>
                </a:solidFill>
                <a:latin typeface="Consolas"/>
              </a:rPr>
              <a:t>int</a:t>
            </a:r>
            <a:r>
              <a:rPr sz="1500">
                <a:solidFill>
                  <a:srgbClr val="1E1E1E"/>
                </a:solidFill>
                <a:latin typeface="Consolas"/>
              </a:rPr>
              <a:t>&gt;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secti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=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(</a:t>
            </a:r>
            <a:r>
              <a:rPr sz="1500">
                <a:solidFill>
                  <a:srgbClr val="1E1E1E"/>
                </a:solidFill>
                <a:latin typeface="Consolas"/>
              </a:rPr>
              <a:t>a</a:t>
            </a:r>
            <a:r>
              <a:rPr sz="1500">
                <a:solidFill>
                  <a:srgbClr val="1E1E1E"/>
                </a:solidFill>
                <a:latin typeface="Consolas"/>
              </a:rPr>
              <a:t>,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b</a:t>
            </a:r>
            <a:r>
              <a:rPr sz="1500">
                <a:solidFill>
                  <a:srgbClr val="1E1E1E"/>
                </a:solidFill>
                <a:latin typeface="Consolas"/>
              </a:rPr>
              <a:t>)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=</a:t>
            </a:r>
            <a:r>
              <a:rPr sz="1500">
                <a:solidFill>
                  <a:srgbClr val="1E1E1E"/>
                </a:solidFill>
                <a:latin typeface="Consolas"/>
              </a:rPr>
              <a:t>&gt;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a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+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b</a:t>
            </a:r>
            <a:r>
              <a:rPr sz="150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</a:p>
          <a:p>
            <a:pPr algn="l"/>
            <a:r>
              <a:rPr sz="1500">
                <a:solidFill>
                  <a:srgbClr val="2B91AF"/>
                </a:solidFill>
                <a:latin typeface="Consolas"/>
              </a:rPr>
              <a:t>Func</a:t>
            </a:r>
            <a:r>
              <a:rPr sz="1500">
                <a:solidFill>
                  <a:srgbClr val="1E1E1E"/>
                </a:solidFill>
                <a:latin typeface="Consolas"/>
              </a:rPr>
              <a:t>&lt;</a:t>
            </a:r>
            <a:r>
              <a:rPr sz="1500">
                <a:solidFill>
                  <a:srgbClr val="0000FF"/>
                </a:solidFill>
                <a:latin typeface="Consolas"/>
              </a:rPr>
              <a:t>int</a:t>
            </a:r>
            <a:r>
              <a:rPr sz="1500">
                <a:solidFill>
                  <a:srgbClr val="1E1E1E"/>
                </a:solidFill>
                <a:latin typeface="Consolas"/>
              </a:rPr>
              <a:t>,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0000FF"/>
                </a:solidFill>
                <a:latin typeface="Consolas"/>
              </a:rPr>
              <a:t>string</a:t>
            </a:r>
            <a:r>
              <a:rPr sz="1500">
                <a:solidFill>
                  <a:srgbClr val="1E1E1E"/>
                </a:solidFill>
                <a:latin typeface="Consolas"/>
              </a:rPr>
              <a:t>&gt;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popis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=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x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=</a:t>
            </a:r>
            <a:r>
              <a:rPr sz="1500">
                <a:solidFill>
                  <a:srgbClr val="1E1E1E"/>
                </a:solidFill>
                <a:latin typeface="Consolas"/>
              </a:rPr>
              <a:t>&gt;</a:t>
            </a:r>
          </a:p>
          <a:p>
            <a:pPr algn="l"/>
            <a:r>
              <a:rPr sz="1500">
                <a:solidFill>
                  <a:srgbClr val="1E1E1E"/>
                </a:solidFill>
                <a:latin typeface="Consolas"/>
              </a:rPr>
              <a:t>{</a:t>
            </a:r>
          </a:p>
          <a:p>
            <a:pPr algn="l"/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0000FF"/>
                </a:solidFill>
                <a:latin typeface="Consolas"/>
              </a:rPr>
              <a:t>if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(</a:t>
            </a:r>
            <a:r>
              <a:rPr sz="1500">
                <a:solidFill>
                  <a:srgbClr val="1E1E1E"/>
                </a:solidFill>
                <a:latin typeface="Consolas"/>
              </a:rPr>
              <a:t>x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&gt;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0</a:t>
            </a:r>
            <a:r>
              <a:rPr sz="1500">
                <a:solidFill>
                  <a:srgbClr val="1E1E1E"/>
                </a:solidFill>
                <a:latin typeface="Consolas"/>
              </a:rPr>
              <a:t>)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0000FF"/>
                </a:solidFill>
                <a:latin typeface="Consolas"/>
              </a:rPr>
              <a:t>return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A31515"/>
                </a:solidFill>
                <a:latin typeface="Consolas"/>
              </a:rPr>
              <a:t>"kladné"</a:t>
            </a:r>
            <a:r>
              <a:rPr sz="150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0000FF"/>
                </a:solidFill>
                <a:latin typeface="Consolas"/>
              </a:rPr>
              <a:t>if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(</a:t>
            </a:r>
            <a:r>
              <a:rPr sz="1500">
                <a:solidFill>
                  <a:srgbClr val="1E1E1E"/>
                </a:solidFill>
                <a:latin typeface="Consolas"/>
              </a:rPr>
              <a:t>x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&lt;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0</a:t>
            </a:r>
            <a:r>
              <a:rPr sz="1500">
                <a:solidFill>
                  <a:srgbClr val="1E1E1E"/>
                </a:solidFill>
                <a:latin typeface="Consolas"/>
              </a:rPr>
              <a:t>)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0000FF"/>
                </a:solidFill>
                <a:latin typeface="Consolas"/>
              </a:rPr>
              <a:t>return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A31515"/>
                </a:solidFill>
                <a:latin typeface="Consolas"/>
              </a:rPr>
              <a:t>"záporné"</a:t>
            </a:r>
            <a:r>
              <a:rPr sz="150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0000FF"/>
                </a:solidFill>
                <a:latin typeface="Consolas"/>
              </a:rPr>
              <a:t>return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A31515"/>
                </a:solidFill>
                <a:latin typeface="Consolas"/>
              </a:rPr>
              <a:t>"nula"</a:t>
            </a:r>
            <a:r>
              <a:rPr sz="150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500">
                <a:solidFill>
                  <a:srgbClr val="1E1E1E"/>
                </a:solidFill>
                <a:latin typeface="Consolas"/>
              </a:rPr>
              <a:t>}</a:t>
            </a:r>
            <a:r>
              <a:rPr sz="150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</a:p>
          <a:p>
            <a:pPr algn="l"/>
            <a:r>
              <a:rPr sz="1500">
                <a:solidFill>
                  <a:srgbClr val="1E1E1E"/>
                </a:solidFill>
                <a:latin typeface="Consolas"/>
              </a:rPr>
              <a:t>button1</a:t>
            </a:r>
            <a:r>
              <a:rPr sz="1500">
                <a:solidFill>
                  <a:srgbClr val="1E1E1E"/>
                </a:solidFill>
                <a:latin typeface="Consolas"/>
              </a:rPr>
              <a:t>.</a:t>
            </a:r>
            <a:r>
              <a:rPr sz="1500">
                <a:solidFill>
                  <a:srgbClr val="1E1E1E"/>
                </a:solidFill>
                <a:latin typeface="Consolas"/>
              </a:rPr>
              <a:t>Click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+</a:t>
            </a:r>
            <a:r>
              <a:rPr sz="1500">
                <a:solidFill>
                  <a:srgbClr val="1E1E1E"/>
                </a:solidFill>
                <a:latin typeface="Consolas"/>
              </a:rPr>
              <a:t>=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(</a:t>
            </a:r>
            <a:r>
              <a:rPr sz="1500">
                <a:solidFill>
                  <a:srgbClr val="1E1E1E"/>
                </a:solidFill>
                <a:latin typeface="Consolas"/>
              </a:rPr>
              <a:t>s</a:t>
            </a:r>
            <a:r>
              <a:rPr sz="1500">
                <a:solidFill>
                  <a:srgbClr val="1E1E1E"/>
                </a:solidFill>
                <a:latin typeface="Consolas"/>
              </a:rPr>
              <a:t>,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e</a:t>
            </a:r>
            <a:r>
              <a:rPr sz="1500">
                <a:solidFill>
                  <a:srgbClr val="1E1E1E"/>
                </a:solidFill>
                <a:latin typeface="Consolas"/>
              </a:rPr>
              <a:t>)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=</a:t>
            </a:r>
            <a:r>
              <a:rPr sz="1500">
                <a:solidFill>
                  <a:srgbClr val="1E1E1E"/>
                </a:solidFill>
                <a:latin typeface="Consolas"/>
              </a:rPr>
              <a:t>&gt;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74531F"/>
                </a:solidFill>
                <a:latin typeface="Consolas"/>
              </a:rPr>
              <a:t>Close</a:t>
            </a:r>
            <a:r>
              <a:rPr sz="1500">
                <a:solidFill>
                  <a:srgbClr val="1E1E1E"/>
                </a:solidFill>
                <a:latin typeface="Consolas"/>
              </a:rPr>
              <a:t>(</a:t>
            </a:r>
            <a:r>
              <a:rPr sz="1500">
                <a:solidFill>
                  <a:srgbClr val="1E1E1E"/>
                </a:solidFill>
                <a:latin typeface="Consolas"/>
              </a:rPr>
              <a:t>)</a:t>
            </a:r>
            <a:r>
              <a:rPr sz="1500">
                <a:solidFill>
                  <a:srgbClr val="1E1E1E"/>
                </a:solidFill>
                <a:latin typeface="Consolas"/>
              </a:rPr>
              <a:t>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Cyklus vs. LINQ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Cyklus – jak to udělat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LINQ – co chceme</a:t>
            </a: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D695048C-4ED8-1785-CE5A-487FCF825C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64C5578-5F64-41E3-8B71-FCD12A72B81F}" type="datetime1">
              <a:rPr lang="en-US" smtClean="0"/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16149381-361D-52A0-14E9-6E4EB537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912628" y="3080000"/>
            <a:ext cx="5084947" cy="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/>
              <a:t>Ručně procházíme, testujeme, ukládáme a řadíme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3080000"/>
            <a:ext cx="5183188" cy="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/>
              <a:t>Záměr je čitelný přímo z kódu</a:t>
            </a:r>
          </a:p>
        </p:txBody>
      </p:sp>
      <p:sp>
        <p:nvSpPr>
          <p:cNvPr id="17" name="Kód"/>
          <p:cNvSpPr/>
          <p:nvPr/>
        </p:nvSpPr>
        <p:spPr>
          <a:xfrm>
            <a:off x="912628" y="3750000"/>
            <a:ext cx="5084947" cy="240000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164592" bIns="164592"/>
          <a:lstStyle/>
          <a:p>
            <a:pPr algn="l"/>
            <a:r>
              <a:rPr sz="1450">
                <a:solidFill>
                  <a:srgbClr val="2B91AF"/>
                </a:solidFill>
                <a:latin typeface="Consolas"/>
              </a:rPr>
              <a:t>List</a:t>
            </a:r>
            <a:r>
              <a:rPr sz="1450">
                <a:solidFill>
                  <a:srgbClr val="1E1E1E"/>
                </a:solidFill>
                <a:latin typeface="Consolas"/>
              </a:rPr>
              <a:t>&lt;</a:t>
            </a:r>
            <a:r>
              <a:rPr sz="1450">
                <a:solidFill>
                  <a:srgbClr val="0000FF"/>
                </a:solidFill>
                <a:latin typeface="Consolas"/>
              </a:rPr>
              <a:t>string</a:t>
            </a:r>
            <a:r>
              <a:rPr sz="1450">
                <a:solidFill>
                  <a:srgbClr val="1E1E1E"/>
                </a:solidFill>
                <a:latin typeface="Consolas"/>
              </a:rPr>
              <a:t>&gt;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1E1E1E"/>
                </a:solidFill>
                <a:latin typeface="Consolas"/>
              </a:rPr>
              <a:t>vysledek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1E1E1E"/>
                </a:solidFill>
                <a:latin typeface="Consolas"/>
              </a:rPr>
              <a:t>=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0000FF"/>
                </a:solidFill>
                <a:latin typeface="Consolas"/>
              </a:rPr>
              <a:t>new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2B91AF"/>
                </a:solidFill>
                <a:latin typeface="Consolas"/>
              </a:rPr>
              <a:t>List</a:t>
            </a:r>
            <a:r>
              <a:rPr sz="1450">
                <a:solidFill>
                  <a:srgbClr val="1E1E1E"/>
                </a:solidFill>
                <a:latin typeface="Consolas"/>
              </a:rPr>
              <a:t>&lt;</a:t>
            </a:r>
            <a:r>
              <a:rPr sz="1450">
                <a:solidFill>
                  <a:srgbClr val="0000FF"/>
                </a:solidFill>
                <a:latin typeface="Consolas"/>
              </a:rPr>
              <a:t>string</a:t>
            </a:r>
            <a:r>
              <a:rPr sz="1450">
                <a:solidFill>
                  <a:srgbClr val="1E1E1E"/>
                </a:solidFill>
                <a:latin typeface="Consolas"/>
              </a:rPr>
              <a:t>&gt;</a:t>
            </a:r>
            <a:r>
              <a:rPr sz="1450">
                <a:solidFill>
                  <a:srgbClr val="1E1E1E"/>
                </a:solidFill>
                <a:latin typeface="Consolas"/>
              </a:rPr>
              <a:t>(</a:t>
            </a:r>
            <a:r>
              <a:rPr sz="1450">
                <a:solidFill>
                  <a:srgbClr val="1E1E1E"/>
                </a:solidFill>
                <a:latin typeface="Consolas"/>
              </a:rPr>
              <a:t>)</a:t>
            </a:r>
            <a:r>
              <a:rPr sz="145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450">
                <a:solidFill>
                  <a:srgbClr val="0000FF"/>
                </a:solidFill>
                <a:latin typeface="Consolas"/>
              </a:rPr>
              <a:t>foreach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1E1E1E"/>
                </a:solidFill>
                <a:latin typeface="Consolas"/>
              </a:rPr>
              <a:t>(</a:t>
            </a:r>
            <a:r>
              <a:rPr sz="1450">
                <a:solidFill>
                  <a:srgbClr val="2B91AF"/>
                </a:solidFill>
                <a:latin typeface="Consolas"/>
              </a:rPr>
              <a:t>Student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1E1E1E"/>
                </a:solidFill>
                <a:latin typeface="Consolas"/>
              </a:rPr>
              <a:t>s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0000FF"/>
                </a:solidFill>
                <a:latin typeface="Consolas"/>
              </a:rPr>
              <a:t>in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1E1E1E"/>
                </a:solidFill>
                <a:latin typeface="Consolas"/>
              </a:rPr>
              <a:t>studenti</a:t>
            </a:r>
            <a:r>
              <a:rPr sz="1450">
                <a:solidFill>
                  <a:srgbClr val="1E1E1E"/>
                </a:solidFill>
                <a:latin typeface="Consolas"/>
              </a:rPr>
              <a:t>)</a:t>
            </a:r>
          </a:p>
          <a:p>
            <a:pPr algn="l"/>
            <a:r>
              <a:rPr sz="1450">
                <a:solidFill>
                  <a:srgbClr val="1E1E1E"/>
                </a:solidFill>
                <a:latin typeface="Consolas"/>
              </a:rPr>
              <a:t>{</a:t>
            </a:r>
          </a:p>
          <a:p>
            <a:pPr algn="l"/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0000FF"/>
                </a:solidFill>
                <a:latin typeface="Consolas"/>
              </a:rPr>
              <a:t>if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1E1E1E"/>
                </a:solidFill>
                <a:latin typeface="Consolas"/>
              </a:rPr>
              <a:t>(</a:t>
            </a:r>
            <a:r>
              <a:rPr sz="1450">
                <a:solidFill>
                  <a:srgbClr val="1E1E1E"/>
                </a:solidFill>
                <a:latin typeface="Consolas"/>
              </a:rPr>
              <a:t>s</a:t>
            </a:r>
            <a:r>
              <a:rPr sz="1450">
                <a:solidFill>
                  <a:srgbClr val="1E1E1E"/>
                </a:solidFill>
                <a:latin typeface="Consolas"/>
              </a:rPr>
              <a:t>.</a:t>
            </a:r>
            <a:r>
              <a:rPr sz="1450">
                <a:solidFill>
                  <a:srgbClr val="1E1E1E"/>
                </a:solidFill>
                <a:latin typeface="Consolas"/>
              </a:rPr>
              <a:t>Prumer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1E1E1E"/>
                </a:solidFill>
                <a:latin typeface="Consolas"/>
              </a:rPr>
              <a:t>&lt;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1E1E1E"/>
                </a:solidFill>
                <a:latin typeface="Consolas"/>
              </a:rPr>
              <a:t>2</a:t>
            </a:r>
            <a:r>
              <a:rPr sz="1450">
                <a:solidFill>
                  <a:srgbClr val="1E1E1E"/>
                </a:solidFill>
                <a:latin typeface="Consolas"/>
              </a:rPr>
              <a:t>.</a:t>
            </a:r>
            <a:r>
              <a:rPr sz="1450">
                <a:solidFill>
                  <a:srgbClr val="1E1E1E"/>
                </a:solidFill>
                <a:latin typeface="Consolas"/>
              </a:rPr>
              <a:t>0</a:t>
            </a:r>
            <a:r>
              <a:rPr sz="1450">
                <a:solidFill>
                  <a:srgbClr val="1E1E1E"/>
                </a:solidFill>
                <a:latin typeface="Consolas"/>
              </a:rPr>
              <a:t>)</a:t>
            </a:r>
          </a:p>
          <a:p>
            <a:pPr algn="l"/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1E1E1E"/>
                </a:solidFill>
                <a:latin typeface="Consolas"/>
              </a:rPr>
              <a:t>vysledek</a:t>
            </a:r>
            <a:r>
              <a:rPr sz="1450">
                <a:solidFill>
                  <a:srgbClr val="1E1E1E"/>
                </a:solidFill>
                <a:latin typeface="Consolas"/>
              </a:rPr>
              <a:t>.</a:t>
            </a:r>
            <a:r>
              <a:rPr sz="1450">
                <a:solidFill>
                  <a:srgbClr val="74531F"/>
                </a:solidFill>
                <a:latin typeface="Consolas"/>
              </a:rPr>
              <a:t>Add</a:t>
            </a:r>
            <a:r>
              <a:rPr sz="1450">
                <a:solidFill>
                  <a:srgbClr val="1E1E1E"/>
                </a:solidFill>
                <a:latin typeface="Consolas"/>
              </a:rPr>
              <a:t>(</a:t>
            </a:r>
            <a:r>
              <a:rPr sz="1450">
                <a:solidFill>
                  <a:srgbClr val="1E1E1E"/>
                </a:solidFill>
                <a:latin typeface="Consolas"/>
              </a:rPr>
              <a:t>s</a:t>
            </a:r>
            <a:r>
              <a:rPr sz="1450">
                <a:solidFill>
                  <a:srgbClr val="1E1E1E"/>
                </a:solidFill>
                <a:latin typeface="Consolas"/>
              </a:rPr>
              <a:t>.</a:t>
            </a:r>
            <a:r>
              <a:rPr sz="1450">
                <a:solidFill>
                  <a:srgbClr val="1E1E1E"/>
                </a:solidFill>
                <a:latin typeface="Consolas"/>
              </a:rPr>
              <a:t>Jmeno</a:t>
            </a:r>
            <a:r>
              <a:rPr sz="1450">
                <a:solidFill>
                  <a:srgbClr val="1E1E1E"/>
                </a:solidFill>
                <a:latin typeface="Consolas"/>
              </a:rPr>
              <a:t>)</a:t>
            </a:r>
            <a:r>
              <a:rPr sz="145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450">
                <a:solidFill>
                  <a:srgbClr val="1E1E1E"/>
                </a:solidFill>
                <a:latin typeface="Consolas"/>
              </a:rPr>
              <a:t>}</a:t>
            </a:r>
          </a:p>
          <a:p>
            <a:pPr algn="l"/>
            <a:r>
              <a:rPr sz="1450">
                <a:solidFill>
                  <a:srgbClr val="1E1E1E"/>
                </a:solidFill>
                <a:latin typeface="Consolas"/>
              </a:rPr>
              <a:t>vysledek</a:t>
            </a:r>
            <a:r>
              <a:rPr sz="1450">
                <a:solidFill>
                  <a:srgbClr val="1E1E1E"/>
                </a:solidFill>
                <a:latin typeface="Consolas"/>
              </a:rPr>
              <a:t>.</a:t>
            </a:r>
            <a:r>
              <a:rPr sz="1450">
                <a:solidFill>
                  <a:srgbClr val="74531F"/>
                </a:solidFill>
                <a:latin typeface="Consolas"/>
              </a:rPr>
              <a:t>Sort</a:t>
            </a:r>
            <a:r>
              <a:rPr sz="1450">
                <a:solidFill>
                  <a:srgbClr val="1E1E1E"/>
                </a:solidFill>
                <a:latin typeface="Consolas"/>
              </a:rPr>
              <a:t>(</a:t>
            </a:r>
            <a:r>
              <a:rPr sz="1450">
                <a:solidFill>
                  <a:srgbClr val="1E1E1E"/>
                </a:solidFill>
                <a:latin typeface="Consolas"/>
              </a:rPr>
              <a:t>)</a:t>
            </a:r>
            <a:r>
              <a:rPr sz="1450">
                <a:solidFill>
                  <a:srgbClr val="1E1E1E"/>
                </a:solidFill>
                <a:latin typeface="Consolas"/>
              </a:rPr>
              <a:t>;</a:t>
            </a:r>
          </a:p>
        </p:txBody>
      </p:sp>
      <p:sp>
        <p:nvSpPr>
          <p:cNvPr id="18" name="Kód"/>
          <p:cNvSpPr/>
          <p:nvPr/>
        </p:nvSpPr>
        <p:spPr>
          <a:xfrm>
            <a:off x="6172200" y="3750000"/>
            <a:ext cx="5183188" cy="240000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164592" bIns="164592"/>
          <a:lstStyle/>
          <a:p>
            <a:pPr algn="l"/>
            <a:r>
              <a:rPr sz="1600">
                <a:solidFill>
                  <a:srgbClr val="2B91AF"/>
                </a:solidFill>
                <a:latin typeface="Consolas"/>
              </a:rPr>
              <a:t>List</a:t>
            </a:r>
            <a:r>
              <a:rPr sz="1600">
                <a:solidFill>
                  <a:srgbClr val="1E1E1E"/>
                </a:solidFill>
                <a:latin typeface="Consolas"/>
              </a:rPr>
              <a:t>&lt;</a:t>
            </a:r>
            <a:r>
              <a:rPr sz="1600">
                <a:solidFill>
                  <a:srgbClr val="0000FF"/>
                </a:solidFill>
                <a:latin typeface="Consolas"/>
              </a:rPr>
              <a:t>string</a:t>
            </a:r>
            <a:r>
              <a:rPr sz="1600">
                <a:solidFill>
                  <a:srgbClr val="1E1E1E"/>
                </a:solidFill>
                <a:latin typeface="Consolas"/>
              </a:rPr>
              <a:t>&gt;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vysledek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=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studenti</a:t>
            </a:r>
          </a:p>
          <a:p>
            <a:pPr algn="l"/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.</a:t>
            </a:r>
            <a:r>
              <a:rPr sz="1600">
                <a:solidFill>
                  <a:srgbClr val="74531F"/>
                </a:solidFill>
                <a:latin typeface="Consolas"/>
              </a:rPr>
              <a:t>Where</a:t>
            </a:r>
            <a:r>
              <a:rPr sz="1600">
                <a:solidFill>
                  <a:srgbClr val="1E1E1E"/>
                </a:solidFill>
                <a:latin typeface="Consolas"/>
              </a:rPr>
              <a:t>(</a:t>
            </a:r>
            <a:r>
              <a:rPr sz="1600">
                <a:solidFill>
                  <a:srgbClr val="1E1E1E"/>
                </a:solidFill>
                <a:latin typeface="Consolas"/>
              </a:rPr>
              <a:t>s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=</a:t>
            </a:r>
            <a:r>
              <a:rPr sz="1600">
                <a:solidFill>
                  <a:srgbClr val="1E1E1E"/>
                </a:solidFill>
                <a:latin typeface="Consolas"/>
              </a:rPr>
              <a:t>&gt;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s</a:t>
            </a:r>
            <a:r>
              <a:rPr sz="1600">
                <a:solidFill>
                  <a:srgbClr val="1E1E1E"/>
                </a:solidFill>
                <a:latin typeface="Consolas"/>
              </a:rPr>
              <a:t>.</a:t>
            </a:r>
            <a:r>
              <a:rPr sz="1600">
                <a:solidFill>
                  <a:srgbClr val="1E1E1E"/>
                </a:solidFill>
                <a:latin typeface="Consolas"/>
              </a:rPr>
              <a:t>Prumer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&lt;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2</a:t>
            </a:r>
            <a:r>
              <a:rPr sz="1600">
                <a:solidFill>
                  <a:srgbClr val="1E1E1E"/>
                </a:solidFill>
                <a:latin typeface="Consolas"/>
              </a:rPr>
              <a:t>.</a:t>
            </a:r>
            <a:r>
              <a:rPr sz="1600">
                <a:solidFill>
                  <a:srgbClr val="1E1E1E"/>
                </a:solidFill>
                <a:latin typeface="Consolas"/>
              </a:rPr>
              <a:t>0</a:t>
            </a:r>
            <a:r>
              <a:rPr sz="1600">
                <a:solidFill>
                  <a:srgbClr val="1E1E1E"/>
                </a:solidFill>
                <a:latin typeface="Consolas"/>
              </a:rPr>
              <a:t>)</a:t>
            </a:r>
          </a:p>
          <a:p>
            <a:pPr algn="l"/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.</a:t>
            </a:r>
            <a:r>
              <a:rPr sz="1600">
                <a:solidFill>
                  <a:srgbClr val="74531F"/>
                </a:solidFill>
                <a:latin typeface="Consolas"/>
              </a:rPr>
              <a:t>Select</a:t>
            </a:r>
            <a:r>
              <a:rPr sz="1600">
                <a:solidFill>
                  <a:srgbClr val="1E1E1E"/>
                </a:solidFill>
                <a:latin typeface="Consolas"/>
              </a:rPr>
              <a:t>(</a:t>
            </a:r>
            <a:r>
              <a:rPr sz="1600">
                <a:solidFill>
                  <a:srgbClr val="1E1E1E"/>
                </a:solidFill>
                <a:latin typeface="Consolas"/>
              </a:rPr>
              <a:t>s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=</a:t>
            </a:r>
            <a:r>
              <a:rPr sz="1600">
                <a:solidFill>
                  <a:srgbClr val="1E1E1E"/>
                </a:solidFill>
                <a:latin typeface="Consolas"/>
              </a:rPr>
              <a:t>&gt;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s</a:t>
            </a:r>
            <a:r>
              <a:rPr sz="1600">
                <a:solidFill>
                  <a:srgbClr val="1E1E1E"/>
                </a:solidFill>
                <a:latin typeface="Consolas"/>
              </a:rPr>
              <a:t>.</a:t>
            </a:r>
            <a:r>
              <a:rPr sz="1600">
                <a:solidFill>
                  <a:srgbClr val="1E1E1E"/>
                </a:solidFill>
                <a:latin typeface="Consolas"/>
              </a:rPr>
              <a:t>Jmeno</a:t>
            </a:r>
            <a:r>
              <a:rPr sz="1600">
                <a:solidFill>
                  <a:srgbClr val="1E1E1E"/>
                </a:solidFill>
                <a:latin typeface="Consolas"/>
              </a:rPr>
              <a:t>)</a:t>
            </a:r>
          </a:p>
          <a:p>
            <a:pPr algn="l"/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.</a:t>
            </a:r>
            <a:r>
              <a:rPr sz="1600">
                <a:solidFill>
                  <a:srgbClr val="74531F"/>
                </a:solidFill>
                <a:latin typeface="Consolas"/>
              </a:rPr>
              <a:t>OrderBy</a:t>
            </a:r>
            <a:r>
              <a:rPr sz="1600">
                <a:solidFill>
                  <a:srgbClr val="1E1E1E"/>
                </a:solidFill>
                <a:latin typeface="Consolas"/>
              </a:rPr>
              <a:t>(</a:t>
            </a:r>
            <a:r>
              <a:rPr sz="1600">
                <a:solidFill>
                  <a:srgbClr val="1E1E1E"/>
                </a:solidFill>
                <a:latin typeface="Consolas"/>
              </a:rPr>
              <a:t>j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=</a:t>
            </a:r>
            <a:r>
              <a:rPr sz="1600">
                <a:solidFill>
                  <a:srgbClr val="1E1E1E"/>
                </a:solidFill>
                <a:latin typeface="Consolas"/>
              </a:rPr>
              <a:t>&gt;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j</a:t>
            </a:r>
            <a:r>
              <a:rPr sz="1600">
                <a:solidFill>
                  <a:srgbClr val="1E1E1E"/>
                </a:solidFill>
                <a:latin typeface="Consolas"/>
              </a:rPr>
              <a:t>)</a:t>
            </a:r>
          </a:p>
          <a:p>
            <a:pPr algn="l"/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.</a:t>
            </a:r>
            <a:r>
              <a:rPr sz="1600">
                <a:solidFill>
                  <a:srgbClr val="74531F"/>
                </a:solidFill>
                <a:latin typeface="Consolas"/>
              </a:rPr>
              <a:t>ToList</a:t>
            </a:r>
            <a:r>
              <a:rPr sz="1600">
                <a:solidFill>
                  <a:srgbClr val="1E1E1E"/>
                </a:solidFill>
                <a:latin typeface="Consolas"/>
              </a:rPr>
              <a:t>(</a:t>
            </a:r>
            <a:r>
              <a:rPr sz="1600">
                <a:solidFill>
                  <a:srgbClr val="1E1E1E"/>
                </a:solidFill>
                <a:latin typeface="Consolas"/>
              </a:rPr>
              <a:t>)</a:t>
            </a:r>
            <a:r>
              <a:rPr sz="1600">
                <a:solidFill>
                  <a:srgbClr val="1E1E1E"/>
                </a:solidFill>
                <a:latin typeface="Consolas"/>
              </a:rPr>
              <a:t>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Nejčastější LINQ metody</a:t>
            </a: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D695048C-4ED8-1785-CE5A-487FCF825C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64C5578-5F64-41E3-8B71-FCD12A72B81F}" type="datetime1">
              <a:rPr lang="en-US" smtClean="0"/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16149381-361D-52A0-14E9-6E4EB537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914400" y="2600000"/>
          <a:ext cx="103632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63440"/>
                <a:gridCol w="5699760"/>
              </a:tblGrid>
              <a:tr h="310896"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Metoda</a:t>
                      </a:r>
                    </a:p>
                  </a:txBody>
                  <a:tcPr marL="91440" marR="91440" anchor="ctr">
                    <a:solidFill>
                      <a:srgbClr val="197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Co dělá</a:t>
                      </a:r>
                    </a:p>
                  </a:txBody>
                  <a:tcPr marL="91440" marR="91440" anchor="ctr">
                    <a:solidFill>
                      <a:srgbClr val="1973E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500"/>
                        <a:t>Where(podmínka)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filtruje prvky splňující podmínku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500"/>
                        <a:t>Select(transformace)</a:t>
                      </a:r>
                    </a:p>
                  </a:txBody>
                  <a:tcPr marL="91440" marR="91440" anchor="ctr"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převede každý prvek na jiný</a:t>
                      </a:r>
                    </a:p>
                  </a:txBody>
                  <a:tcPr marL="91440" marR="91440" anchor="ctr">
                    <a:solidFill>
                      <a:srgbClr val="F4F5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500"/>
                        <a:t>OrderBy / OrderByDescending / ThenBy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řazení, sekundární klíč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500"/>
                        <a:t>GroupBy(klíč)</a:t>
                      </a:r>
                    </a:p>
                  </a:txBody>
                  <a:tcPr marL="91440" marR="91440" anchor="ctr"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rozdělí kolekci do skupin</a:t>
                      </a:r>
                    </a:p>
                  </a:txBody>
                  <a:tcPr marL="91440" marR="91440" anchor="ctr">
                    <a:solidFill>
                      <a:srgbClr val="F4F5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500"/>
                        <a:t>FirstOrDefault / SingleOrDefault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první / jediný prvek nebo výchozí hodnota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500"/>
                        <a:t>Any / All</a:t>
                      </a:r>
                    </a:p>
                  </a:txBody>
                  <a:tcPr marL="91440" marR="91440" anchor="ctr"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existuje aspoň jeden / platí pro všechny</a:t>
                      </a:r>
                    </a:p>
                  </a:txBody>
                  <a:tcPr marL="91440" marR="91440" anchor="ctr">
                    <a:solidFill>
                      <a:srgbClr val="F4F5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500"/>
                        <a:t>Count / Sum / Average / Min / Max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agregace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500"/>
                        <a:t>Take(n) / Skip(n)</a:t>
                      </a:r>
                    </a:p>
                  </a:txBody>
                  <a:tcPr marL="91440" marR="91440" anchor="ctr"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vezme prvních n / přeskočí n</a:t>
                      </a:r>
                    </a:p>
                  </a:txBody>
                  <a:tcPr marL="91440" marR="91440" anchor="ctr">
                    <a:solidFill>
                      <a:srgbClr val="F4F5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500"/>
                        <a:t>ToList() / ToArray()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vyhodnotí dotaz a uloží výsledek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a Select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914400" y="2650000"/>
            <a:ext cx="4700000" cy="35500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b="1" sz="1600"/>
              <a:t>Where</a:t>
            </a:r>
            <a:r>
              <a:rPr sz="1600"/>
              <a:t> – vybere prvky podle podmínky</a:t>
            </a:r>
          </a:p>
          <a:p>
            <a:pPr lvl="1">
              <a:lnSpc>
                <a:spcPct val="110000"/>
              </a:lnSpc>
            </a:pPr>
            <a:r>
              <a:rPr sz="1500"/>
              <a:t>počet prvků se může zmenšit</a:t>
            </a:r>
          </a:p>
          <a:p>
            <a:pPr>
              <a:lnSpc>
                <a:spcPct val="110000"/>
              </a:lnSpc>
            </a:pPr>
            <a:r>
              <a:rPr b="1" sz="1600"/>
              <a:t>Select</a:t>
            </a:r>
            <a:r>
              <a:rPr sz="1600"/>
              <a:t> – každý prvek převede na jiný</a:t>
            </a:r>
          </a:p>
          <a:p>
            <a:pPr lvl="1">
              <a:lnSpc>
                <a:spcPct val="110000"/>
              </a:lnSpc>
            </a:pPr>
            <a:r>
              <a:rPr sz="1500"/>
              <a:t>počet prvků zůstává stejný</a:t>
            </a:r>
          </a:p>
          <a:p>
            <a:pPr>
              <a:lnSpc>
                <a:spcPct val="110000"/>
              </a:lnSpc>
            </a:pPr>
            <a:r>
              <a:rPr sz="1600"/>
              <a:t>Select může vytvořit </a:t>
            </a:r>
            <a:r>
              <a:rPr b="1" sz="1600"/>
              <a:t>anonymní typ</a:t>
            </a:r>
          </a:p>
          <a:p>
            <a:pPr>
              <a:lnSpc>
                <a:spcPct val="110000"/>
              </a:lnSpc>
            </a:pPr>
            <a:r>
              <a:rPr sz="1600"/>
              <a:t>LINQ funguje nad polem, Listem i dalšími kolekcemi</a:t>
            </a: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D695048C-4ED8-1785-CE5A-487FCF825C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64C5578-5F64-41E3-8B71-FCD12A72B81F}" type="datetime1">
              <a:rPr lang="en-US" smtClean="0"/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16149381-361D-52A0-14E9-6E4EB537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15" name="Kód"/>
          <p:cNvSpPr/>
          <p:nvPr/>
        </p:nvSpPr>
        <p:spPr>
          <a:xfrm>
            <a:off x="5800000" y="2650000"/>
            <a:ext cx="5477600" cy="355000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164592" bIns="164592"/>
          <a:lstStyle/>
          <a:p>
            <a:pPr algn="l"/>
            <a:r>
              <a:rPr sz="1500">
                <a:solidFill>
                  <a:srgbClr val="2B91AF"/>
                </a:solidFill>
                <a:latin typeface="Consolas"/>
              </a:rPr>
              <a:t>List</a:t>
            </a:r>
            <a:r>
              <a:rPr sz="1500">
                <a:solidFill>
                  <a:srgbClr val="1E1E1E"/>
                </a:solidFill>
                <a:latin typeface="Consolas"/>
              </a:rPr>
              <a:t>&lt;</a:t>
            </a:r>
            <a:r>
              <a:rPr sz="1500">
                <a:solidFill>
                  <a:srgbClr val="0000FF"/>
                </a:solidFill>
                <a:latin typeface="Consolas"/>
              </a:rPr>
              <a:t>int</a:t>
            </a:r>
            <a:r>
              <a:rPr sz="1500">
                <a:solidFill>
                  <a:srgbClr val="1E1E1E"/>
                </a:solidFill>
                <a:latin typeface="Consolas"/>
              </a:rPr>
              <a:t>&gt;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cisla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=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0000FF"/>
                </a:solidFill>
                <a:latin typeface="Consolas"/>
              </a:rPr>
              <a:t>new</a:t>
            </a:r>
            <a:r>
              <a:rPr sz="1500">
                <a:solidFill>
                  <a:srgbClr val="1E1E1E"/>
                </a:solidFill>
                <a:latin typeface="Consolas"/>
              </a:rPr>
              <a:t>(</a:t>
            </a:r>
            <a:r>
              <a:rPr sz="1500">
                <a:solidFill>
                  <a:srgbClr val="1E1E1E"/>
                </a:solidFill>
                <a:latin typeface="Consolas"/>
              </a:rPr>
              <a:t>)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{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1</a:t>
            </a:r>
            <a:r>
              <a:rPr sz="1500">
                <a:solidFill>
                  <a:srgbClr val="1E1E1E"/>
                </a:solidFill>
                <a:latin typeface="Consolas"/>
              </a:rPr>
              <a:t>,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2</a:t>
            </a:r>
            <a:r>
              <a:rPr sz="1500">
                <a:solidFill>
                  <a:srgbClr val="1E1E1E"/>
                </a:solidFill>
                <a:latin typeface="Consolas"/>
              </a:rPr>
              <a:t>,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3</a:t>
            </a:r>
            <a:r>
              <a:rPr sz="1500">
                <a:solidFill>
                  <a:srgbClr val="1E1E1E"/>
                </a:solidFill>
                <a:latin typeface="Consolas"/>
              </a:rPr>
              <a:t>,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4</a:t>
            </a:r>
            <a:r>
              <a:rPr sz="1500">
                <a:solidFill>
                  <a:srgbClr val="1E1E1E"/>
                </a:solidFill>
                <a:latin typeface="Consolas"/>
              </a:rPr>
              <a:t>,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5</a:t>
            </a:r>
            <a:r>
              <a:rPr sz="1500">
                <a:solidFill>
                  <a:srgbClr val="1E1E1E"/>
                </a:solidFill>
                <a:latin typeface="Consolas"/>
              </a:rPr>
              <a:t>,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6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}</a:t>
            </a:r>
            <a:r>
              <a:rPr sz="150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</a:p>
          <a:p>
            <a:pPr algn="l"/>
            <a:r>
              <a:rPr sz="1500">
                <a:solidFill>
                  <a:srgbClr val="0000FF"/>
                </a:solidFill>
                <a:latin typeface="Consolas"/>
              </a:rPr>
              <a:t>var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suda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=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cisla</a:t>
            </a:r>
            <a:r>
              <a:rPr sz="1500">
                <a:solidFill>
                  <a:srgbClr val="1E1E1E"/>
                </a:solidFill>
                <a:latin typeface="Consolas"/>
              </a:rPr>
              <a:t>.</a:t>
            </a:r>
            <a:r>
              <a:rPr sz="1500">
                <a:solidFill>
                  <a:srgbClr val="74531F"/>
                </a:solidFill>
                <a:latin typeface="Consolas"/>
              </a:rPr>
              <a:t>Where</a:t>
            </a:r>
            <a:r>
              <a:rPr sz="1500">
                <a:solidFill>
                  <a:srgbClr val="1E1E1E"/>
                </a:solidFill>
                <a:latin typeface="Consolas"/>
              </a:rPr>
              <a:t>(</a:t>
            </a:r>
            <a:r>
              <a:rPr sz="1500">
                <a:solidFill>
                  <a:srgbClr val="1E1E1E"/>
                </a:solidFill>
                <a:latin typeface="Consolas"/>
              </a:rPr>
              <a:t>x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=</a:t>
            </a:r>
            <a:r>
              <a:rPr sz="1500">
                <a:solidFill>
                  <a:srgbClr val="1E1E1E"/>
                </a:solidFill>
                <a:latin typeface="Consolas"/>
              </a:rPr>
              <a:t>&gt;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x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%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2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=</a:t>
            </a:r>
            <a:r>
              <a:rPr sz="1500">
                <a:solidFill>
                  <a:srgbClr val="1E1E1E"/>
                </a:solidFill>
                <a:latin typeface="Consolas"/>
              </a:rPr>
              <a:t>=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0</a:t>
            </a:r>
            <a:r>
              <a:rPr sz="1500">
                <a:solidFill>
                  <a:srgbClr val="1E1E1E"/>
                </a:solidFill>
                <a:latin typeface="Consolas"/>
              </a:rPr>
              <a:t>)</a:t>
            </a:r>
            <a:r>
              <a:rPr sz="150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500">
                <a:solidFill>
                  <a:srgbClr val="008000"/>
                </a:solidFill>
                <a:latin typeface="Consolas"/>
              </a:rPr>
              <a:t>// 2, 4, 6</a:t>
            </a:r>
          </a:p>
          <a:p>
            <a:pPr algn="l"/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</a:p>
          <a:p>
            <a:pPr algn="l"/>
            <a:r>
              <a:rPr sz="1500">
                <a:solidFill>
                  <a:srgbClr val="0000FF"/>
                </a:solidFill>
                <a:latin typeface="Consolas"/>
              </a:rPr>
              <a:t>var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druhe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=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cisla</a:t>
            </a:r>
            <a:r>
              <a:rPr sz="1500">
                <a:solidFill>
                  <a:srgbClr val="1E1E1E"/>
                </a:solidFill>
                <a:latin typeface="Consolas"/>
              </a:rPr>
              <a:t>.</a:t>
            </a:r>
            <a:r>
              <a:rPr sz="1500">
                <a:solidFill>
                  <a:srgbClr val="74531F"/>
                </a:solidFill>
                <a:latin typeface="Consolas"/>
              </a:rPr>
              <a:t>Select</a:t>
            </a:r>
            <a:r>
              <a:rPr sz="1500">
                <a:solidFill>
                  <a:srgbClr val="1E1E1E"/>
                </a:solidFill>
                <a:latin typeface="Consolas"/>
              </a:rPr>
              <a:t>(</a:t>
            </a:r>
            <a:r>
              <a:rPr sz="1500">
                <a:solidFill>
                  <a:srgbClr val="1E1E1E"/>
                </a:solidFill>
                <a:latin typeface="Consolas"/>
              </a:rPr>
              <a:t>x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=</a:t>
            </a:r>
            <a:r>
              <a:rPr sz="1500">
                <a:solidFill>
                  <a:srgbClr val="1E1E1E"/>
                </a:solidFill>
                <a:latin typeface="Consolas"/>
              </a:rPr>
              <a:t>&gt;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x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*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x</a:t>
            </a:r>
            <a:r>
              <a:rPr sz="1500">
                <a:solidFill>
                  <a:srgbClr val="1E1E1E"/>
                </a:solidFill>
                <a:latin typeface="Consolas"/>
              </a:rPr>
              <a:t>)</a:t>
            </a:r>
            <a:r>
              <a:rPr sz="150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500">
                <a:solidFill>
                  <a:srgbClr val="008000"/>
                </a:solidFill>
                <a:latin typeface="Consolas"/>
              </a:rPr>
              <a:t>// 1, 4, 9, 16, 25, 36</a:t>
            </a:r>
          </a:p>
          <a:p>
            <a:pPr algn="l"/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</a:p>
          <a:p>
            <a:pPr algn="l"/>
            <a:r>
              <a:rPr sz="1500">
                <a:solidFill>
                  <a:srgbClr val="2B91AF"/>
                </a:solidFill>
                <a:latin typeface="Consolas"/>
              </a:rPr>
              <a:t>List</a:t>
            </a:r>
            <a:r>
              <a:rPr sz="1500">
                <a:solidFill>
                  <a:srgbClr val="1E1E1E"/>
                </a:solidFill>
                <a:latin typeface="Consolas"/>
              </a:rPr>
              <a:t>&lt;</a:t>
            </a:r>
            <a:r>
              <a:rPr sz="1500">
                <a:solidFill>
                  <a:srgbClr val="0000FF"/>
                </a:solidFill>
                <a:latin typeface="Consolas"/>
              </a:rPr>
              <a:t>string</a:t>
            </a:r>
            <a:r>
              <a:rPr sz="1500">
                <a:solidFill>
                  <a:srgbClr val="1E1E1E"/>
                </a:solidFill>
                <a:latin typeface="Consolas"/>
              </a:rPr>
              <a:t>&gt;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jmena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=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studenti</a:t>
            </a:r>
          </a:p>
          <a:p>
            <a:pPr algn="l"/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.</a:t>
            </a:r>
            <a:r>
              <a:rPr sz="1500">
                <a:solidFill>
                  <a:srgbClr val="74531F"/>
                </a:solidFill>
                <a:latin typeface="Consolas"/>
              </a:rPr>
              <a:t>Select</a:t>
            </a:r>
            <a:r>
              <a:rPr sz="1500">
                <a:solidFill>
                  <a:srgbClr val="1E1E1E"/>
                </a:solidFill>
                <a:latin typeface="Consolas"/>
              </a:rPr>
              <a:t>(</a:t>
            </a:r>
            <a:r>
              <a:rPr sz="1500">
                <a:solidFill>
                  <a:srgbClr val="1E1E1E"/>
                </a:solidFill>
                <a:latin typeface="Consolas"/>
              </a:rPr>
              <a:t>s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=</a:t>
            </a:r>
            <a:r>
              <a:rPr sz="1500">
                <a:solidFill>
                  <a:srgbClr val="1E1E1E"/>
                </a:solidFill>
                <a:latin typeface="Consolas"/>
              </a:rPr>
              <a:t>&gt;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s</a:t>
            </a:r>
            <a:r>
              <a:rPr sz="1500">
                <a:solidFill>
                  <a:srgbClr val="1E1E1E"/>
                </a:solidFill>
                <a:latin typeface="Consolas"/>
              </a:rPr>
              <a:t>.</a:t>
            </a:r>
            <a:r>
              <a:rPr sz="1500">
                <a:solidFill>
                  <a:srgbClr val="1E1E1E"/>
                </a:solidFill>
                <a:latin typeface="Consolas"/>
              </a:rPr>
              <a:t>Jmeno</a:t>
            </a:r>
            <a:r>
              <a:rPr sz="1500">
                <a:solidFill>
                  <a:srgbClr val="1E1E1E"/>
                </a:solidFill>
                <a:latin typeface="Consolas"/>
              </a:rPr>
              <a:t>)</a:t>
            </a:r>
          </a:p>
          <a:p>
            <a:pPr algn="l"/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.</a:t>
            </a:r>
            <a:r>
              <a:rPr sz="1500">
                <a:solidFill>
                  <a:srgbClr val="74531F"/>
                </a:solidFill>
                <a:latin typeface="Consolas"/>
              </a:rPr>
              <a:t>ToList</a:t>
            </a:r>
            <a:r>
              <a:rPr sz="1500">
                <a:solidFill>
                  <a:srgbClr val="1E1E1E"/>
                </a:solidFill>
                <a:latin typeface="Consolas"/>
              </a:rPr>
              <a:t>(</a:t>
            </a:r>
            <a:r>
              <a:rPr sz="1500">
                <a:solidFill>
                  <a:srgbClr val="1E1E1E"/>
                </a:solidFill>
                <a:latin typeface="Consolas"/>
              </a:rPr>
              <a:t>)</a:t>
            </a:r>
            <a:r>
              <a:rPr sz="150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</a:p>
          <a:p>
            <a:pPr algn="l"/>
            <a:r>
              <a:rPr sz="1500">
                <a:solidFill>
                  <a:srgbClr val="0000FF"/>
                </a:solidFill>
                <a:latin typeface="Consolas"/>
              </a:rPr>
              <a:t>var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prehled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=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studenti</a:t>
            </a:r>
            <a:r>
              <a:rPr sz="1500">
                <a:solidFill>
                  <a:srgbClr val="1E1E1E"/>
                </a:solidFill>
                <a:latin typeface="Consolas"/>
              </a:rPr>
              <a:t>.</a:t>
            </a:r>
            <a:r>
              <a:rPr sz="1500">
                <a:solidFill>
                  <a:srgbClr val="74531F"/>
                </a:solidFill>
                <a:latin typeface="Consolas"/>
              </a:rPr>
              <a:t>Select</a:t>
            </a:r>
            <a:r>
              <a:rPr sz="1500">
                <a:solidFill>
                  <a:srgbClr val="1E1E1E"/>
                </a:solidFill>
                <a:latin typeface="Consolas"/>
              </a:rPr>
              <a:t>(</a:t>
            </a:r>
          </a:p>
          <a:p>
            <a:pPr algn="l"/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s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=</a:t>
            </a:r>
            <a:r>
              <a:rPr sz="1500">
                <a:solidFill>
                  <a:srgbClr val="1E1E1E"/>
                </a:solidFill>
                <a:latin typeface="Consolas"/>
              </a:rPr>
              <a:t>&gt;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0000FF"/>
                </a:solidFill>
                <a:latin typeface="Consolas"/>
              </a:rPr>
              <a:t>new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{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s</a:t>
            </a:r>
            <a:r>
              <a:rPr sz="1500">
                <a:solidFill>
                  <a:srgbClr val="1E1E1E"/>
                </a:solidFill>
                <a:latin typeface="Consolas"/>
              </a:rPr>
              <a:t>.</a:t>
            </a:r>
            <a:r>
              <a:rPr sz="1500">
                <a:solidFill>
                  <a:srgbClr val="1E1E1E"/>
                </a:solidFill>
                <a:latin typeface="Consolas"/>
              </a:rPr>
              <a:t>Jmeno</a:t>
            </a:r>
            <a:r>
              <a:rPr sz="1500">
                <a:solidFill>
                  <a:srgbClr val="1E1E1E"/>
                </a:solidFill>
                <a:latin typeface="Consolas"/>
              </a:rPr>
              <a:t>,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s</a:t>
            </a:r>
            <a:r>
              <a:rPr sz="1500">
                <a:solidFill>
                  <a:srgbClr val="1E1E1E"/>
                </a:solidFill>
                <a:latin typeface="Consolas"/>
              </a:rPr>
              <a:t>.</a:t>
            </a:r>
            <a:r>
              <a:rPr sz="1500">
                <a:solidFill>
                  <a:srgbClr val="1E1E1E"/>
                </a:solidFill>
                <a:latin typeface="Consolas"/>
              </a:rPr>
              <a:t>Prumer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}</a:t>
            </a:r>
            <a:r>
              <a:rPr sz="1500">
                <a:solidFill>
                  <a:srgbClr val="1E1E1E"/>
                </a:solidFill>
                <a:latin typeface="Consolas"/>
              </a:rPr>
              <a:t>)</a:t>
            </a:r>
            <a:r>
              <a:rPr sz="1500">
                <a:solidFill>
                  <a:srgbClr val="1E1E1E"/>
                </a:solidFill>
                <a:latin typeface="Consolas"/>
              </a:rPr>
              <a:t>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Řazení a seskupení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914400" y="2650000"/>
            <a:ext cx="4700000" cy="35500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b="1" sz="1600"/>
              <a:t>OrderBy</a:t>
            </a:r>
            <a:r>
              <a:rPr sz="1600"/>
              <a:t> – vzestupně podle klíče</a:t>
            </a:r>
          </a:p>
          <a:p>
            <a:pPr>
              <a:lnSpc>
                <a:spcPct val="110000"/>
              </a:lnSpc>
            </a:pPr>
            <a:r>
              <a:rPr b="1" sz="1600"/>
              <a:t>OrderByDescending</a:t>
            </a:r>
            <a:r>
              <a:rPr sz="1600"/>
              <a:t> – sestupně</a:t>
            </a:r>
          </a:p>
          <a:p>
            <a:pPr>
              <a:lnSpc>
                <a:spcPct val="110000"/>
              </a:lnSpc>
            </a:pPr>
            <a:r>
              <a:rPr b="1" sz="1600"/>
              <a:t>ThenBy</a:t>
            </a:r>
            <a:r>
              <a:rPr sz="1600"/>
              <a:t> – druhý klíč při shodě prvního</a:t>
            </a:r>
          </a:p>
          <a:p>
            <a:pPr lvl="1">
              <a:lnSpc>
                <a:spcPct val="110000"/>
              </a:lnSpc>
            </a:pPr>
            <a:r>
              <a:rPr sz="1500"/>
              <a:t>dvojí OrderBy by první řazení zahodilo</a:t>
            </a:r>
          </a:p>
          <a:p>
            <a:pPr>
              <a:lnSpc>
                <a:spcPct val="110000"/>
              </a:lnSpc>
            </a:pPr>
            <a:r>
              <a:rPr b="1" sz="1600"/>
              <a:t>GroupBy</a:t>
            </a:r>
            <a:r>
              <a:rPr sz="1600"/>
              <a:t> – skupiny podle klíče</a:t>
            </a:r>
          </a:p>
          <a:p>
            <a:pPr lvl="1">
              <a:lnSpc>
                <a:spcPct val="110000"/>
              </a:lnSpc>
            </a:pPr>
            <a:r>
              <a:rPr sz="1500"/>
              <a:t>skupina má vlastnost Key a lze ji procházet</a:t>
            </a: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D695048C-4ED8-1785-CE5A-487FCF825C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64C5578-5F64-41E3-8B71-FCD12A72B81F}" type="datetime1">
              <a:rPr lang="en-US" smtClean="0"/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16149381-361D-52A0-14E9-6E4EB537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15" name="Kód"/>
          <p:cNvSpPr/>
          <p:nvPr/>
        </p:nvSpPr>
        <p:spPr>
          <a:xfrm>
            <a:off x="5800000" y="2650000"/>
            <a:ext cx="5477600" cy="355000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164592" bIns="164592"/>
          <a:lstStyle/>
          <a:p>
            <a:pPr algn="l"/>
            <a:r>
              <a:rPr sz="1250">
                <a:solidFill>
                  <a:srgbClr val="0000FF"/>
                </a:solidFill>
                <a:latin typeface="Consolas"/>
              </a:rPr>
              <a:t>var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serazeni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=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studenti</a:t>
            </a:r>
          </a:p>
          <a:p>
            <a:pPr algn="l"/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.</a:t>
            </a:r>
            <a:r>
              <a:rPr sz="1250">
                <a:solidFill>
                  <a:srgbClr val="74531F"/>
                </a:solidFill>
                <a:latin typeface="Consolas"/>
              </a:rPr>
              <a:t>OrderBy</a:t>
            </a:r>
            <a:r>
              <a:rPr sz="1250">
                <a:solidFill>
                  <a:srgbClr val="1E1E1E"/>
                </a:solidFill>
                <a:latin typeface="Consolas"/>
              </a:rPr>
              <a:t>(</a:t>
            </a:r>
            <a:r>
              <a:rPr sz="1250">
                <a:solidFill>
                  <a:srgbClr val="1E1E1E"/>
                </a:solidFill>
                <a:latin typeface="Consolas"/>
              </a:rPr>
              <a:t>s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=</a:t>
            </a:r>
            <a:r>
              <a:rPr sz="1250">
                <a:solidFill>
                  <a:srgbClr val="1E1E1E"/>
                </a:solidFill>
                <a:latin typeface="Consolas"/>
              </a:rPr>
              <a:t>&gt;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s</a:t>
            </a:r>
            <a:r>
              <a:rPr sz="1250">
                <a:solidFill>
                  <a:srgbClr val="1E1E1E"/>
                </a:solidFill>
                <a:latin typeface="Consolas"/>
              </a:rPr>
              <a:t>.</a:t>
            </a:r>
            <a:r>
              <a:rPr sz="1250">
                <a:solidFill>
                  <a:srgbClr val="1E1E1E"/>
                </a:solidFill>
                <a:latin typeface="Consolas"/>
              </a:rPr>
              <a:t>Prijmeni</a:t>
            </a:r>
            <a:r>
              <a:rPr sz="1250">
                <a:solidFill>
                  <a:srgbClr val="1E1E1E"/>
                </a:solidFill>
                <a:latin typeface="Consolas"/>
              </a:rPr>
              <a:t>)</a:t>
            </a:r>
          </a:p>
          <a:p>
            <a:pPr algn="l"/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.</a:t>
            </a:r>
            <a:r>
              <a:rPr sz="1250">
                <a:solidFill>
                  <a:srgbClr val="74531F"/>
                </a:solidFill>
                <a:latin typeface="Consolas"/>
              </a:rPr>
              <a:t>ThenBy</a:t>
            </a:r>
            <a:r>
              <a:rPr sz="1250">
                <a:solidFill>
                  <a:srgbClr val="1E1E1E"/>
                </a:solidFill>
                <a:latin typeface="Consolas"/>
              </a:rPr>
              <a:t>(</a:t>
            </a:r>
            <a:r>
              <a:rPr sz="1250">
                <a:solidFill>
                  <a:srgbClr val="1E1E1E"/>
                </a:solidFill>
                <a:latin typeface="Consolas"/>
              </a:rPr>
              <a:t>s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=</a:t>
            </a:r>
            <a:r>
              <a:rPr sz="1250">
                <a:solidFill>
                  <a:srgbClr val="1E1E1E"/>
                </a:solidFill>
                <a:latin typeface="Consolas"/>
              </a:rPr>
              <a:t>&gt;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s</a:t>
            </a:r>
            <a:r>
              <a:rPr sz="1250">
                <a:solidFill>
                  <a:srgbClr val="1E1E1E"/>
                </a:solidFill>
                <a:latin typeface="Consolas"/>
              </a:rPr>
              <a:t>.</a:t>
            </a:r>
            <a:r>
              <a:rPr sz="1250">
                <a:solidFill>
                  <a:srgbClr val="1E1E1E"/>
                </a:solidFill>
                <a:latin typeface="Consolas"/>
              </a:rPr>
              <a:t>Jmeno</a:t>
            </a:r>
            <a:r>
              <a:rPr sz="1250">
                <a:solidFill>
                  <a:srgbClr val="1E1E1E"/>
                </a:solidFill>
                <a:latin typeface="Consolas"/>
              </a:rPr>
              <a:t>)</a:t>
            </a:r>
            <a:r>
              <a:rPr sz="125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</a:p>
          <a:p>
            <a:pPr algn="l"/>
            <a:r>
              <a:rPr sz="1250">
                <a:solidFill>
                  <a:srgbClr val="0000FF"/>
                </a:solidFill>
                <a:latin typeface="Consolas"/>
              </a:rPr>
              <a:t>var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poRocnicich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=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studenti</a:t>
            </a:r>
          </a:p>
          <a:p>
            <a:pPr algn="l"/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.</a:t>
            </a:r>
            <a:r>
              <a:rPr sz="1250">
                <a:solidFill>
                  <a:srgbClr val="74531F"/>
                </a:solidFill>
                <a:latin typeface="Consolas"/>
              </a:rPr>
              <a:t>GroupBy</a:t>
            </a:r>
            <a:r>
              <a:rPr sz="1250">
                <a:solidFill>
                  <a:srgbClr val="1E1E1E"/>
                </a:solidFill>
                <a:latin typeface="Consolas"/>
              </a:rPr>
              <a:t>(</a:t>
            </a:r>
            <a:r>
              <a:rPr sz="1250">
                <a:solidFill>
                  <a:srgbClr val="1E1E1E"/>
                </a:solidFill>
                <a:latin typeface="Consolas"/>
              </a:rPr>
              <a:t>s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=</a:t>
            </a:r>
            <a:r>
              <a:rPr sz="1250">
                <a:solidFill>
                  <a:srgbClr val="1E1E1E"/>
                </a:solidFill>
                <a:latin typeface="Consolas"/>
              </a:rPr>
              <a:t>&gt;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s</a:t>
            </a:r>
            <a:r>
              <a:rPr sz="1250">
                <a:solidFill>
                  <a:srgbClr val="1E1E1E"/>
                </a:solidFill>
                <a:latin typeface="Consolas"/>
              </a:rPr>
              <a:t>.</a:t>
            </a:r>
            <a:r>
              <a:rPr sz="1250">
                <a:solidFill>
                  <a:srgbClr val="1E1E1E"/>
                </a:solidFill>
                <a:latin typeface="Consolas"/>
              </a:rPr>
              <a:t>Rocnik</a:t>
            </a:r>
            <a:r>
              <a:rPr sz="1250">
                <a:solidFill>
                  <a:srgbClr val="1E1E1E"/>
                </a:solidFill>
                <a:latin typeface="Consolas"/>
              </a:rPr>
              <a:t>)</a:t>
            </a:r>
            <a:r>
              <a:rPr sz="125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</a:p>
          <a:p>
            <a:pPr algn="l"/>
            <a:r>
              <a:rPr sz="1250">
                <a:solidFill>
                  <a:srgbClr val="0000FF"/>
                </a:solidFill>
                <a:latin typeface="Consolas"/>
              </a:rPr>
              <a:t>foreach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(</a:t>
            </a:r>
            <a:r>
              <a:rPr sz="1250">
                <a:solidFill>
                  <a:srgbClr val="0000FF"/>
                </a:solidFill>
                <a:latin typeface="Consolas"/>
              </a:rPr>
              <a:t>var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skupina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0000FF"/>
                </a:solidFill>
                <a:latin typeface="Consolas"/>
              </a:rPr>
              <a:t>in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poRocnicich</a:t>
            </a:r>
            <a:r>
              <a:rPr sz="1250">
                <a:solidFill>
                  <a:srgbClr val="1E1E1E"/>
                </a:solidFill>
                <a:latin typeface="Consolas"/>
              </a:rPr>
              <a:t>)</a:t>
            </a:r>
          </a:p>
          <a:p>
            <a:pPr algn="l"/>
            <a:r>
              <a:rPr sz="1250">
                <a:solidFill>
                  <a:srgbClr val="1E1E1E"/>
                </a:solidFill>
                <a:latin typeface="Consolas"/>
              </a:rPr>
              <a:t>{</a:t>
            </a:r>
          </a:p>
          <a:p>
            <a:pPr algn="l"/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2B91AF"/>
                </a:solidFill>
                <a:latin typeface="Consolas"/>
              </a:rPr>
              <a:t>Console</a:t>
            </a:r>
            <a:r>
              <a:rPr sz="1250">
                <a:solidFill>
                  <a:srgbClr val="1E1E1E"/>
                </a:solidFill>
                <a:latin typeface="Consolas"/>
              </a:rPr>
              <a:t>.</a:t>
            </a:r>
            <a:r>
              <a:rPr sz="1250">
                <a:solidFill>
                  <a:srgbClr val="74531F"/>
                </a:solidFill>
                <a:latin typeface="Consolas"/>
              </a:rPr>
              <a:t>WriteLine</a:t>
            </a:r>
            <a:r>
              <a:rPr sz="1250">
                <a:solidFill>
                  <a:srgbClr val="1E1E1E"/>
                </a:solidFill>
                <a:latin typeface="Consolas"/>
              </a:rPr>
              <a:t>(</a:t>
            </a:r>
          </a:p>
          <a:p>
            <a:pPr algn="l"/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$</a:t>
            </a:r>
            <a:r>
              <a:rPr sz="1250">
                <a:solidFill>
                  <a:srgbClr val="A31515"/>
                </a:solidFill>
                <a:latin typeface="Consolas"/>
              </a:rPr>
              <a:t>"{skupina.Key}. ročník: {skupina.Count()}"</a:t>
            </a:r>
            <a:r>
              <a:rPr sz="1250">
                <a:solidFill>
                  <a:srgbClr val="1E1E1E"/>
                </a:solidFill>
                <a:latin typeface="Consolas"/>
              </a:rPr>
              <a:t>)</a:t>
            </a:r>
            <a:r>
              <a:rPr sz="125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0000FF"/>
                </a:solidFill>
                <a:latin typeface="Consolas"/>
              </a:rPr>
              <a:t>foreach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(</a:t>
            </a:r>
            <a:r>
              <a:rPr sz="1250">
                <a:solidFill>
                  <a:srgbClr val="2B91AF"/>
                </a:solidFill>
                <a:latin typeface="Consolas"/>
              </a:rPr>
              <a:t>Student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s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0000FF"/>
                </a:solidFill>
                <a:latin typeface="Consolas"/>
              </a:rPr>
              <a:t>in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skupina</a:t>
            </a:r>
            <a:r>
              <a:rPr sz="1250">
                <a:solidFill>
                  <a:srgbClr val="1E1E1E"/>
                </a:solidFill>
                <a:latin typeface="Consolas"/>
              </a:rPr>
              <a:t>)</a:t>
            </a:r>
          </a:p>
          <a:p>
            <a:pPr algn="l"/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2B91AF"/>
                </a:solidFill>
                <a:latin typeface="Consolas"/>
              </a:rPr>
              <a:t>Console</a:t>
            </a:r>
            <a:r>
              <a:rPr sz="1250">
                <a:solidFill>
                  <a:srgbClr val="1E1E1E"/>
                </a:solidFill>
                <a:latin typeface="Consolas"/>
              </a:rPr>
              <a:t>.</a:t>
            </a:r>
            <a:r>
              <a:rPr sz="1250">
                <a:solidFill>
                  <a:srgbClr val="74531F"/>
                </a:solidFill>
                <a:latin typeface="Consolas"/>
              </a:rPr>
              <a:t>WriteLine</a:t>
            </a:r>
            <a:r>
              <a:rPr sz="1250">
                <a:solidFill>
                  <a:srgbClr val="1E1E1E"/>
                </a:solidFill>
                <a:latin typeface="Consolas"/>
              </a:rPr>
              <a:t>(</a:t>
            </a:r>
            <a:r>
              <a:rPr sz="1250">
                <a:solidFill>
                  <a:srgbClr val="1E1E1E"/>
                </a:solidFill>
                <a:latin typeface="Consolas"/>
              </a:rPr>
              <a:t>$</a:t>
            </a:r>
            <a:r>
              <a:rPr sz="1250">
                <a:solidFill>
                  <a:srgbClr val="A31515"/>
                </a:solidFill>
                <a:latin typeface="Consolas"/>
              </a:rPr>
              <a:t>"  - {s.Jmeno}"</a:t>
            </a:r>
            <a:r>
              <a:rPr sz="1250">
                <a:solidFill>
                  <a:srgbClr val="1E1E1E"/>
                </a:solidFill>
                <a:latin typeface="Consolas"/>
              </a:rPr>
              <a:t>)</a:t>
            </a:r>
            <a:r>
              <a:rPr sz="125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250">
                <a:solidFill>
                  <a:srgbClr val="1E1E1E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Hledání a kontrola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914400" y="2650000"/>
            <a:ext cx="4700000" cy="35500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b="1" sz="1600"/>
              <a:t>FirstOrDefault</a:t>
            </a:r>
            <a:r>
              <a:rPr sz="1600"/>
              <a:t> – první shoda, jinak null / 0</a:t>
            </a:r>
          </a:p>
          <a:p>
            <a:pPr>
              <a:lnSpc>
                <a:spcPct val="110000"/>
              </a:lnSpc>
            </a:pPr>
            <a:r>
              <a:rPr b="1" sz="1600"/>
              <a:t>First</a:t>
            </a:r>
            <a:r>
              <a:rPr sz="1600"/>
              <a:t> – při nenalezení vyhodí výjimku</a:t>
            </a:r>
          </a:p>
          <a:p>
            <a:pPr>
              <a:lnSpc>
                <a:spcPct val="110000"/>
              </a:lnSpc>
            </a:pPr>
            <a:r>
              <a:rPr b="1" sz="1600"/>
              <a:t>SingleOrDefault</a:t>
            </a:r>
            <a:r>
              <a:rPr sz="1600"/>
              <a:t> – shoda smí být nejvýše jedna</a:t>
            </a:r>
          </a:p>
          <a:p>
            <a:pPr lvl="1">
              <a:lnSpc>
                <a:spcPct val="110000"/>
              </a:lnSpc>
            </a:pPr>
            <a:r>
              <a:rPr sz="1500"/>
              <a:t>vhodné pro hledání podle unikátního ID</a:t>
            </a:r>
          </a:p>
          <a:p>
            <a:pPr>
              <a:lnSpc>
                <a:spcPct val="110000"/>
              </a:lnSpc>
            </a:pPr>
            <a:r>
              <a:rPr b="1" sz="1600"/>
              <a:t>Any</a:t>
            </a:r>
            <a:r>
              <a:rPr sz="1600"/>
              <a:t> – existuje aspoň jeden? Skončí u první shody</a:t>
            </a:r>
          </a:p>
          <a:p>
            <a:pPr>
              <a:lnSpc>
                <a:spcPct val="110000"/>
              </a:lnSpc>
            </a:pPr>
            <a:r>
              <a:rPr b="1" sz="1600"/>
              <a:t>All</a:t>
            </a:r>
            <a:r>
              <a:rPr sz="1600"/>
              <a:t> – platí podmínka pro všechny?</a:t>
            </a: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D695048C-4ED8-1785-CE5A-487FCF825C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64C5578-5F64-41E3-8B71-FCD12A72B81F}" type="datetime1">
              <a:rPr lang="en-US" smtClean="0"/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16149381-361D-52A0-14E9-6E4EB537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15" name="Kód"/>
          <p:cNvSpPr/>
          <p:nvPr/>
        </p:nvSpPr>
        <p:spPr>
          <a:xfrm>
            <a:off x="5800000" y="2650000"/>
            <a:ext cx="5477600" cy="355000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164592" bIns="164592"/>
          <a:lstStyle/>
          <a:p>
            <a:pPr algn="l"/>
            <a:r>
              <a:rPr sz="1400">
                <a:solidFill>
                  <a:srgbClr val="2B91AF"/>
                </a:solidFill>
                <a:latin typeface="Consolas"/>
              </a:rPr>
              <a:t>Student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nej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=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studenti</a:t>
            </a:r>
          </a:p>
          <a:p>
            <a:pPr algn="l"/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.</a:t>
            </a:r>
            <a:r>
              <a:rPr sz="1400">
                <a:solidFill>
                  <a:srgbClr val="74531F"/>
                </a:solidFill>
                <a:latin typeface="Consolas"/>
              </a:rPr>
              <a:t>FirstOrDefault</a:t>
            </a:r>
            <a:r>
              <a:rPr sz="1400">
                <a:solidFill>
                  <a:srgbClr val="1E1E1E"/>
                </a:solidFill>
                <a:latin typeface="Consolas"/>
              </a:rPr>
              <a:t>(</a:t>
            </a:r>
            <a:r>
              <a:rPr sz="1400">
                <a:solidFill>
                  <a:srgbClr val="1E1E1E"/>
                </a:solidFill>
                <a:latin typeface="Consolas"/>
              </a:rPr>
              <a:t>s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=</a:t>
            </a:r>
            <a:r>
              <a:rPr sz="1400">
                <a:solidFill>
                  <a:srgbClr val="1E1E1E"/>
                </a:solidFill>
                <a:latin typeface="Consolas"/>
              </a:rPr>
              <a:t>&gt;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s</a:t>
            </a:r>
            <a:r>
              <a:rPr sz="1400">
                <a:solidFill>
                  <a:srgbClr val="1E1E1E"/>
                </a:solidFill>
                <a:latin typeface="Consolas"/>
              </a:rPr>
              <a:t>.</a:t>
            </a:r>
            <a:r>
              <a:rPr sz="1400">
                <a:solidFill>
                  <a:srgbClr val="1E1E1E"/>
                </a:solidFill>
                <a:latin typeface="Consolas"/>
              </a:rPr>
              <a:t>Prumer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=</a:t>
            </a:r>
            <a:r>
              <a:rPr sz="1400">
                <a:solidFill>
                  <a:srgbClr val="1E1E1E"/>
                </a:solidFill>
                <a:latin typeface="Consolas"/>
              </a:rPr>
              <a:t>=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1</a:t>
            </a:r>
            <a:r>
              <a:rPr sz="1400">
                <a:solidFill>
                  <a:srgbClr val="1E1E1E"/>
                </a:solidFill>
                <a:latin typeface="Consolas"/>
              </a:rPr>
              <a:t>.</a:t>
            </a:r>
            <a:r>
              <a:rPr sz="1400">
                <a:solidFill>
                  <a:srgbClr val="1E1E1E"/>
                </a:solidFill>
                <a:latin typeface="Consolas"/>
              </a:rPr>
              <a:t>0</a:t>
            </a:r>
            <a:r>
              <a:rPr sz="1400">
                <a:solidFill>
                  <a:srgbClr val="1E1E1E"/>
                </a:solidFill>
                <a:latin typeface="Consolas"/>
              </a:rPr>
              <a:t>)</a:t>
            </a:r>
            <a:r>
              <a:rPr sz="140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0000FF"/>
                </a:solidFill>
                <a:latin typeface="Consolas"/>
              </a:rPr>
              <a:t>if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(</a:t>
            </a:r>
            <a:r>
              <a:rPr sz="1400">
                <a:solidFill>
                  <a:srgbClr val="1E1E1E"/>
                </a:solidFill>
                <a:latin typeface="Consolas"/>
              </a:rPr>
              <a:t>nej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!</a:t>
            </a:r>
            <a:r>
              <a:rPr sz="1400">
                <a:solidFill>
                  <a:srgbClr val="1E1E1E"/>
                </a:solidFill>
                <a:latin typeface="Consolas"/>
              </a:rPr>
              <a:t>=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0000FF"/>
                </a:solidFill>
                <a:latin typeface="Consolas"/>
              </a:rPr>
              <a:t>null</a:t>
            </a:r>
            <a:r>
              <a:rPr sz="1400">
                <a:solidFill>
                  <a:srgbClr val="1E1E1E"/>
                </a:solidFill>
                <a:latin typeface="Consolas"/>
              </a:rPr>
              <a:t>)</a:t>
            </a:r>
          </a:p>
          <a:p>
            <a:pPr algn="l"/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2B91AF"/>
                </a:solidFill>
                <a:latin typeface="Consolas"/>
              </a:rPr>
              <a:t>Console</a:t>
            </a:r>
            <a:r>
              <a:rPr sz="1400">
                <a:solidFill>
                  <a:srgbClr val="1E1E1E"/>
                </a:solidFill>
                <a:latin typeface="Consolas"/>
              </a:rPr>
              <a:t>.</a:t>
            </a:r>
            <a:r>
              <a:rPr sz="1400">
                <a:solidFill>
                  <a:srgbClr val="74531F"/>
                </a:solidFill>
                <a:latin typeface="Consolas"/>
              </a:rPr>
              <a:t>WriteLine</a:t>
            </a:r>
            <a:r>
              <a:rPr sz="1400">
                <a:solidFill>
                  <a:srgbClr val="1E1E1E"/>
                </a:solidFill>
                <a:latin typeface="Consolas"/>
              </a:rPr>
              <a:t>(</a:t>
            </a:r>
            <a:r>
              <a:rPr sz="1400">
                <a:solidFill>
                  <a:srgbClr val="1E1E1E"/>
                </a:solidFill>
                <a:latin typeface="Consolas"/>
              </a:rPr>
              <a:t>nej</a:t>
            </a:r>
            <a:r>
              <a:rPr sz="1400">
                <a:solidFill>
                  <a:srgbClr val="1E1E1E"/>
                </a:solidFill>
                <a:latin typeface="Consolas"/>
              </a:rPr>
              <a:t>.</a:t>
            </a:r>
            <a:r>
              <a:rPr sz="1400">
                <a:solidFill>
                  <a:srgbClr val="1E1E1E"/>
                </a:solidFill>
                <a:latin typeface="Consolas"/>
              </a:rPr>
              <a:t>Jmeno</a:t>
            </a:r>
            <a:r>
              <a:rPr sz="1400">
                <a:solidFill>
                  <a:srgbClr val="1E1E1E"/>
                </a:solidFill>
                <a:latin typeface="Consolas"/>
              </a:rPr>
              <a:t>)</a:t>
            </a:r>
            <a:r>
              <a:rPr sz="140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2B91AF"/>
                </a:solidFill>
                <a:latin typeface="Consolas"/>
              </a:rPr>
              <a:t>Student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podleId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=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studenti</a:t>
            </a:r>
          </a:p>
          <a:p>
            <a:pPr algn="l"/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.</a:t>
            </a:r>
            <a:r>
              <a:rPr sz="1400">
                <a:solidFill>
                  <a:srgbClr val="74531F"/>
                </a:solidFill>
                <a:latin typeface="Consolas"/>
              </a:rPr>
              <a:t>SingleOrDefault</a:t>
            </a:r>
            <a:r>
              <a:rPr sz="1400">
                <a:solidFill>
                  <a:srgbClr val="1E1E1E"/>
                </a:solidFill>
                <a:latin typeface="Consolas"/>
              </a:rPr>
              <a:t>(</a:t>
            </a:r>
            <a:r>
              <a:rPr sz="1400">
                <a:solidFill>
                  <a:srgbClr val="1E1E1E"/>
                </a:solidFill>
                <a:latin typeface="Consolas"/>
              </a:rPr>
              <a:t>s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=</a:t>
            </a:r>
            <a:r>
              <a:rPr sz="1400">
                <a:solidFill>
                  <a:srgbClr val="1E1E1E"/>
                </a:solidFill>
                <a:latin typeface="Consolas"/>
              </a:rPr>
              <a:t>&gt;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s</a:t>
            </a:r>
            <a:r>
              <a:rPr sz="1400">
                <a:solidFill>
                  <a:srgbClr val="1E1E1E"/>
                </a:solidFill>
                <a:latin typeface="Consolas"/>
              </a:rPr>
              <a:t>.</a:t>
            </a:r>
            <a:r>
              <a:rPr sz="1400">
                <a:solidFill>
                  <a:srgbClr val="1E1E1E"/>
                </a:solidFill>
                <a:latin typeface="Consolas"/>
              </a:rPr>
              <a:t>Id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=</a:t>
            </a:r>
            <a:r>
              <a:rPr sz="1400">
                <a:solidFill>
                  <a:srgbClr val="1E1E1E"/>
                </a:solidFill>
                <a:latin typeface="Consolas"/>
              </a:rPr>
              <a:t>=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4</a:t>
            </a:r>
            <a:r>
              <a:rPr sz="1400">
                <a:solidFill>
                  <a:srgbClr val="1E1E1E"/>
                </a:solidFill>
                <a:latin typeface="Consolas"/>
              </a:rPr>
              <a:t>2</a:t>
            </a:r>
            <a:r>
              <a:rPr sz="1400">
                <a:solidFill>
                  <a:srgbClr val="1E1E1E"/>
                </a:solidFill>
                <a:latin typeface="Consolas"/>
              </a:rPr>
              <a:t>)</a:t>
            </a:r>
            <a:r>
              <a:rPr sz="140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0000FF"/>
                </a:solidFill>
                <a:latin typeface="Consolas"/>
              </a:rPr>
              <a:t>bool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nekdo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=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studenti</a:t>
            </a:r>
            <a:r>
              <a:rPr sz="1400">
                <a:solidFill>
                  <a:srgbClr val="1E1E1E"/>
                </a:solidFill>
                <a:latin typeface="Consolas"/>
              </a:rPr>
              <a:t>.</a:t>
            </a:r>
            <a:r>
              <a:rPr sz="1400">
                <a:solidFill>
                  <a:srgbClr val="74531F"/>
                </a:solidFill>
                <a:latin typeface="Consolas"/>
              </a:rPr>
              <a:t>Any</a:t>
            </a:r>
            <a:r>
              <a:rPr sz="1400">
                <a:solidFill>
                  <a:srgbClr val="1E1E1E"/>
                </a:solidFill>
                <a:latin typeface="Consolas"/>
              </a:rPr>
              <a:t>(</a:t>
            </a:r>
            <a:r>
              <a:rPr sz="1400">
                <a:solidFill>
                  <a:srgbClr val="1E1E1E"/>
                </a:solidFill>
                <a:latin typeface="Consolas"/>
              </a:rPr>
              <a:t>s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=</a:t>
            </a:r>
            <a:r>
              <a:rPr sz="1400">
                <a:solidFill>
                  <a:srgbClr val="1E1E1E"/>
                </a:solidFill>
                <a:latin typeface="Consolas"/>
              </a:rPr>
              <a:t>&gt;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s</a:t>
            </a:r>
            <a:r>
              <a:rPr sz="1400">
                <a:solidFill>
                  <a:srgbClr val="1E1E1E"/>
                </a:solidFill>
                <a:latin typeface="Consolas"/>
              </a:rPr>
              <a:t>.</a:t>
            </a:r>
            <a:r>
              <a:rPr sz="1400">
                <a:solidFill>
                  <a:srgbClr val="1E1E1E"/>
                </a:solidFill>
                <a:latin typeface="Consolas"/>
              </a:rPr>
              <a:t>Prumer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&gt;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4</a:t>
            </a:r>
            <a:r>
              <a:rPr sz="1400">
                <a:solidFill>
                  <a:srgbClr val="1E1E1E"/>
                </a:solidFill>
                <a:latin typeface="Consolas"/>
              </a:rPr>
              <a:t>)</a:t>
            </a:r>
            <a:r>
              <a:rPr sz="140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400">
                <a:solidFill>
                  <a:srgbClr val="0000FF"/>
                </a:solidFill>
                <a:latin typeface="Consolas"/>
              </a:rPr>
              <a:t>bool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vsichni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=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studenti</a:t>
            </a:r>
            <a:r>
              <a:rPr sz="1400">
                <a:solidFill>
                  <a:srgbClr val="1E1E1E"/>
                </a:solidFill>
                <a:latin typeface="Consolas"/>
              </a:rPr>
              <a:t>.</a:t>
            </a:r>
            <a:r>
              <a:rPr sz="1400">
                <a:solidFill>
                  <a:srgbClr val="74531F"/>
                </a:solidFill>
                <a:latin typeface="Consolas"/>
              </a:rPr>
              <a:t>All</a:t>
            </a:r>
            <a:r>
              <a:rPr sz="1400">
                <a:solidFill>
                  <a:srgbClr val="1E1E1E"/>
                </a:solidFill>
                <a:latin typeface="Consolas"/>
              </a:rPr>
              <a:t>(</a:t>
            </a:r>
            <a:r>
              <a:rPr sz="1400">
                <a:solidFill>
                  <a:srgbClr val="1E1E1E"/>
                </a:solidFill>
                <a:latin typeface="Consolas"/>
              </a:rPr>
              <a:t>s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=</a:t>
            </a:r>
            <a:r>
              <a:rPr sz="1400">
                <a:solidFill>
                  <a:srgbClr val="1E1E1E"/>
                </a:solidFill>
                <a:latin typeface="Consolas"/>
              </a:rPr>
              <a:t>&gt;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s</a:t>
            </a:r>
            <a:r>
              <a:rPr sz="1400">
                <a:solidFill>
                  <a:srgbClr val="1E1E1E"/>
                </a:solidFill>
                <a:latin typeface="Consolas"/>
              </a:rPr>
              <a:t>.</a:t>
            </a:r>
            <a:r>
              <a:rPr sz="1400">
                <a:solidFill>
                  <a:srgbClr val="1E1E1E"/>
                </a:solidFill>
                <a:latin typeface="Consolas"/>
              </a:rPr>
              <a:t>Prumer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&lt;</a:t>
            </a:r>
            <a:r>
              <a:rPr sz="1400">
                <a:solidFill>
                  <a:srgbClr val="1E1E1E"/>
                </a:solidFill>
                <a:latin typeface="Consolas"/>
              </a:rPr>
              <a:t>=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4</a:t>
            </a:r>
            <a:r>
              <a:rPr sz="1400">
                <a:solidFill>
                  <a:srgbClr val="1E1E1E"/>
                </a:solidFill>
                <a:latin typeface="Consolas"/>
              </a:rPr>
              <a:t>)</a:t>
            </a:r>
            <a:r>
              <a:rPr sz="1400">
                <a:solidFill>
                  <a:srgbClr val="1E1E1E"/>
                </a:solidFill>
                <a:latin typeface="Consolas"/>
              </a:rPr>
              <a:t>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Řetězení dotazu</a:t>
            </a: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D695048C-4ED8-1785-CE5A-487FCF825C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64C5578-5F64-41E3-8B71-FCD12A72B81F}" type="datetime1">
              <a:rPr lang="en-US" smtClean="0"/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16149381-361D-52A0-14E9-6E4EB537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15" name="Rounded Rectangle 14"/>
          <p:cNvSpPr/>
          <p:nvPr/>
        </p:nvSpPr>
        <p:spPr>
          <a:xfrm>
            <a:off x="914400" y="2800000"/>
            <a:ext cx="1543866" cy="1700000"/>
          </a:xfrm>
          <a:prstGeom prst="roundRect">
            <a:avLst>
              <a:gd name="adj" fmla="val 6000"/>
            </a:avLst>
          </a:prstGeom>
          <a:solidFill>
            <a:srgbClr val="0D1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82880" bIns="182880"/>
          <a:lstStyle/>
          <a:p>
            <a:pPr algn="l"/>
            <a:r>
              <a:rPr b="1" sz="1500">
                <a:solidFill>
                  <a:srgbClr val="FFFFFF"/>
                </a:solidFill>
              </a:rPr>
              <a:t>studenti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FFFFFF"/>
                </a:solidFill>
              </a:rPr>
              <a:t>zdrojová kolekce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08266" y="3650000"/>
            <a:ext cx="120000" cy="0"/>
          </a:xfrm>
          <a:prstGeom prst="line">
            <a:avLst/>
          </a:prstGeom>
          <a:ln w="28575">
            <a:solidFill>
              <a:srgbClr val="0D1C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678266" y="2800000"/>
            <a:ext cx="1543866" cy="1700000"/>
          </a:xfrm>
          <a:prstGeom prst="roundRect">
            <a:avLst>
              <a:gd name="adj" fmla="val 6000"/>
            </a:avLst>
          </a:prstGeom>
          <a:solidFill>
            <a:srgbClr val="197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82880" bIns="182880"/>
          <a:lstStyle/>
          <a:p>
            <a:pPr algn="l"/>
            <a:r>
              <a:rPr b="1" sz="1500">
                <a:solidFill>
                  <a:srgbClr val="FFFFFF"/>
                </a:solidFill>
              </a:rPr>
              <a:t>Where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FFFFFF"/>
                </a:solidFill>
              </a:rPr>
              <a:t>jen třída 4.A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272132" y="3650000"/>
            <a:ext cx="120000" cy="0"/>
          </a:xfrm>
          <a:prstGeom prst="line">
            <a:avLst/>
          </a:prstGeom>
          <a:ln w="28575">
            <a:solidFill>
              <a:srgbClr val="0D1C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442132" y="2800000"/>
            <a:ext cx="1543866" cy="1700000"/>
          </a:xfrm>
          <a:prstGeom prst="roundRect">
            <a:avLst>
              <a:gd name="adj" fmla="val 6000"/>
            </a:avLst>
          </a:prstGeom>
          <a:solidFill>
            <a:srgbClr val="25C8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82880" bIns="182880"/>
          <a:lstStyle/>
          <a:p>
            <a:pPr algn="l"/>
            <a:r>
              <a:rPr b="1" sz="1500">
                <a:solidFill>
                  <a:srgbClr val="FFFFFF"/>
                </a:solidFill>
              </a:rPr>
              <a:t>OrderBy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FFFFFF"/>
                </a:solidFill>
              </a:rPr>
              <a:t>podle průměru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35998" y="3650000"/>
            <a:ext cx="120000" cy="0"/>
          </a:xfrm>
          <a:prstGeom prst="line">
            <a:avLst/>
          </a:prstGeom>
          <a:ln w="28575">
            <a:solidFill>
              <a:srgbClr val="0D1C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05998" y="2800000"/>
            <a:ext cx="1543866" cy="1700000"/>
          </a:xfrm>
          <a:prstGeom prst="roundRect">
            <a:avLst>
              <a:gd name="adj" fmla="val 6000"/>
            </a:avLst>
          </a:prstGeom>
          <a:solidFill>
            <a:srgbClr val="BF8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82880" bIns="182880"/>
          <a:lstStyle/>
          <a:p>
            <a:pPr algn="l"/>
            <a:r>
              <a:rPr b="1" sz="1500">
                <a:solidFill>
                  <a:srgbClr val="FFFFFF"/>
                </a:solidFill>
              </a:rPr>
              <a:t>Take(5)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FFFFFF"/>
                </a:solidFill>
              </a:rPr>
              <a:t>prvních pět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99864" y="3650000"/>
            <a:ext cx="120000" cy="0"/>
          </a:xfrm>
          <a:prstGeom prst="line">
            <a:avLst/>
          </a:prstGeom>
          <a:ln w="28575">
            <a:solidFill>
              <a:srgbClr val="0D1C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969864" y="2800000"/>
            <a:ext cx="1543866" cy="1700000"/>
          </a:xfrm>
          <a:prstGeom prst="roundRect">
            <a:avLst>
              <a:gd name="adj" fmla="val 6000"/>
            </a:avLst>
          </a:prstGeom>
          <a:solidFill>
            <a:srgbClr val="FE7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82880" bIns="182880"/>
          <a:lstStyle/>
          <a:p>
            <a:pPr algn="l"/>
            <a:r>
              <a:rPr b="1" sz="1500">
                <a:solidFill>
                  <a:srgbClr val="FFFFFF"/>
                </a:solidFill>
              </a:rPr>
              <a:t>Select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FFFFFF"/>
                </a:solidFill>
              </a:rPr>
              <a:t>převod na text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563730" y="3650000"/>
            <a:ext cx="120000" cy="0"/>
          </a:xfrm>
          <a:prstGeom prst="line">
            <a:avLst/>
          </a:prstGeom>
          <a:ln w="28575">
            <a:solidFill>
              <a:srgbClr val="0D1C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733730" y="2800000"/>
            <a:ext cx="1543866" cy="1700000"/>
          </a:xfrm>
          <a:prstGeom prst="roundRect">
            <a:avLst>
              <a:gd name="adj" fmla="val 6000"/>
            </a:avLst>
          </a:prstGeom>
          <a:solidFill>
            <a:srgbClr val="FE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82880" bIns="182880"/>
          <a:lstStyle/>
          <a:p>
            <a:pPr algn="l"/>
            <a:r>
              <a:rPr b="1" sz="1500">
                <a:solidFill>
                  <a:srgbClr val="FFFFFF"/>
                </a:solidFill>
              </a:rPr>
              <a:t>ToList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FFFFFF"/>
                </a:solidFill>
              </a:rPr>
              <a:t>vyhodnocení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850000"/>
            <a:ext cx="1036320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/>
              <a:t>Každá metoda vrací novou kolekci – výstup jedné je vstupem další. Původní kolekce se nemění.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Líné vyhodnocení (lazy)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914400" y="2650000"/>
            <a:ext cx="4700000" cy="35500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sz="1600"/>
              <a:t>Dotaz LINQ je jen </a:t>
            </a:r>
            <a:r>
              <a:rPr b="1" sz="1600"/>
              <a:t>popis</a:t>
            </a:r>
            <a:r>
              <a:rPr sz="1600"/>
              <a:t>, ne výsledek</a:t>
            </a:r>
          </a:p>
          <a:p>
            <a:pPr>
              <a:lnSpc>
                <a:spcPct val="110000"/>
              </a:lnSpc>
            </a:pPr>
            <a:r>
              <a:rPr sz="1600"/>
              <a:t>Vyhodnotí se až při procházení nebo </a:t>
            </a:r>
            <a:r>
              <a:rPr sz="1600">
                <a:latin typeface="Consolas"/>
              </a:rPr>
              <a:t>ToList()</a:t>
            </a:r>
          </a:p>
          <a:p>
            <a:pPr>
              <a:lnSpc>
                <a:spcPct val="110000"/>
              </a:lnSpc>
            </a:pPr>
            <a:r>
              <a:rPr sz="1600"/>
              <a:t>Každý průchod dotazu = nové vyhodnocení</a:t>
            </a:r>
          </a:p>
          <a:p>
            <a:pPr lvl="1">
              <a:lnSpc>
                <a:spcPct val="110000"/>
              </a:lnSpc>
            </a:pPr>
            <a:r>
              <a:rPr sz="1500"/>
              <a:t>změny ve zdroji se projeví</a:t>
            </a:r>
          </a:p>
          <a:p>
            <a:pPr lvl="1">
              <a:lnSpc>
                <a:spcPct val="110000"/>
              </a:lnSpc>
            </a:pPr>
            <a:r>
              <a:rPr sz="1500"/>
              <a:t>drahý dotaz se počítá opakovaně</a:t>
            </a:r>
          </a:p>
          <a:p>
            <a:pPr>
              <a:lnSpc>
                <a:spcPct val="110000"/>
              </a:lnSpc>
            </a:pPr>
            <a:r>
              <a:rPr sz="1600"/>
              <a:t>Výsledek, který použijete víckrát → </a:t>
            </a:r>
            <a:r>
              <a:rPr sz="1600">
                <a:latin typeface="Consolas"/>
              </a:rPr>
              <a:t>ToList()</a:t>
            </a: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D695048C-4ED8-1785-CE5A-487FCF825C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64C5578-5F64-41E3-8B71-FCD12A72B81F}" type="datetime1">
              <a:rPr lang="en-US" smtClean="0"/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16149381-361D-52A0-14E9-6E4EB537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15" name="Kód"/>
          <p:cNvSpPr/>
          <p:nvPr/>
        </p:nvSpPr>
        <p:spPr>
          <a:xfrm>
            <a:off x="5800000" y="2650000"/>
            <a:ext cx="5477600" cy="355000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164592" bIns="164592"/>
          <a:lstStyle/>
          <a:p>
            <a:pPr algn="l"/>
            <a:r>
              <a:rPr sz="1350">
                <a:solidFill>
                  <a:srgbClr val="2B91AF"/>
                </a:solidFill>
                <a:latin typeface="Consolas"/>
              </a:rPr>
              <a:t>List</a:t>
            </a:r>
            <a:r>
              <a:rPr sz="1350">
                <a:solidFill>
                  <a:srgbClr val="1E1E1E"/>
                </a:solidFill>
                <a:latin typeface="Consolas"/>
              </a:rPr>
              <a:t>&lt;</a:t>
            </a:r>
            <a:r>
              <a:rPr sz="1350">
                <a:solidFill>
                  <a:srgbClr val="0000FF"/>
                </a:solidFill>
                <a:latin typeface="Consolas"/>
              </a:rPr>
              <a:t>int</a:t>
            </a:r>
            <a:r>
              <a:rPr sz="1350">
                <a:solidFill>
                  <a:srgbClr val="1E1E1E"/>
                </a:solidFill>
                <a:latin typeface="Consolas"/>
              </a:rPr>
              <a:t>&gt;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cisla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=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0000FF"/>
                </a:solidFill>
                <a:latin typeface="Consolas"/>
              </a:rPr>
              <a:t>new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2B91AF"/>
                </a:solidFill>
                <a:latin typeface="Consolas"/>
              </a:rPr>
              <a:t>List</a:t>
            </a:r>
            <a:r>
              <a:rPr sz="1350">
                <a:solidFill>
                  <a:srgbClr val="1E1E1E"/>
                </a:solidFill>
                <a:latin typeface="Consolas"/>
              </a:rPr>
              <a:t>&lt;</a:t>
            </a:r>
            <a:r>
              <a:rPr sz="1350">
                <a:solidFill>
                  <a:srgbClr val="0000FF"/>
                </a:solidFill>
                <a:latin typeface="Consolas"/>
              </a:rPr>
              <a:t>int</a:t>
            </a:r>
            <a:r>
              <a:rPr sz="1350">
                <a:solidFill>
                  <a:srgbClr val="1E1E1E"/>
                </a:solidFill>
                <a:latin typeface="Consolas"/>
              </a:rPr>
              <a:t>&gt;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{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1</a:t>
            </a:r>
            <a:r>
              <a:rPr sz="1350">
                <a:solidFill>
                  <a:srgbClr val="1E1E1E"/>
                </a:solidFill>
                <a:latin typeface="Consolas"/>
              </a:rPr>
              <a:t>,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2</a:t>
            </a:r>
            <a:r>
              <a:rPr sz="1350">
                <a:solidFill>
                  <a:srgbClr val="1E1E1E"/>
                </a:solidFill>
                <a:latin typeface="Consolas"/>
              </a:rPr>
              <a:t>,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3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}</a:t>
            </a:r>
            <a:r>
              <a:rPr sz="135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</a:p>
          <a:p>
            <a:pPr algn="l"/>
            <a:r>
              <a:rPr sz="1350">
                <a:solidFill>
                  <a:srgbClr val="2B91AF"/>
                </a:solidFill>
                <a:latin typeface="Consolas"/>
              </a:rPr>
              <a:t>IEnumerable</a:t>
            </a:r>
            <a:r>
              <a:rPr sz="1350">
                <a:solidFill>
                  <a:srgbClr val="1E1E1E"/>
                </a:solidFill>
                <a:latin typeface="Consolas"/>
              </a:rPr>
              <a:t>&lt;</a:t>
            </a:r>
            <a:r>
              <a:rPr sz="1350">
                <a:solidFill>
                  <a:srgbClr val="0000FF"/>
                </a:solidFill>
                <a:latin typeface="Consolas"/>
              </a:rPr>
              <a:t>int</a:t>
            </a:r>
            <a:r>
              <a:rPr sz="1350">
                <a:solidFill>
                  <a:srgbClr val="1E1E1E"/>
                </a:solidFill>
                <a:latin typeface="Consolas"/>
              </a:rPr>
              <a:t>&gt;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velka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=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cisla</a:t>
            </a:r>
            <a:r>
              <a:rPr sz="1350">
                <a:solidFill>
                  <a:srgbClr val="1E1E1E"/>
                </a:solidFill>
                <a:latin typeface="Consolas"/>
              </a:rPr>
              <a:t>.</a:t>
            </a:r>
            <a:r>
              <a:rPr sz="1350">
                <a:solidFill>
                  <a:srgbClr val="74531F"/>
                </a:solidFill>
                <a:latin typeface="Consolas"/>
              </a:rPr>
              <a:t>Where</a:t>
            </a:r>
            <a:r>
              <a:rPr sz="1350">
                <a:solidFill>
                  <a:srgbClr val="1E1E1E"/>
                </a:solidFill>
                <a:latin typeface="Consolas"/>
              </a:rPr>
              <a:t>(</a:t>
            </a:r>
            <a:r>
              <a:rPr sz="1350">
                <a:solidFill>
                  <a:srgbClr val="1E1E1E"/>
                </a:solidFill>
                <a:latin typeface="Consolas"/>
              </a:rPr>
              <a:t>x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=</a:t>
            </a:r>
            <a:r>
              <a:rPr sz="1350">
                <a:solidFill>
                  <a:srgbClr val="1E1E1E"/>
                </a:solidFill>
                <a:latin typeface="Consolas"/>
              </a:rPr>
              <a:t>&gt;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x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&gt;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1</a:t>
            </a:r>
            <a:r>
              <a:rPr sz="1350">
                <a:solidFill>
                  <a:srgbClr val="1E1E1E"/>
                </a:solidFill>
                <a:latin typeface="Consolas"/>
              </a:rPr>
              <a:t>)</a:t>
            </a:r>
            <a:r>
              <a:rPr sz="135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</a:p>
          <a:p>
            <a:pPr algn="l"/>
            <a:r>
              <a:rPr sz="1350">
                <a:solidFill>
                  <a:srgbClr val="1E1E1E"/>
                </a:solidFill>
                <a:latin typeface="Consolas"/>
              </a:rPr>
              <a:t>cisla</a:t>
            </a:r>
            <a:r>
              <a:rPr sz="1350">
                <a:solidFill>
                  <a:srgbClr val="1E1E1E"/>
                </a:solidFill>
                <a:latin typeface="Consolas"/>
              </a:rPr>
              <a:t>.</a:t>
            </a:r>
            <a:r>
              <a:rPr sz="1350">
                <a:solidFill>
                  <a:srgbClr val="74531F"/>
                </a:solidFill>
                <a:latin typeface="Consolas"/>
              </a:rPr>
              <a:t>Add</a:t>
            </a:r>
            <a:r>
              <a:rPr sz="1350">
                <a:solidFill>
                  <a:srgbClr val="1E1E1E"/>
                </a:solidFill>
                <a:latin typeface="Consolas"/>
              </a:rPr>
              <a:t>(</a:t>
            </a:r>
            <a:r>
              <a:rPr sz="1350">
                <a:solidFill>
                  <a:srgbClr val="1E1E1E"/>
                </a:solidFill>
                <a:latin typeface="Consolas"/>
              </a:rPr>
              <a:t>1</a:t>
            </a:r>
            <a:r>
              <a:rPr sz="1350">
                <a:solidFill>
                  <a:srgbClr val="1E1E1E"/>
                </a:solidFill>
                <a:latin typeface="Consolas"/>
              </a:rPr>
              <a:t>0</a:t>
            </a:r>
            <a:r>
              <a:rPr sz="1350">
                <a:solidFill>
                  <a:srgbClr val="1E1E1E"/>
                </a:solidFill>
                <a:latin typeface="Consolas"/>
              </a:rPr>
              <a:t>)</a:t>
            </a:r>
            <a:r>
              <a:rPr sz="135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</a:p>
          <a:p>
            <a:pPr algn="l"/>
            <a:r>
              <a:rPr sz="1350">
                <a:solidFill>
                  <a:srgbClr val="0000FF"/>
                </a:solidFill>
                <a:latin typeface="Consolas"/>
              </a:rPr>
              <a:t>foreach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(</a:t>
            </a:r>
            <a:r>
              <a:rPr sz="1350">
                <a:solidFill>
                  <a:srgbClr val="0000FF"/>
                </a:solidFill>
                <a:latin typeface="Consolas"/>
              </a:rPr>
              <a:t>int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x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0000FF"/>
                </a:solidFill>
                <a:latin typeface="Consolas"/>
              </a:rPr>
              <a:t>in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velka</a:t>
            </a:r>
            <a:r>
              <a:rPr sz="1350">
                <a:solidFill>
                  <a:srgbClr val="1E1E1E"/>
                </a:solidFill>
                <a:latin typeface="Consolas"/>
              </a:rPr>
              <a:t>)</a:t>
            </a:r>
          </a:p>
          <a:p>
            <a:pPr algn="l"/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2B91AF"/>
                </a:solidFill>
                <a:latin typeface="Consolas"/>
              </a:rPr>
              <a:t>Console</a:t>
            </a:r>
            <a:r>
              <a:rPr sz="1350">
                <a:solidFill>
                  <a:srgbClr val="1E1E1E"/>
                </a:solidFill>
                <a:latin typeface="Consolas"/>
              </a:rPr>
              <a:t>.</a:t>
            </a:r>
            <a:r>
              <a:rPr sz="1350">
                <a:solidFill>
                  <a:srgbClr val="74531F"/>
                </a:solidFill>
                <a:latin typeface="Consolas"/>
              </a:rPr>
              <a:t>Write</a:t>
            </a:r>
            <a:r>
              <a:rPr sz="1350">
                <a:solidFill>
                  <a:srgbClr val="1E1E1E"/>
                </a:solidFill>
                <a:latin typeface="Consolas"/>
              </a:rPr>
              <a:t>(</a:t>
            </a:r>
            <a:r>
              <a:rPr sz="1350">
                <a:solidFill>
                  <a:srgbClr val="1E1E1E"/>
                </a:solidFill>
                <a:latin typeface="Consolas"/>
              </a:rPr>
              <a:t>x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+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A31515"/>
                </a:solidFill>
                <a:latin typeface="Consolas"/>
              </a:rPr>
              <a:t>" "</a:t>
            </a:r>
            <a:r>
              <a:rPr sz="1350">
                <a:solidFill>
                  <a:srgbClr val="1E1E1E"/>
                </a:solidFill>
                <a:latin typeface="Consolas"/>
              </a:rPr>
              <a:t>)</a:t>
            </a:r>
            <a:r>
              <a:rPr sz="1350">
                <a:solidFill>
                  <a:srgbClr val="1E1E1E"/>
                </a:solidFill>
                <a:latin typeface="Consolas"/>
              </a:rPr>
              <a:t>;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008000"/>
                </a:solidFill>
                <a:latin typeface="Consolas"/>
              </a:rPr>
              <a:t>// 2 3 10</a:t>
            </a:r>
          </a:p>
          <a:p>
            <a:pPr algn="l"/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</a:p>
          <a:p>
            <a:pPr algn="l"/>
            <a:r>
              <a:rPr sz="1350">
                <a:solidFill>
                  <a:srgbClr val="2B91AF"/>
                </a:solidFill>
                <a:latin typeface="Consolas"/>
              </a:rPr>
              <a:t>List</a:t>
            </a:r>
            <a:r>
              <a:rPr sz="1350">
                <a:solidFill>
                  <a:srgbClr val="1E1E1E"/>
                </a:solidFill>
                <a:latin typeface="Consolas"/>
              </a:rPr>
              <a:t>&lt;</a:t>
            </a:r>
            <a:r>
              <a:rPr sz="1350">
                <a:solidFill>
                  <a:srgbClr val="0000FF"/>
                </a:solidFill>
                <a:latin typeface="Consolas"/>
              </a:rPr>
              <a:t>int</a:t>
            </a:r>
            <a:r>
              <a:rPr sz="1350">
                <a:solidFill>
                  <a:srgbClr val="1E1E1E"/>
                </a:solidFill>
                <a:latin typeface="Consolas"/>
              </a:rPr>
              <a:t>&gt;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snimek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=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cisla</a:t>
            </a:r>
          </a:p>
          <a:p>
            <a:pPr algn="l"/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.</a:t>
            </a:r>
            <a:r>
              <a:rPr sz="1350">
                <a:solidFill>
                  <a:srgbClr val="74531F"/>
                </a:solidFill>
                <a:latin typeface="Consolas"/>
              </a:rPr>
              <a:t>Where</a:t>
            </a:r>
            <a:r>
              <a:rPr sz="1350">
                <a:solidFill>
                  <a:srgbClr val="1E1E1E"/>
                </a:solidFill>
                <a:latin typeface="Consolas"/>
              </a:rPr>
              <a:t>(</a:t>
            </a:r>
            <a:r>
              <a:rPr sz="1350">
                <a:solidFill>
                  <a:srgbClr val="1E1E1E"/>
                </a:solidFill>
                <a:latin typeface="Consolas"/>
              </a:rPr>
              <a:t>x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=</a:t>
            </a:r>
            <a:r>
              <a:rPr sz="1350">
                <a:solidFill>
                  <a:srgbClr val="1E1E1E"/>
                </a:solidFill>
                <a:latin typeface="Consolas"/>
              </a:rPr>
              <a:t>&gt;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x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&gt;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1</a:t>
            </a:r>
            <a:r>
              <a:rPr sz="1350">
                <a:solidFill>
                  <a:srgbClr val="1E1E1E"/>
                </a:solidFill>
                <a:latin typeface="Consolas"/>
              </a:rPr>
              <a:t>)</a:t>
            </a:r>
          </a:p>
          <a:p>
            <a:pPr algn="l"/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.</a:t>
            </a:r>
            <a:r>
              <a:rPr sz="1350">
                <a:solidFill>
                  <a:srgbClr val="74531F"/>
                </a:solidFill>
                <a:latin typeface="Consolas"/>
              </a:rPr>
              <a:t>ToList</a:t>
            </a:r>
            <a:r>
              <a:rPr sz="1350">
                <a:solidFill>
                  <a:srgbClr val="1E1E1E"/>
                </a:solidFill>
                <a:latin typeface="Consolas"/>
              </a:rPr>
              <a:t>(</a:t>
            </a:r>
            <a:r>
              <a:rPr sz="1350">
                <a:solidFill>
                  <a:srgbClr val="1E1E1E"/>
                </a:solidFill>
                <a:latin typeface="Consolas"/>
              </a:rPr>
              <a:t>)</a:t>
            </a:r>
            <a:r>
              <a:rPr sz="1350">
                <a:solidFill>
                  <a:srgbClr val="1E1E1E"/>
                </a:solidFill>
                <a:latin typeface="Consolas"/>
              </a:rPr>
              <a:t>;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008000"/>
                </a:solidFill>
                <a:latin typeface="Consolas"/>
              </a:rPr>
              <a:t>// vyhodnoceno teď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Dva zápisy LINQ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Metodová syntaxe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Dotazová syntaxe</a:t>
            </a: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D695048C-4ED8-1785-CE5A-487FCF825C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64C5578-5F64-41E3-8B71-FCD12A72B81F}" type="datetime1">
              <a:rPr lang="en-US" smtClean="0"/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16149381-361D-52A0-14E9-6E4EB537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912628" y="3080000"/>
            <a:ext cx="5084947" cy="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/>
              <a:t>Častější v praxi, dobře se řetězí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3080000"/>
            <a:ext cx="5183188" cy="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/>
              <a:t>Podobná SQL, přehledná u složitých dotazů</a:t>
            </a:r>
          </a:p>
        </p:txBody>
      </p:sp>
      <p:sp>
        <p:nvSpPr>
          <p:cNvPr id="17" name="Kód"/>
          <p:cNvSpPr/>
          <p:nvPr/>
        </p:nvSpPr>
        <p:spPr>
          <a:xfrm>
            <a:off x="912628" y="3750000"/>
            <a:ext cx="5084947" cy="240000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164592" bIns="164592"/>
          <a:lstStyle/>
          <a:p>
            <a:pPr algn="l"/>
            <a:r>
              <a:rPr sz="1600">
                <a:solidFill>
                  <a:srgbClr val="0000FF"/>
                </a:solidFill>
                <a:latin typeface="Consolas"/>
              </a:rPr>
              <a:t>var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vybrani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=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studenti</a:t>
            </a:r>
          </a:p>
          <a:p>
            <a:pPr algn="l"/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.</a:t>
            </a:r>
            <a:r>
              <a:rPr sz="1600">
                <a:solidFill>
                  <a:srgbClr val="74531F"/>
                </a:solidFill>
                <a:latin typeface="Consolas"/>
              </a:rPr>
              <a:t>Where</a:t>
            </a:r>
            <a:r>
              <a:rPr sz="1600">
                <a:solidFill>
                  <a:srgbClr val="1E1E1E"/>
                </a:solidFill>
                <a:latin typeface="Consolas"/>
              </a:rPr>
              <a:t>(</a:t>
            </a:r>
            <a:r>
              <a:rPr sz="1600">
                <a:solidFill>
                  <a:srgbClr val="1E1E1E"/>
                </a:solidFill>
                <a:latin typeface="Consolas"/>
              </a:rPr>
              <a:t>s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=</a:t>
            </a:r>
            <a:r>
              <a:rPr sz="1600">
                <a:solidFill>
                  <a:srgbClr val="1E1E1E"/>
                </a:solidFill>
                <a:latin typeface="Consolas"/>
              </a:rPr>
              <a:t>&gt;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s</a:t>
            </a:r>
            <a:r>
              <a:rPr sz="1600">
                <a:solidFill>
                  <a:srgbClr val="1E1E1E"/>
                </a:solidFill>
                <a:latin typeface="Consolas"/>
              </a:rPr>
              <a:t>.</a:t>
            </a:r>
            <a:r>
              <a:rPr sz="1600">
                <a:solidFill>
                  <a:srgbClr val="1E1E1E"/>
                </a:solidFill>
                <a:latin typeface="Consolas"/>
              </a:rPr>
              <a:t>Prumer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&lt;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2</a:t>
            </a:r>
            <a:r>
              <a:rPr sz="1600">
                <a:solidFill>
                  <a:srgbClr val="1E1E1E"/>
                </a:solidFill>
                <a:latin typeface="Consolas"/>
              </a:rPr>
              <a:t>.</a:t>
            </a:r>
            <a:r>
              <a:rPr sz="1600">
                <a:solidFill>
                  <a:srgbClr val="1E1E1E"/>
                </a:solidFill>
                <a:latin typeface="Consolas"/>
              </a:rPr>
              <a:t>0</a:t>
            </a:r>
            <a:r>
              <a:rPr sz="1600">
                <a:solidFill>
                  <a:srgbClr val="1E1E1E"/>
                </a:solidFill>
                <a:latin typeface="Consolas"/>
              </a:rPr>
              <a:t>)</a:t>
            </a:r>
          </a:p>
          <a:p>
            <a:pPr algn="l"/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.</a:t>
            </a:r>
            <a:r>
              <a:rPr sz="1600">
                <a:solidFill>
                  <a:srgbClr val="74531F"/>
                </a:solidFill>
                <a:latin typeface="Consolas"/>
              </a:rPr>
              <a:t>OrderBy</a:t>
            </a:r>
            <a:r>
              <a:rPr sz="1600">
                <a:solidFill>
                  <a:srgbClr val="1E1E1E"/>
                </a:solidFill>
                <a:latin typeface="Consolas"/>
              </a:rPr>
              <a:t>(</a:t>
            </a:r>
            <a:r>
              <a:rPr sz="1600">
                <a:solidFill>
                  <a:srgbClr val="1E1E1E"/>
                </a:solidFill>
                <a:latin typeface="Consolas"/>
              </a:rPr>
              <a:t>s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=</a:t>
            </a:r>
            <a:r>
              <a:rPr sz="1600">
                <a:solidFill>
                  <a:srgbClr val="1E1E1E"/>
                </a:solidFill>
                <a:latin typeface="Consolas"/>
              </a:rPr>
              <a:t>&gt;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s</a:t>
            </a:r>
            <a:r>
              <a:rPr sz="1600">
                <a:solidFill>
                  <a:srgbClr val="1E1E1E"/>
                </a:solidFill>
                <a:latin typeface="Consolas"/>
              </a:rPr>
              <a:t>.</a:t>
            </a:r>
            <a:r>
              <a:rPr sz="1600">
                <a:solidFill>
                  <a:srgbClr val="1E1E1E"/>
                </a:solidFill>
                <a:latin typeface="Consolas"/>
              </a:rPr>
              <a:t>Prijmeni</a:t>
            </a:r>
            <a:r>
              <a:rPr sz="1600">
                <a:solidFill>
                  <a:srgbClr val="1E1E1E"/>
                </a:solidFill>
                <a:latin typeface="Consolas"/>
              </a:rPr>
              <a:t>)</a:t>
            </a:r>
          </a:p>
          <a:p>
            <a:pPr algn="l"/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.</a:t>
            </a:r>
            <a:r>
              <a:rPr sz="1600">
                <a:solidFill>
                  <a:srgbClr val="74531F"/>
                </a:solidFill>
                <a:latin typeface="Consolas"/>
              </a:rPr>
              <a:t>Select</a:t>
            </a:r>
            <a:r>
              <a:rPr sz="1600">
                <a:solidFill>
                  <a:srgbClr val="1E1E1E"/>
                </a:solidFill>
                <a:latin typeface="Consolas"/>
              </a:rPr>
              <a:t>(</a:t>
            </a:r>
            <a:r>
              <a:rPr sz="1600">
                <a:solidFill>
                  <a:srgbClr val="1E1E1E"/>
                </a:solidFill>
                <a:latin typeface="Consolas"/>
              </a:rPr>
              <a:t>s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=</a:t>
            </a:r>
            <a:r>
              <a:rPr sz="1600">
                <a:solidFill>
                  <a:srgbClr val="1E1E1E"/>
                </a:solidFill>
                <a:latin typeface="Consolas"/>
              </a:rPr>
              <a:t>&gt;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s</a:t>
            </a:r>
            <a:r>
              <a:rPr sz="1600">
                <a:solidFill>
                  <a:srgbClr val="1E1E1E"/>
                </a:solidFill>
                <a:latin typeface="Consolas"/>
              </a:rPr>
              <a:t>.</a:t>
            </a:r>
            <a:r>
              <a:rPr sz="1600">
                <a:solidFill>
                  <a:srgbClr val="1E1E1E"/>
                </a:solidFill>
                <a:latin typeface="Consolas"/>
              </a:rPr>
              <a:t>Jmeno</a:t>
            </a:r>
            <a:r>
              <a:rPr sz="1600">
                <a:solidFill>
                  <a:srgbClr val="1E1E1E"/>
                </a:solidFill>
                <a:latin typeface="Consolas"/>
              </a:rPr>
              <a:t>)</a:t>
            </a:r>
            <a:r>
              <a:rPr sz="1600">
                <a:solidFill>
                  <a:srgbClr val="1E1E1E"/>
                </a:solidFill>
                <a:latin typeface="Consolas"/>
              </a:rPr>
              <a:t>;</a:t>
            </a:r>
          </a:p>
        </p:txBody>
      </p:sp>
      <p:sp>
        <p:nvSpPr>
          <p:cNvPr id="18" name="Kód"/>
          <p:cNvSpPr/>
          <p:nvPr/>
        </p:nvSpPr>
        <p:spPr>
          <a:xfrm>
            <a:off x="6172200" y="3750000"/>
            <a:ext cx="5183188" cy="240000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164592" bIns="164592"/>
          <a:lstStyle/>
          <a:p>
            <a:pPr algn="l"/>
            <a:r>
              <a:rPr sz="1600">
                <a:solidFill>
                  <a:srgbClr val="0000FF"/>
                </a:solidFill>
                <a:latin typeface="Consolas"/>
              </a:rPr>
              <a:t>var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vybrani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=</a:t>
            </a:r>
          </a:p>
          <a:p>
            <a:pPr algn="l"/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0000FF"/>
                </a:solidFill>
                <a:latin typeface="Consolas"/>
              </a:rPr>
              <a:t>from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s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0000FF"/>
                </a:solidFill>
                <a:latin typeface="Consolas"/>
              </a:rPr>
              <a:t>in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studenti</a:t>
            </a:r>
          </a:p>
          <a:p>
            <a:pPr algn="l"/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0000FF"/>
                </a:solidFill>
                <a:latin typeface="Consolas"/>
              </a:rPr>
              <a:t>where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s</a:t>
            </a:r>
            <a:r>
              <a:rPr sz="1600">
                <a:solidFill>
                  <a:srgbClr val="1E1E1E"/>
                </a:solidFill>
                <a:latin typeface="Consolas"/>
              </a:rPr>
              <a:t>.</a:t>
            </a:r>
            <a:r>
              <a:rPr sz="1600">
                <a:solidFill>
                  <a:srgbClr val="1E1E1E"/>
                </a:solidFill>
                <a:latin typeface="Consolas"/>
              </a:rPr>
              <a:t>Prumer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&lt;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2</a:t>
            </a:r>
            <a:r>
              <a:rPr sz="1600">
                <a:solidFill>
                  <a:srgbClr val="1E1E1E"/>
                </a:solidFill>
                <a:latin typeface="Consolas"/>
              </a:rPr>
              <a:t>.</a:t>
            </a:r>
            <a:r>
              <a:rPr sz="1600">
                <a:solidFill>
                  <a:srgbClr val="1E1E1E"/>
                </a:solidFill>
                <a:latin typeface="Consolas"/>
              </a:rPr>
              <a:t>0</a:t>
            </a:r>
          </a:p>
          <a:p>
            <a:pPr algn="l"/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0000FF"/>
                </a:solidFill>
                <a:latin typeface="Consolas"/>
              </a:rPr>
              <a:t>orderby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s</a:t>
            </a:r>
            <a:r>
              <a:rPr sz="1600">
                <a:solidFill>
                  <a:srgbClr val="1E1E1E"/>
                </a:solidFill>
                <a:latin typeface="Consolas"/>
              </a:rPr>
              <a:t>.</a:t>
            </a:r>
            <a:r>
              <a:rPr sz="1600">
                <a:solidFill>
                  <a:srgbClr val="1E1E1E"/>
                </a:solidFill>
                <a:latin typeface="Consolas"/>
              </a:rPr>
              <a:t>Prijmeni</a:t>
            </a:r>
          </a:p>
          <a:p>
            <a:pPr algn="l"/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0000FF"/>
                </a:solidFill>
                <a:latin typeface="Consolas"/>
              </a:rPr>
              <a:t>select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s</a:t>
            </a:r>
            <a:r>
              <a:rPr sz="1600">
                <a:solidFill>
                  <a:srgbClr val="1E1E1E"/>
                </a:solidFill>
                <a:latin typeface="Consolas"/>
              </a:rPr>
              <a:t>.</a:t>
            </a:r>
            <a:r>
              <a:rPr sz="1600">
                <a:solidFill>
                  <a:srgbClr val="1E1E1E"/>
                </a:solidFill>
                <a:latin typeface="Consolas"/>
              </a:rPr>
              <a:t>Jmeno</a:t>
            </a:r>
            <a:r>
              <a:rPr sz="1600">
                <a:solidFill>
                  <a:srgbClr val="1E1E1E"/>
                </a:solidFill>
                <a:latin typeface="Consolas"/>
              </a:rPr>
              <a:t>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Procvičování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sz="2000"/>
              <a:t>Nad seznamem studentů (Jmeno, Prijmeni, Trida, Prumer, Absence) zjistěte:</a:t>
            </a:r>
          </a:p>
          <a:p>
            <a:pPr lvl="1">
              <a:lnSpc>
                <a:spcPct val="110000"/>
              </a:lnSpc>
              <a:buNone/>
            </a:pPr>
            <a:r>
              <a:rPr sz="1800"/>
              <a:t>1. Jména všech studentů s vyznamenáním (průměr ≤ 1,5)</a:t>
            </a:r>
          </a:p>
          <a:p>
            <a:pPr lvl="1">
              <a:lnSpc>
                <a:spcPct val="110000"/>
              </a:lnSpc>
              <a:buNone/>
            </a:pPr>
            <a:r>
              <a:rPr sz="1800"/>
              <a:t>2. Průměrný prospěch každé třídy</a:t>
            </a:r>
          </a:p>
          <a:p>
            <a:pPr lvl="1">
              <a:lnSpc>
                <a:spcPct val="110000"/>
              </a:lnSpc>
              <a:buNone/>
            </a:pPr>
            <a:r>
              <a:rPr sz="1800"/>
              <a:t>3. Tři studenty s nejvyšší absencí</a:t>
            </a:r>
          </a:p>
          <a:p>
            <a:pPr lvl="1">
              <a:lnSpc>
                <a:spcPct val="110000"/>
              </a:lnSpc>
              <a:buNone/>
            </a:pPr>
            <a:r>
              <a:rPr sz="1800"/>
              <a:t>4. Zda ve třídě 3.A někdo neprospěl</a:t>
            </a:r>
          </a:p>
          <a:p>
            <a:pPr lvl="1">
              <a:lnSpc>
                <a:spcPct val="110000"/>
              </a:lnSpc>
              <a:buNone/>
            </a:pPr>
            <a:r>
              <a:rPr sz="1800"/>
              <a:t>5. Seznam „Příjmení Jméno“ seřazený abecedně</a:t>
            </a:r>
          </a:p>
          <a:p>
            <a:pPr lvl="1">
              <a:lnSpc>
                <a:spcPct val="110000"/>
              </a:lnSpc>
              <a:buNone/>
            </a:pPr>
            <a:r>
              <a:rPr sz="1800"/>
              <a:t>6. Studenta podle zadaného příjmení – co když neexistuje?</a:t>
            </a:r>
          </a:p>
          <a:p>
            <a:pPr>
              <a:lnSpc>
                <a:spcPct val="110000"/>
              </a:lnSpc>
            </a:pPr>
            <a:r>
              <a:rPr sz="2000"/>
              <a:t>Každý úkol nejdřív zkuste cyklem, potom LINQ – porovnejte</a:t>
            </a: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D695048C-4ED8-1785-CE5A-487FCF825C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64C5578-5F64-41E3-8B71-FCD12A72B81F}" type="datetime1">
              <a:rPr lang="en-US" smtClean="0"/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16149381-361D-52A0-14E9-6E4EB537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review – co je špatně?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914400" y="2650000"/>
            <a:ext cx="4700000" cy="35500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sz="1600"/>
              <a:t>Dotazy napsal AI asistent – fungují, ale…</a:t>
            </a:r>
          </a:p>
          <a:p>
            <a:pPr>
              <a:lnSpc>
                <a:spcPct val="110000"/>
              </a:lnSpc>
            </a:pPr>
            <a:r>
              <a:rPr sz="1600"/>
              <a:t>Najděte problémy:</a:t>
            </a:r>
          </a:p>
          <a:p>
            <a:pPr lvl="1">
              <a:lnSpc>
                <a:spcPct val="110000"/>
              </a:lnSpc>
            </a:pPr>
            <a:r>
              <a:rPr sz="1500"/>
              <a:t>co se stane, když student neexistuje?</a:t>
            </a:r>
          </a:p>
          <a:p>
            <a:pPr lvl="1">
              <a:lnSpc>
                <a:spcPct val="110000"/>
              </a:lnSpc>
            </a:pPr>
            <a:r>
              <a:rPr sz="1500"/>
              <a:t>jsou výsledky řazené správně?</a:t>
            </a:r>
          </a:p>
          <a:p>
            <a:pPr lvl="1">
              <a:lnSpc>
                <a:spcPct val="110000"/>
              </a:lnSpc>
            </a:pPr>
            <a:r>
              <a:rPr sz="1500"/>
              <a:t>kolikrát se dotaz vyhodnotí?</a:t>
            </a:r>
          </a:p>
          <a:p>
            <a:pPr lvl="1">
              <a:lnSpc>
                <a:spcPct val="110000"/>
              </a:lnSpc>
            </a:pPr>
            <a:r>
              <a:rPr sz="1500"/>
              <a:t>jde něco zapsat efektivněji?</a:t>
            </a: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D695048C-4ED8-1785-CE5A-487FCF825C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64C5578-5F64-41E3-8B71-FCD12A72B81F}" type="datetime1">
              <a:rPr lang="en-US" smtClean="0"/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16149381-361D-52A0-14E9-6E4EB537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15" name="Kód"/>
          <p:cNvSpPr/>
          <p:nvPr/>
        </p:nvSpPr>
        <p:spPr>
          <a:xfrm>
            <a:off x="5800000" y="2650000"/>
            <a:ext cx="5477600" cy="355000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164592" bIns="164592"/>
          <a:lstStyle/>
          <a:p>
            <a:pPr algn="l"/>
            <a:r>
              <a:rPr sz="1400">
                <a:solidFill>
                  <a:srgbClr val="2B91AF"/>
                </a:solidFill>
                <a:latin typeface="Consolas"/>
              </a:rPr>
              <a:t>Student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s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=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studenti</a:t>
            </a:r>
          </a:p>
          <a:p>
            <a:pPr algn="l"/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.</a:t>
            </a:r>
            <a:r>
              <a:rPr sz="1400">
                <a:solidFill>
                  <a:srgbClr val="74531F"/>
                </a:solidFill>
                <a:latin typeface="Consolas"/>
              </a:rPr>
              <a:t>First</a:t>
            </a:r>
            <a:r>
              <a:rPr sz="1400">
                <a:solidFill>
                  <a:srgbClr val="1E1E1E"/>
                </a:solidFill>
                <a:latin typeface="Consolas"/>
              </a:rPr>
              <a:t>(</a:t>
            </a:r>
            <a:r>
              <a:rPr sz="1400">
                <a:solidFill>
                  <a:srgbClr val="1E1E1E"/>
                </a:solidFill>
                <a:latin typeface="Consolas"/>
              </a:rPr>
              <a:t>x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=</a:t>
            </a:r>
            <a:r>
              <a:rPr sz="1400">
                <a:solidFill>
                  <a:srgbClr val="1E1E1E"/>
                </a:solidFill>
                <a:latin typeface="Consolas"/>
              </a:rPr>
              <a:t>&gt;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x</a:t>
            </a:r>
            <a:r>
              <a:rPr sz="1400">
                <a:solidFill>
                  <a:srgbClr val="1E1E1E"/>
                </a:solidFill>
                <a:latin typeface="Consolas"/>
              </a:rPr>
              <a:t>.</a:t>
            </a:r>
            <a:r>
              <a:rPr sz="1400">
                <a:solidFill>
                  <a:srgbClr val="1E1E1E"/>
                </a:solidFill>
                <a:latin typeface="Consolas"/>
              </a:rPr>
              <a:t>Prijmeni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=</a:t>
            </a:r>
            <a:r>
              <a:rPr sz="1400">
                <a:solidFill>
                  <a:srgbClr val="1E1E1E"/>
                </a:solidFill>
                <a:latin typeface="Consolas"/>
              </a:rPr>
              <a:t>=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hledany</a:t>
            </a:r>
            <a:r>
              <a:rPr sz="1400">
                <a:solidFill>
                  <a:srgbClr val="1E1E1E"/>
                </a:solidFill>
                <a:latin typeface="Consolas"/>
              </a:rPr>
              <a:t>)</a:t>
            </a:r>
            <a:r>
              <a:rPr sz="140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0000FF"/>
                </a:solidFill>
                <a:latin typeface="Consolas"/>
              </a:rPr>
              <a:t>var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serazeni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=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studenti</a:t>
            </a:r>
          </a:p>
          <a:p>
            <a:pPr algn="l"/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.</a:t>
            </a:r>
            <a:r>
              <a:rPr sz="1400">
                <a:solidFill>
                  <a:srgbClr val="74531F"/>
                </a:solidFill>
                <a:latin typeface="Consolas"/>
              </a:rPr>
              <a:t>OrderBy</a:t>
            </a:r>
            <a:r>
              <a:rPr sz="1400">
                <a:solidFill>
                  <a:srgbClr val="1E1E1E"/>
                </a:solidFill>
                <a:latin typeface="Consolas"/>
              </a:rPr>
              <a:t>(</a:t>
            </a:r>
            <a:r>
              <a:rPr sz="1400">
                <a:solidFill>
                  <a:srgbClr val="1E1E1E"/>
                </a:solidFill>
                <a:latin typeface="Consolas"/>
              </a:rPr>
              <a:t>x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=</a:t>
            </a:r>
            <a:r>
              <a:rPr sz="1400">
                <a:solidFill>
                  <a:srgbClr val="1E1E1E"/>
                </a:solidFill>
                <a:latin typeface="Consolas"/>
              </a:rPr>
              <a:t>&gt;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x</a:t>
            </a:r>
            <a:r>
              <a:rPr sz="1400">
                <a:solidFill>
                  <a:srgbClr val="1E1E1E"/>
                </a:solidFill>
                <a:latin typeface="Consolas"/>
              </a:rPr>
              <a:t>.</a:t>
            </a:r>
            <a:r>
              <a:rPr sz="1400">
                <a:solidFill>
                  <a:srgbClr val="1E1E1E"/>
                </a:solidFill>
                <a:latin typeface="Consolas"/>
              </a:rPr>
              <a:t>Prijmeni</a:t>
            </a:r>
            <a:r>
              <a:rPr sz="1400">
                <a:solidFill>
                  <a:srgbClr val="1E1E1E"/>
                </a:solidFill>
                <a:latin typeface="Consolas"/>
              </a:rPr>
              <a:t>)</a:t>
            </a:r>
          </a:p>
          <a:p>
            <a:pPr algn="l"/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.</a:t>
            </a:r>
            <a:r>
              <a:rPr sz="1400">
                <a:solidFill>
                  <a:srgbClr val="74531F"/>
                </a:solidFill>
                <a:latin typeface="Consolas"/>
              </a:rPr>
              <a:t>OrderBy</a:t>
            </a:r>
            <a:r>
              <a:rPr sz="1400">
                <a:solidFill>
                  <a:srgbClr val="1E1E1E"/>
                </a:solidFill>
                <a:latin typeface="Consolas"/>
              </a:rPr>
              <a:t>(</a:t>
            </a:r>
            <a:r>
              <a:rPr sz="1400">
                <a:solidFill>
                  <a:srgbClr val="1E1E1E"/>
                </a:solidFill>
                <a:latin typeface="Consolas"/>
              </a:rPr>
              <a:t>x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=</a:t>
            </a:r>
            <a:r>
              <a:rPr sz="1400">
                <a:solidFill>
                  <a:srgbClr val="1E1E1E"/>
                </a:solidFill>
                <a:latin typeface="Consolas"/>
              </a:rPr>
              <a:t>&gt;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x</a:t>
            </a:r>
            <a:r>
              <a:rPr sz="1400">
                <a:solidFill>
                  <a:srgbClr val="1E1E1E"/>
                </a:solidFill>
                <a:latin typeface="Consolas"/>
              </a:rPr>
              <a:t>.</a:t>
            </a:r>
            <a:r>
              <a:rPr sz="1400">
                <a:solidFill>
                  <a:srgbClr val="1E1E1E"/>
                </a:solidFill>
                <a:latin typeface="Consolas"/>
              </a:rPr>
              <a:t>Jmeno</a:t>
            </a:r>
            <a:r>
              <a:rPr sz="1400">
                <a:solidFill>
                  <a:srgbClr val="1E1E1E"/>
                </a:solidFill>
                <a:latin typeface="Consolas"/>
              </a:rPr>
              <a:t>)</a:t>
            </a:r>
            <a:r>
              <a:rPr sz="140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0000FF"/>
                </a:solidFill>
                <a:latin typeface="Consolas"/>
              </a:rPr>
              <a:t>var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slabi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=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studenti</a:t>
            </a:r>
            <a:r>
              <a:rPr sz="1400">
                <a:solidFill>
                  <a:srgbClr val="1E1E1E"/>
                </a:solidFill>
                <a:latin typeface="Consolas"/>
              </a:rPr>
              <a:t>.</a:t>
            </a:r>
            <a:r>
              <a:rPr sz="1400">
                <a:solidFill>
                  <a:srgbClr val="74531F"/>
                </a:solidFill>
                <a:latin typeface="Consolas"/>
              </a:rPr>
              <a:t>Where</a:t>
            </a:r>
            <a:r>
              <a:rPr sz="1400">
                <a:solidFill>
                  <a:srgbClr val="1E1E1E"/>
                </a:solidFill>
                <a:latin typeface="Consolas"/>
              </a:rPr>
              <a:t>(</a:t>
            </a:r>
            <a:r>
              <a:rPr sz="1400">
                <a:solidFill>
                  <a:srgbClr val="1E1E1E"/>
                </a:solidFill>
                <a:latin typeface="Consolas"/>
              </a:rPr>
              <a:t>x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=</a:t>
            </a:r>
            <a:r>
              <a:rPr sz="1400">
                <a:solidFill>
                  <a:srgbClr val="1E1E1E"/>
                </a:solidFill>
                <a:latin typeface="Consolas"/>
              </a:rPr>
              <a:t>&gt;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x</a:t>
            </a:r>
            <a:r>
              <a:rPr sz="1400">
                <a:solidFill>
                  <a:srgbClr val="1E1E1E"/>
                </a:solidFill>
                <a:latin typeface="Consolas"/>
              </a:rPr>
              <a:t>.</a:t>
            </a:r>
            <a:r>
              <a:rPr sz="1400">
                <a:solidFill>
                  <a:srgbClr val="1E1E1E"/>
                </a:solidFill>
                <a:latin typeface="Consolas"/>
              </a:rPr>
              <a:t>Prumer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&gt;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3</a:t>
            </a:r>
            <a:r>
              <a:rPr sz="1400">
                <a:solidFill>
                  <a:srgbClr val="1E1E1E"/>
                </a:solidFill>
                <a:latin typeface="Consolas"/>
              </a:rPr>
              <a:t>.</a:t>
            </a:r>
            <a:r>
              <a:rPr sz="1400">
                <a:solidFill>
                  <a:srgbClr val="1E1E1E"/>
                </a:solidFill>
                <a:latin typeface="Consolas"/>
              </a:rPr>
              <a:t>5</a:t>
            </a:r>
            <a:r>
              <a:rPr sz="1400">
                <a:solidFill>
                  <a:srgbClr val="1E1E1E"/>
                </a:solidFill>
                <a:latin typeface="Consolas"/>
              </a:rPr>
              <a:t>)</a:t>
            </a:r>
            <a:r>
              <a:rPr sz="140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400">
                <a:solidFill>
                  <a:srgbClr val="2B91AF"/>
                </a:solidFill>
                <a:latin typeface="Consolas"/>
              </a:rPr>
              <a:t>Console</a:t>
            </a:r>
            <a:r>
              <a:rPr sz="1400">
                <a:solidFill>
                  <a:srgbClr val="1E1E1E"/>
                </a:solidFill>
                <a:latin typeface="Consolas"/>
              </a:rPr>
              <a:t>.</a:t>
            </a:r>
            <a:r>
              <a:rPr sz="1400">
                <a:solidFill>
                  <a:srgbClr val="74531F"/>
                </a:solidFill>
                <a:latin typeface="Consolas"/>
              </a:rPr>
              <a:t>WriteLine</a:t>
            </a:r>
            <a:r>
              <a:rPr sz="1400">
                <a:solidFill>
                  <a:srgbClr val="1E1E1E"/>
                </a:solidFill>
                <a:latin typeface="Consolas"/>
              </a:rPr>
              <a:t>(</a:t>
            </a:r>
            <a:r>
              <a:rPr sz="1400">
                <a:solidFill>
                  <a:srgbClr val="1E1E1E"/>
                </a:solidFill>
                <a:latin typeface="Consolas"/>
              </a:rPr>
              <a:t>slabi</a:t>
            </a:r>
            <a:r>
              <a:rPr sz="1400">
                <a:solidFill>
                  <a:srgbClr val="1E1E1E"/>
                </a:solidFill>
                <a:latin typeface="Consolas"/>
              </a:rPr>
              <a:t>.</a:t>
            </a:r>
            <a:r>
              <a:rPr sz="1400">
                <a:solidFill>
                  <a:srgbClr val="74531F"/>
                </a:solidFill>
                <a:latin typeface="Consolas"/>
              </a:rPr>
              <a:t>Count</a:t>
            </a:r>
            <a:r>
              <a:rPr sz="1400">
                <a:solidFill>
                  <a:srgbClr val="1E1E1E"/>
                </a:solidFill>
                <a:latin typeface="Consolas"/>
              </a:rPr>
              <a:t>(</a:t>
            </a:r>
            <a:r>
              <a:rPr sz="1400">
                <a:solidFill>
                  <a:srgbClr val="1E1E1E"/>
                </a:solidFill>
                <a:latin typeface="Consolas"/>
              </a:rPr>
              <a:t>)</a:t>
            </a:r>
            <a:r>
              <a:rPr sz="1400">
                <a:solidFill>
                  <a:srgbClr val="1E1E1E"/>
                </a:solidFill>
                <a:latin typeface="Consolas"/>
              </a:rPr>
              <a:t>)</a:t>
            </a:r>
            <a:r>
              <a:rPr sz="140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400">
                <a:solidFill>
                  <a:srgbClr val="0000FF"/>
                </a:solidFill>
                <a:latin typeface="Consolas"/>
              </a:rPr>
              <a:t>foreach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(</a:t>
            </a:r>
            <a:r>
              <a:rPr sz="1400">
                <a:solidFill>
                  <a:srgbClr val="0000FF"/>
                </a:solidFill>
                <a:latin typeface="Consolas"/>
              </a:rPr>
              <a:t>var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x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0000FF"/>
                </a:solidFill>
                <a:latin typeface="Consolas"/>
              </a:rPr>
              <a:t>in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slabi</a:t>
            </a:r>
            <a:r>
              <a:rPr sz="1400">
                <a:solidFill>
                  <a:srgbClr val="1E1E1E"/>
                </a:solidFill>
                <a:latin typeface="Consolas"/>
              </a:rPr>
              <a:t>)</a:t>
            </a:r>
          </a:p>
          <a:p>
            <a:pPr algn="l"/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2B91AF"/>
                </a:solidFill>
                <a:latin typeface="Consolas"/>
              </a:rPr>
              <a:t>Console</a:t>
            </a:r>
            <a:r>
              <a:rPr sz="1400">
                <a:solidFill>
                  <a:srgbClr val="1E1E1E"/>
                </a:solidFill>
                <a:latin typeface="Consolas"/>
              </a:rPr>
              <a:t>.</a:t>
            </a:r>
            <a:r>
              <a:rPr sz="1400">
                <a:solidFill>
                  <a:srgbClr val="74531F"/>
                </a:solidFill>
                <a:latin typeface="Consolas"/>
              </a:rPr>
              <a:t>WriteLine</a:t>
            </a:r>
            <a:r>
              <a:rPr sz="1400">
                <a:solidFill>
                  <a:srgbClr val="1E1E1E"/>
                </a:solidFill>
                <a:latin typeface="Consolas"/>
              </a:rPr>
              <a:t>(</a:t>
            </a:r>
            <a:r>
              <a:rPr sz="1400">
                <a:solidFill>
                  <a:srgbClr val="1E1E1E"/>
                </a:solidFill>
                <a:latin typeface="Consolas"/>
              </a:rPr>
              <a:t>x</a:t>
            </a:r>
            <a:r>
              <a:rPr sz="1400">
                <a:solidFill>
                  <a:srgbClr val="1E1E1E"/>
                </a:solidFill>
                <a:latin typeface="Consolas"/>
              </a:rPr>
              <a:t>.</a:t>
            </a:r>
            <a:r>
              <a:rPr sz="1400">
                <a:solidFill>
                  <a:srgbClr val="1E1E1E"/>
                </a:solidFill>
                <a:latin typeface="Consolas"/>
              </a:rPr>
              <a:t>Jmeno</a:t>
            </a:r>
            <a:r>
              <a:rPr sz="1400">
                <a:solidFill>
                  <a:srgbClr val="1E1E1E"/>
                </a:solidFill>
                <a:latin typeface="Consolas"/>
              </a:rPr>
              <a:t>)</a:t>
            </a:r>
            <a:r>
              <a:rPr sz="140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0000FF"/>
                </a:solidFill>
                <a:latin typeface="Consolas"/>
              </a:rPr>
              <a:t>if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(</a:t>
            </a:r>
            <a:r>
              <a:rPr sz="1400">
                <a:solidFill>
                  <a:srgbClr val="1E1E1E"/>
                </a:solidFill>
                <a:latin typeface="Consolas"/>
              </a:rPr>
              <a:t>studenti</a:t>
            </a:r>
            <a:r>
              <a:rPr sz="1400">
                <a:solidFill>
                  <a:srgbClr val="1E1E1E"/>
                </a:solidFill>
                <a:latin typeface="Consolas"/>
              </a:rPr>
              <a:t>.</a:t>
            </a:r>
            <a:r>
              <a:rPr sz="1400">
                <a:solidFill>
                  <a:srgbClr val="74531F"/>
                </a:solidFill>
                <a:latin typeface="Consolas"/>
              </a:rPr>
              <a:t>Where</a:t>
            </a:r>
            <a:r>
              <a:rPr sz="1400">
                <a:solidFill>
                  <a:srgbClr val="1E1E1E"/>
                </a:solidFill>
                <a:latin typeface="Consolas"/>
              </a:rPr>
              <a:t>(</a:t>
            </a:r>
            <a:r>
              <a:rPr sz="1400">
                <a:solidFill>
                  <a:srgbClr val="1E1E1E"/>
                </a:solidFill>
                <a:latin typeface="Consolas"/>
              </a:rPr>
              <a:t>x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=</a:t>
            </a:r>
            <a:r>
              <a:rPr sz="1400">
                <a:solidFill>
                  <a:srgbClr val="1E1E1E"/>
                </a:solidFill>
                <a:latin typeface="Consolas"/>
              </a:rPr>
              <a:t>&gt;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x</a:t>
            </a:r>
            <a:r>
              <a:rPr sz="1400">
                <a:solidFill>
                  <a:srgbClr val="1E1E1E"/>
                </a:solidFill>
                <a:latin typeface="Consolas"/>
              </a:rPr>
              <a:t>.</a:t>
            </a:r>
            <a:r>
              <a:rPr sz="1400">
                <a:solidFill>
                  <a:srgbClr val="1E1E1E"/>
                </a:solidFill>
                <a:latin typeface="Consolas"/>
              </a:rPr>
              <a:t>Absence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&gt;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1</a:t>
            </a:r>
            <a:r>
              <a:rPr sz="1400">
                <a:solidFill>
                  <a:srgbClr val="1E1E1E"/>
                </a:solidFill>
                <a:latin typeface="Consolas"/>
              </a:rPr>
              <a:t>0</a:t>
            </a:r>
            <a:r>
              <a:rPr sz="1400">
                <a:solidFill>
                  <a:srgbClr val="1E1E1E"/>
                </a:solidFill>
                <a:latin typeface="Consolas"/>
              </a:rPr>
              <a:t>0</a:t>
            </a:r>
            <a:r>
              <a:rPr sz="1400">
                <a:solidFill>
                  <a:srgbClr val="1E1E1E"/>
                </a:solidFill>
                <a:latin typeface="Consolas"/>
              </a:rPr>
              <a:t>)</a:t>
            </a:r>
          </a:p>
          <a:p>
            <a:pPr algn="l"/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.</a:t>
            </a:r>
            <a:r>
              <a:rPr sz="1400">
                <a:solidFill>
                  <a:srgbClr val="74531F"/>
                </a:solidFill>
                <a:latin typeface="Consolas"/>
              </a:rPr>
              <a:t>Count</a:t>
            </a:r>
            <a:r>
              <a:rPr sz="1400">
                <a:solidFill>
                  <a:srgbClr val="1E1E1E"/>
                </a:solidFill>
                <a:latin typeface="Consolas"/>
              </a:rPr>
              <a:t>(</a:t>
            </a:r>
            <a:r>
              <a:rPr sz="1400">
                <a:solidFill>
                  <a:srgbClr val="1E1E1E"/>
                </a:solidFill>
                <a:latin typeface="Consolas"/>
              </a:rPr>
              <a:t>)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&gt;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0</a:t>
            </a:r>
            <a:r>
              <a:rPr sz="1400">
                <a:solidFill>
                  <a:srgbClr val="1E1E1E"/>
                </a:solidFill>
                <a:latin typeface="Consolas"/>
              </a:rPr>
              <a:t>)</a:t>
            </a:r>
          </a:p>
          <a:p>
            <a:pPr algn="l"/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2B91AF"/>
                </a:solidFill>
                <a:latin typeface="Consolas"/>
              </a:rPr>
              <a:t>Console</a:t>
            </a:r>
            <a:r>
              <a:rPr sz="1400">
                <a:solidFill>
                  <a:srgbClr val="1E1E1E"/>
                </a:solidFill>
                <a:latin typeface="Consolas"/>
              </a:rPr>
              <a:t>.</a:t>
            </a:r>
            <a:r>
              <a:rPr sz="1400">
                <a:solidFill>
                  <a:srgbClr val="74531F"/>
                </a:solidFill>
                <a:latin typeface="Consolas"/>
              </a:rPr>
              <a:t>WriteLine</a:t>
            </a:r>
            <a:r>
              <a:rPr sz="1400">
                <a:solidFill>
                  <a:srgbClr val="1E1E1E"/>
                </a:solidFill>
                <a:latin typeface="Consolas"/>
              </a:rPr>
              <a:t>(</a:t>
            </a:r>
            <a:r>
              <a:rPr sz="1400">
                <a:solidFill>
                  <a:srgbClr val="A31515"/>
                </a:solidFill>
                <a:latin typeface="Consolas"/>
              </a:rPr>
              <a:t>"Pozor na absenci"</a:t>
            </a:r>
            <a:r>
              <a:rPr sz="1400">
                <a:solidFill>
                  <a:srgbClr val="1E1E1E"/>
                </a:solidFill>
                <a:latin typeface="Consolas"/>
              </a:rPr>
              <a:t>)</a:t>
            </a:r>
            <a:r>
              <a:rPr sz="1400">
                <a:solidFill>
                  <a:srgbClr val="1E1E1E"/>
                </a:solidFill>
                <a:latin typeface="Consolas"/>
              </a:rPr>
              <a:t>;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Praxe – analýza dat ze souboru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sz="2000"/>
              <a:t>Navazuje na práci se soubory z opakování</a:t>
            </a:r>
          </a:p>
          <a:p>
            <a:pPr lvl="1">
              <a:lnSpc>
                <a:spcPct val="110000"/>
              </a:lnSpc>
              <a:buNone/>
            </a:pPr>
            <a:r>
              <a:rPr sz="1800"/>
              <a:t>načtěte CSV se známkami nebo výsledky (StreamReader, Split)</a:t>
            </a:r>
          </a:p>
          <a:p>
            <a:pPr lvl="1">
              <a:lnSpc>
                <a:spcPct val="110000"/>
              </a:lnSpc>
              <a:buNone/>
            </a:pPr>
            <a:r>
              <a:rPr sz="1800"/>
              <a:t>převeďte řádky na objekty třídy</a:t>
            </a:r>
          </a:p>
          <a:p>
            <a:pPr>
              <a:lnSpc>
                <a:spcPct val="110000"/>
              </a:lnSpc>
            </a:pPr>
            <a:r>
              <a:rPr sz="2000"/>
              <a:t>Pomocí LINQ vytvořte statistiky:</a:t>
            </a:r>
          </a:p>
          <a:p>
            <a:pPr lvl="1">
              <a:lnSpc>
                <a:spcPct val="110000"/>
              </a:lnSpc>
              <a:buNone/>
            </a:pPr>
            <a:r>
              <a:rPr sz="1800"/>
              <a:t>průměry, nejlepší a nejhorší, skupiny podle kategorie</a:t>
            </a:r>
          </a:p>
          <a:p>
            <a:pPr>
              <a:lnSpc>
                <a:spcPct val="110000"/>
              </a:lnSpc>
            </a:pPr>
            <a:r>
              <a:rPr sz="2000"/>
              <a:t>Výsledky zobrazte ve WFA (ListBox, DataGridView nebo graf)</a:t>
            </a:r>
          </a:p>
          <a:p>
            <a:pPr>
              <a:lnSpc>
                <a:spcPct val="110000"/>
              </a:lnSpc>
            </a:pPr>
            <a:r>
              <a:rPr sz="2000"/>
              <a:t>Bonus: filtr podle vstupu uživatele (TextBox + Where)</a:t>
            </a: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D695048C-4ED8-1785-CE5A-487FCF825C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64C5578-5F64-41E3-8B71-FCD12A72B81F}" type="datetime1">
              <a:rPr lang="en-US" smtClean="0"/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16149381-361D-52A0-14E9-6E4EB537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DashVTI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DashVTI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Dash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E0E31462-65AE-4087-9B94-B3347EE711B2}" vid="{CA8B31CB-369F-4872-A917-A9EAAF918275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551E01F061E674F96D9948F82E90CC0" ma:contentTypeVersion="4" ma:contentTypeDescription="Vytvoří nový dokument" ma:contentTypeScope="" ma:versionID="0ed929cbc1eb582767fc023707286eaf">
  <xsd:schema xmlns:xsd="http://www.w3.org/2001/XMLSchema" xmlns:xs="http://www.w3.org/2001/XMLSchema" xmlns:p="http://schemas.microsoft.com/office/2006/metadata/properties" xmlns:ns2="5f0cc4f6-0c3c-4ea8-92ec-990817b169a4" targetNamespace="http://schemas.microsoft.com/office/2006/metadata/properties" ma:root="true" ma:fieldsID="dc4185c9b68f4bb432064f2de35ca5b8" ns2:_="">
    <xsd:import namespace="5f0cc4f6-0c3c-4ea8-92ec-990817b169a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0cc4f6-0c3c-4ea8-92ec-990817b169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03DA256-BEF3-4703-AFA0-C69E0571B414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A503566E-0711-4326-999B-C5E7A9DBF8E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24F53EF-9926-4E19-812B-E852BC969F57}"/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440</TotalTime>
  <Words>171</Words>
  <Application>Microsoft Office PowerPoint</Application>
  <PresentationFormat>Širokoúhlá obrazovka</PresentationFormat>
  <Paragraphs>31</Paragraphs>
  <Slides>7</Slides>
  <Notes>1</Notes>
  <HiddenSlides>0</HiddenSlides>
  <MMClips>0</MMClips>
  <ScaleCrop>false</ScaleCrop>
  <HeadingPairs>
    <vt:vector size="4" baseType="variant">
      <vt:variant>
        <vt:lpstr>Motiv</vt:lpstr>
      </vt:variant>
      <vt:variant>
        <vt:i4>1</vt:i4>
      </vt:variant>
      <vt:variant>
        <vt:lpstr>Nadpisy snímků</vt:lpstr>
      </vt:variant>
      <vt:variant>
        <vt:i4>7</vt:i4>
      </vt:variant>
    </vt:vector>
  </HeadingPairs>
  <TitlesOfParts>
    <vt:vector size="8" baseType="lpstr">
      <vt:lpstr>DashVTI</vt:lpstr>
      <vt:lpstr>Soubory a složky</vt:lpstr>
      <vt:lpstr>Stream</vt:lpstr>
      <vt:lpstr>StreamReader, StreamWriter</vt:lpstr>
      <vt:lpstr>Příklad čtení a zápisu do textového</vt:lpstr>
      <vt:lpstr>Neexistující soubor pro zápis</vt:lpstr>
      <vt:lpstr>File</vt:lpstr>
      <vt:lpstr>Directory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Programování</dc:title>
  <dc:creator>Sládeček David</dc:creator>
  <cp:lastModifiedBy>Sládeček David</cp:lastModifiedBy>
  <cp:revision>42</cp:revision>
  <dcterms:created xsi:type="dcterms:W3CDTF">2022-09-21T15:44:15Z</dcterms:created>
  <dcterms:modified xsi:type="dcterms:W3CDTF">2026-09-03T05:46:04Z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0x0101001551E01F061E674F96D9948F82E90CC0</vt:lpwstr>
  </property>
  <property fmtid="{D5CDD505-2E9C-101B-9397-08002B2CF9AE}" pid="3" name="Order">
    <vt:r8>5200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  <property fmtid="{D5CDD505-2E9C-101B-9397-08002B2CF9AE}" pid="8" name="_SourceUrl">
    <vt:lpwstr/>
  </property>
  <property fmtid="{D5CDD505-2E9C-101B-9397-08002B2CF9AE}" pid="9" name="_SharedFileIndex">
    <vt:lpwstr/>
  </property>
  <property fmtid="{D5CDD505-2E9C-101B-9397-08002B2CF9AE}" pid="10" name="ComplianceAssetId">
    <vt:lpwstr/>
  </property>
  <property fmtid="{D5CDD505-2E9C-101B-9397-08002B2CF9AE}" pid="11" name="TemplateUrl">
    <vt:lpwstr/>
  </property>
</Properties>
</file>