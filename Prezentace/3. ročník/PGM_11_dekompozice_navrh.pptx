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Předpoklady se zapisují do dokumentace – stejně jako u AI promptu. Neověřený předpoklad je riziko, ne fakt.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Dekompozice a návrh řešení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 – NEJASNÁ A AI-ASISTOVANÁ ZADÁNÍ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Zadání v praxi nikdy není úplné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700"/>
              <a:t>Ve škole: přesné zadání s jasnými kritérii</a:t>
            </a:r>
          </a:p>
          <a:p>
            <a:pPr>
              <a:lnSpc>
                <a:spcPct val="110000"/>
              </a:lnSpc>
            </a:pPr>
            <a:r>
              <a:rPr sz="1700"/>
              <a:t>V praxi: „Potřebovali bychom aplikaci na…“</a:t>
            </a:r>
          </a:p>
          <a:p>
            <a:pPr lvl="1">
              <a:lnSpc>
                <a:spcPct val="110000"/>
              </a:lnSpc>
            </a:pPr>
            <a:r>
              <a:rPr sz="1500"/>
              <a:t>klient často sám neví, co přesně chce</a:t>
            </a:r>
          </a:p>
          <a:p>
            <a:pPr>
              <a:lnSpc>
                <a:spcPct val="110000"/>
              </a:lnSpc>
            </a:pPr>
            <a:r>
              <a:rPr sz="1700"/>
              <a:t>AI vygeneruje přesně to, o co si řeknete</a:t>
            </a:r>
          </a:p>
          <a:p>
            <a:pPr lvl="1">
              <a:lnSpc>
                <a:spcPct val="110000"/>
              </a:lnSpc>
            </a:pPr>
            <a:r>
              <a:rPr sz="1500"/>
              <a:t>vágní zadání → vágní, často nepoužitelný výsledek</a:t>
            </a:r>
          </a:p>
          <a:p>
            <a:pPr>
              <a:lnSpc>
                <a:spcPct val="110000"/>
              </a:lnSpc>
            </a:pPr>
            <a:r>
              <a:rPr sz="1700"/>
              <a:t>Hodnota programátora se přesouvá:</a:t>
            </a:r>
          </a:p>
          <a:p>
            <a:pPr lvl="1">
              <a:lnSpc>
                <a:spcPct val="110000"/>
              </a:lnSpc>
            </a:pPr>
            <a:r>
              <a:rPr sz="1500"/>
              <a:t>od psaní kódu k </a:t>
            </a:r>
            <a:r>
              <a:rPr b="1" sz="1500"/>
              <a:t>pochopení problému a návrhu řešení</a:t>
            </a:r>
          </a:p>
          <a:p>
            <a:pPr>
              <a:lnSpc>
                <a:spcPct val="110000"/>
              </a:lnSpc>
            </a:pPr>
            <a:r>
              <a:rPr sz="1700"/>
              <a:t>Dekompozice = most mezi nejasným zadáním a kódem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 zadání ke kódu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0. Vyjasnění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otázky, předpoklady, hranice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3304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6304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1. Specifikace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seznam konkrétních funkcí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8168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168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2. Návrh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UI, data, třídy, akce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3032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32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3. Rozpad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metody a jejich signatury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7896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896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4. Kód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implementace po plátcích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50000"/>
            <a:ext cx="103632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/>
              <a:t>Kroky 1–4 znáte z 1. ročníku. Nový je krok 0 – a právě ten rozhoduje u nejasných zadání.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Nejasné vs. konkrétní zadání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Nejasné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„Udělejte aplikaci na evidenci knih ve školní knihovně.“</a:t>
            </a:r>
          </a:p>
          <a:p>
            <a:pPr>
              <a:lnSpc>
                <a:spcPct val="110000"/>
              </a:lnSpc>
            </a:pPr>
            <a:r>
              <a:rPr sz="1600"/>
              <a:t>Kdo ji používá?</a:t>
            </a:r>
          </a:p>
          <a:p>
            <a:pPr>
              <a:lnSpc>
                <a:spcPct val="110000"/>
              </a:lnSpc>
            </a:pPr>
            <a:r>
              <a:rPr sz="1600"/>
              <a:t>Co znamená „evidence“?</a:t>
            </a:r>
          </a:p>
          <a:p>
            <a:pPr>
              <a:lnSpc>
                <a:spcPct val="110000"/>
              </a:lnSpc>
            </a:pPr>
            <a:r>
              <a:rPr sz="1600"/>
              <a:t>Kolik knih, odkud data?</a:t>
            </a:r>
          </a:p>
          <a:p>
            <a:pPr>
              <a:lnSpc>
                <a:spcPct val="110000"/>
              </a:lnSpc>
            </a:pPr>
            <a:r>
              <a:rPr sz="1600"/>
              <a:t>Co je hotovo?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Konkrétní specifikace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Knihovník přidá knihu: název, autor, rok, ISBN</a:t>
            </a:r>
          </a:p>
          <a:p>
            <a:pPr>
              <a:lnSpc>
                <a:spcPct val="110000"/>
              </a:lnSpc>
            </a:pPr>
            <a:r>
              <a:rPr sz="1600"/>
              <a:t>Knihovník půjčí knihu čtenáři na 30 dní</a:t>
            </a:r>
          </a:p>
          <a:p>
            <a:pPr>
              <a:lnSpc>
                <a:spcPct val="110000"/>
              </a:lnSpc>
            </a:pPr>
            <a:r>
              <a:rPr sz="1600"/>
              <a:t>Čtenář má nejvýše 5 výpůjček</a:t>
            </a:r>
          </a:p>
          <a:p>
            <a:pPr>
              <a:lnSpc>
                <a:spcPct val="110000"/>
              </a:lnSpc>
            </a:pPr>
            <a:r>
              <a:rPr sz="1600"/>
              <a:t>Aplikace zobrazí výpůjčky po termínu</a:t>
            </a:r>
          </a:p>
          <a:p>
            <a:pPr>
              <a:lnSpc>
                <a:spcPct val="110000"/>
              </a:lnSpc>
            </a:pPr>
            <a:r>
              <a:rPr sz="1600"/>
              <a:t>Data se ukládají do souboru a načtou při spuštění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Doptávání – otázky na zadání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Kdo?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Kdo aplikaci používá?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Jaké má role a znalosti?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88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Co?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Jaké funkce jsou nutné?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Co aplikace naopak NEdělá?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Data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Jaká data, odkud, kolik?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Musí se ukládat?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Hranice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Okrajové a chybové případy –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co se stane, když…?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88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Hotovo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Podle čeho poznáme, že je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řešení hotové a správné?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32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Omezení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Technologie, čas, výkon,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způsob odevzdání.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Předpoklady (assumptions)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752"/>
                <a:gridCol w="3938016"/>
                <a:gridCol w="2694432"/>
              </a:tblGrid>
              <a:tr h="475488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Nejasnost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Předpoklad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Ověřit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Kolik knih si čtenář půjčí?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nejvýše 5 současně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u zadavatele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Na jak dlouho?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30 dní, prodloužení jednou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u zadavatele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Více výtisků stejné knihy?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ano – evidujeme výtisky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návrh dat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Kdo aplikaci ovládá?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jen knihovník, bez přihlášení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u zadavatele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Kam ukládat data?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soubor JSON vedle aplikace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technické omezení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Rozklad shora dolů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Začínáme na úrovni celé aplikace</a:t>
            </a:r>
          </a:p>
          <a:p>
            <a:pPr>
              <a:lnSpc>
                <a:spcPct val="110000"/>
              </a:lnSpc>
            </a:pPr>
            <a:r>
              <a:rPr sz="1600"/>
              <a:t>Každá úroveň je menší a konkrétnější</a:t>
            </a:r>
          </a:p>
          <a:p>
            <a:pPr>
              <a:lnSpc>
                <a:spcPct val="110000"/>
              </a:lnSpc>
            </a:pPr>
            <a:r>
              <a:rPr sz="1600"/>
              <a:t>Listy stromu = jednotlivé metody</a:t>
            </a:r>
          </a:p>
          <a:p>
            <a:pPr>
              <a:lnSpc>
                <a:spcPct val="110000"/>
              </a:lnSpc>
            </a:pPr>
            <a:r>
              <a:rPr sz="1600"/>
              <a:t>Kus je dost malý, když:</a:t>
            </a:r>
          </a:p>
          <a:p>
            <a:pPr lvl="1">
              <a:lnSpc>
                <a:spcPct val="110000"/>
              </a:lnSpc>
            </a:pPr>
            <a:r>
              <a:rPr sz="1500"/>
              <a:t>jde popsat jednou větou bez „a“</a:t>
            </a:r>
          </a:p>
          <a:p>
            <a:pPr lvl="1">
              <a:lnSpc>
                <a:spcPct val="110000"/>
              </a:lnSpc>
            </a:pPr>
            <a:r>
              <a:rPr sz="1500"/>
              <a:t>známe vstupy a výstupy</a:t>
            </a:r>
          </a:p>
          <a:p>
            <a:pPr lvl="1">
              <a:lnSpc>
                <a:spcPct val="110000"/>
              </a:lnSpc>
            </a:pPr>
            <a:r>
              <a:rPr sz="1500"/>
              <a:t>umíme vymyslet testovací příklad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Školní knihovna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├── Správa knih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│   ├── Přidání knihy (validace ISBN)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│   ├── Vyhledání podle názvu / autora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│   └── Výpis dostupných knih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├── Výpůjčky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│   ├── Půjčení (kontrola limitu 5)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│   ├── Vrácení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│   └── Přehled výpůjček po termínu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└── Data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   ├── Uložení do souboru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   └── Načtení při spuštění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Kostra řešení před implementací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Navrhněte třídy a </a:t>
            </a:r>
            <a:r>
              <a:rPr b="1" sz="1600"/>
              <a:t>signatury metod</a:t>
            </a:r>
          </a:p>
          <a:p>
            <a:pPr>
              <a:lnSpc>
                <a:spcPct val="110000"/>
              </a:lnSpc>
            </a:pPr>
            <a:r>
              <a:rPr sz="1600"/>
              <a:t>Těla zatím nechte prázdná</a:t>
            </a:r>
          </a:p>
          <a:p>
            <a:pPr lvl="1">
              <a:lnSpc>
                <a:spcPct val="110000"/>
              </a:lnSpc>
            </a:pPr>
            <a:r>
              <a:rPr sz="1500">
                <a:latin typeface="Consolas"/>
              </a:rPr>
              <a:t>throw new NotImplementedException()</a:t>
            </a:r>
          </a:p>
          <a:p>
            <a:pPr>
              <a:lnSpc>
                <a:spcPct val="110000"/>
              </a:lnSpc>
            </a:pPr>
            <a:r>
              <a:rPr sz="1600"/>
              <a:t>Kostra se přeloží – návrh je ověřený</a:t>
            </a:r>
          </a:p>
          <a:p>
            <a:pPr>
              <a:lnSpc>
                <a:spcPct val="110000"/>
              </a:lnSpc>
            </a:pPr>
            <a:r>
              <a:rPr sz="1600"/>
              <a:t>Přesně tuto kostru můžete předat AI po částech</a:t>
            </a:r>
          </a:p>
          <a:p>
            <a:pPr>
              <a:lnSpc>
                <a:spcPct val="110000"/>
              </a:lnSpc>
            </a:pPr>
            <a:r>
              <a:rPr sz="1600"/>
              <a:t>Snadno se rozdělí práce v týmu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class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Knihovna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private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List</a:t>
            </a:r>
            <a:r>
              <a:rPr sz="1250">
                <a:solidFill>
                  <a:srgbClr val="1E1E1E"/>
                </a:solidFill>
                <a:latin typeface="Consolas"/>
              </a:rPr>
              <a:t>&lt;</a:t>
            </a:r>
            <a:r>
              <a:rPr sz="1250">
                <a:solidFill>
                  <a:srgbClr val="2B91AF"/>
                </a:solidFill>
                <a:latin typeface="Consolas"/>
              </a:rPr>
              <a:t>Kniha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knihy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private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List</a:t>
            </a:r>
            <a:r>
              <a:rPr sz="1250">
                <a:solidFill>
                  <a:srgbClr val="1E1E1E"/>
                </a:solidFill>
                <a:latin typeface="Consolas"/>
              </a:rPr>
              <a:t>&lt;</a:t>
            </a:r>
            <a:r>
              <a:rPr sz="1250">
                <a:solidFill>
                  <a:srgbClr val="2B91AF"/>
                </a:solidFill>
                <a:latin typeface="Consolas"/>
              </a:rPr>
              <a:t>Vypujcka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vypujcky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void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PridejKnihu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2B91AF"/>
                </a:solidFill>
                <a:latin typeface="Consolas"/>
              </a:rPr>
              <a:t>Kniha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k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throw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NotImplementedException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bool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Pujc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2B91AF"/>
                </a:solidFill>
                <a:latin typeface="Consolas"/>
              </a:rPr>
              <a:t>Kniha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k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Ctenar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c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throw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NotImplementedException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void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Vrat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2B91AF"/>
                </a:solidFill>
                <a:latin typeface="Consolas"/>
              </a:rPr>
              <a:t>Vypujcka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v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throw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NotImplementedException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List</a:t>
            </a:r>
            <a:r>
              <a:rPr sz="1250">
                <a:solidFill>
                  <a:srgbClr val="1E1E1E"/>
                </a:solidFill>
                <a:latin typeface="Consolas"/>
              </a:rPr>
              <a:t>&lt;</a:t>
            </a:r>
            <a:r>
              <a:rPr sz="1250">
                <a:solidFill>
                  <a:srgbClr val="2B91AF"/>
                </a:solidFill>
                <a:latin typeface="Consolas"/>
              </a:rPr>
              <a:t>Vypujcka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PoTerminu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2B91AF"/>
                </a:solidFill>
                <a:latin typeface="Consolas"/>
              </a:rPr>
              <a:t>DateTime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dnes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throw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NotImplementedException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Vertikální plátky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 vrstvách (riskantní)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Nejdřív celé UI, pak celá logika, pak data</a:t>
            </a:r>
          </a:p>
          <a:p>
            <a:pPr>
              <a:lnSpc>
                <a:spcPct val="110000"/>
              </a:lnSpc>
            </a:pPr>
            <a:r>
              <a:rPr sz="1600"/>
              <a:t>Funkční je až úplně na konci</a:t>
            </a:r>
          </a:p>
          <a:p>
            <a:pPr>
              <a:lnSpc>
                <a:spcPct val="110000"/>
              </a:lnSpc>
            </a:pPr>
            <a:r>
              <a:rPr sz="1600"/>
              <a:t>Chyby v návrhu se ukážou pozdě</a:t>
            </a:r>
          </a:p>
          <a:p>
            <a:pPr>
              <a:lnSpc>
                <a:spcPct val="110000"/>
              </a:lnSpc>
            </a:pPr>
            <a:r>
              <a:rPr sz="1600"/>
              <a:t>Při nedostatku času nemáte nic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plátcích (doporučeno)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Jedna funkce kompletně: UI → logika → data</a:t>
            </a:r>
          </a:p>
          <a:p>
            <a:pPr>
              <a:lnSpc>
                <a:spcPct val="110000"/>
              </a:lnSpc>
            </a:pPr>
            <a:r>
              <a:rPr sz="1600"/>
              <a:t>Po každém plátku funkční aplikace</a:t>
            </a:r>
          </a:p>
          <a:p>
            <a:pPr>
              <a:lnSpc>
                <a:spcPct val="110000"/>
              </a:lnSpc>
            </a:pPr>
            <a:r>
              <a:rPr sz="1600"/>
              <a:t>Nejdřív nejdůležitější funkce (MVP)</a:t>
            </a:r>
          </a:p>
          <a:p>
            <a:pPr>
              <a:lnSpc>
                <a:spcPct val="110000"/>
              </a:lnSpc>
            </a:pPr>
            <a:r>
              <a:rPr sz="1600"/>
              <a:t>Při nedostatku času chybí jen méně důležité funkce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bez a s dekompozicí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Bez návrhu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„Napiš mi aplikaci na školní knihovnu ve WinForms.“</a:t>
            </a:r>
          </a:p>
          <a:p>
            <a:pPr>
              <a:lnSpc>
                <a:spcPct val="110000"/>
              </a:lnSpc>
            </a:pPr>
            <a:r>
              <a:rPr sz="1600"/>
              <a:t>Výsledek: stovky řádků, kterým nerozumíte</a:t>
            </a:r>
          </a:p>
          <a:p>
            <a:pPr>
              <a:lnSpc>
                <a:spcPct val="110000"/>
              </a:lnSpc>
            </a:pPr>
            <a:r>
              <a:rPr sz="1600"/>
              <a:t>Neodpovídá vašim předpokladům</a:t>
            </a:r>
          </a:p>
          <a:p>
            <a:pPr>
              <a:lnSpc>
                <a:spcPct val="110000"/>
              </a:lnSpc>
            </a:pPr>
            <a:r>
              <a:rPr sz="1600"/>
              <a:t>Nelze obhájit ani rozumně upravit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 návrhem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Kontext: třída Knihovna, seznamy knihy a vypujcky</a:t>
            </a:r>
          </a:p>
          <a:p>
            <a:pPr>
              <a:lnSpc>
                <a:spcPct val="110000"/>
              </a:lnSpc>
            </a:pPr>
            <a:r>
              <a:rPr sz="1600"/>
              <a:t>Úkol: vysvětli, jak implementovat </a:t>
            </a:r>
            <a:r>
              <a:rPr sz="1600">
                <a:latin typeface="Consolas"/>
              </a:rPr>
              <a:t>Pujc(Kniha, Ctenar)</a:t>
            </a:r>
          </a:p>
          <a:p>
            <a:pPr>
              <a:lnSpc>
                <a:spcPct val="110000"/>
              </a:lnSpc>
            </a:pPr>
            <a:r>
              <a:rPr sz="1600"/>
              <a:t>Omezení: limit 5 výpůjček, bez LINQ</a:t>
            </a:r>
          </a:p>
          <a:p>
            <a:pPr>
              <a:lnSpc>
                <a:spcPct val="110000"/>
              </a:lnSpc>
            </a:pPr>
            <a:r>
              <a:rPr sz="1600"/>
              <a:t>„Nepiš celé řešení, ukaž postup a okrajové případy.“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Kontrola výsledku proti návrhu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Specifikace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Je pokryta každá funkce?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Není tam navíc něco, co nikdo nechtěl?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88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Signatury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Odpovídají třídy a metody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navržené kostře?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Okrajové případy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Prázdný vstup, limit, neexistující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záznam, chybný formát.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Porozumění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Umím každou část vysvětlit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a obhájit u ústního zkoušení?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88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Dokumentace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Zapsané předpoklady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a použití AI podle pravidel předmětu.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32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900">
                <a:solidFill>
                  <a:srgbClr val="FFFFFF"/>
                </a:solidFill>
              </a:rPr>
              <a:t>Testování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Ověřeno na konkrétních příkladech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vstup → očekávaný výstup.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Zadání: „Udělejte aplikaci pro organizaci třídního výletu.“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1. Sepište alespoň 8 otázek, které byste položili zadavateli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2. Na ty, na které nedostanete odpověď, stanovte předpoklady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3. Vytvořte specifikaci – seznam konkrétních funkcí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4. Nakreslete strom rozkladu shora dolů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5. Navrhněte třídy a signatury metod (kostru)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6. Určete první vertikální plátek (MVP)</a:t>
            </a:r>
          </a:p>
          <a:p>
            <a:pPr>
              <a:lnSpc>
                <a:spcPct val="110000"/>
              </a:lnSpc>
            </a:pPr>
            <a:r>
              <a:rPr sz="2000"/>
              <a:t>Dvojice si návrhy vymění a porovnají – v čem se liší a proč?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Praxe – zadání „od klienta“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Týmy 2–3 studentů, učitel hraje roli klienta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zadání je záměrně neúplné</a:t>
            </a:r>
          </a:p>
          <a:p>
            <a:pPr>
              <a:lnSpc>
                <a:spcPct val="110000"/>
              </a:lnSpc>
            </a:pPr>
            <a:r>
              <a:rPr sz="2000"/>
              <a:t>1. hodina: rozhovor s klientem, předpoklady, specifikace</a:t>
            </a:r>
          </a:p>
          <a:p>
            <a:pPr>
              <a:lnSpc>
                <a:spcPct val="110000"/>
              </a:lnSpc>
            </a:pPr>
            <a:r>
              <a:rPr sz="2000"/>
              <a:t>2. hodina: návrh tříd, kostra řešení, plán plátků</a:t>
            </a:r>
          </a:p>
          <a:p>
            <a:pPr>
              <a:lnSpc>
                <a:spcPct val="110000"/>
              </a:lnSpc>
            </a:pPr>
            <a:r>
              <a:rPr sz="2000"/>
              <a:t>Další hodiny: implementace po plátcích, ukázka klientovi</a:t>
            </a:r>
          </a:p>
          <a:p>
            <a:pPr>
              <a:lnSpc>
                <a:spcPct val="110000"/>
              </a:lnSpc>
            </a:pPr>
            <a:r>
              <a:rPr sz="2000"/>
              <a:t>Odevzdává se: specifikace, předpoklady, kód, záznam použití AI</a:t>
            </a:r>
          </a:p>
          <a:p>
            <a:pPr>
              <a:lnSpc>
                <a:spcPct val="110000"/>
              </a:lnSpc>
            </a:pPr>
            <a:r>
              <a:rPr sz="2000"/>
              <a:t>Hodnotí se i to, jak tým reagoval na změnu požadavku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