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2"/>
  </p:notesMasterIdLst>
  <p:sldIdLst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03T05:44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modSld addMainMaster delMainMaster">
      <pc:chgData name="Sládeček David" userId="S::sladecek@hradebni.cz::474d93f0-3a32-49cc-b837-47806091b590" providerId="AD" clId="Web-{00000000-0000-0000-0000-000000000000}" dt="2026-09-03T05:46:01.088" v="1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4:55.555" v="13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4:46.039" v="10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55.555" v="13" actId="20577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8" creationId="{85AE27A1-125B-7955-BB01-DB47E1984921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0" creationId="{090B1A9B-4205-8525-E5AA-27B99868A41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2" creationId="{2B584676-79BC-4E35-6927-8126B364614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4:31.741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31.931" v="14"/>
        <pc:sldMkLst>
          <pc:docMk/>
          <pc:sldMk cId="1193411076" sldId="257"/>
        </pc:sldMkLst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2" creationId="{C2ABE8DD-861D-6DE5-4EB8-111F9340CB2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3" creationId="{65972E93-DAC9-E513-56E0-FAE4C410CF5A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8" creationId="{B04C8FDB-7636-E099-933A-56FA7B97D75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0" creationId="{D695048C-4ED8-1785-CE5A-487FCF825C4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2" creationId="{67D57CBD-615F-100D-50B2-90B3CAFEB46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4" creationId="{16149381-361D-52A0-14E9-6E4EB5378B3B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42.978" v="15"/>
        <pc:sldMkLst>
          <pc:docMk/>
          <pc:sldMk cId="3505840516" sldId="258"/>
        </pc:sldMkLst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2" creationId="{AB386235-FE3A-529E-ABE4-2D0F0B9610CE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3" creationId="{232C0A67-6AAD-4B74-66BE-EE8315B5FD2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1" creationId="{C4915C41-4C4D-22DA-6C1D-8EDCD60CBD6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3" creationId="{70C36DC6-11A5-C29B-C763-7C78570966D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5" creationId="{E622008F-6F8C-F456-F22A-BD8F931FB1F8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42.978" v="15"/>
          <ac:picMkLst>
            <pc:docMk/>
            <pc:sldMk cId="3505840516" sldId="258"/>
            <ac:picMk id="1026" creationId="{B200EB5D-7C8D-FFC8-A35F-45486B97253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196183517" sldId="259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2" creationId="{CC085EB1-21A1-CD43-A142-E14178B802F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4" creationId="{F5FE7AC0-A3B1-E3C0-FBD1-32FCB56D6E9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6" creationId="{50EDE671-98A9-5358-733F-213EF1E92BAD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9" creationId="{3648A306-1FEE-D803-2355-BF6400B690C5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11" creationId="{2DA7B9AA-1866-F0CF-B410-4AC99794489B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946532546" sldId="261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2" creationId="{3E495D63-421F-19F8-9DDA-3496A16EE21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4" creationId="{10C756C9-0A46-08F9-4580-4EBB5A356F4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6" creationId="{20518221-AF82-FBC4-9E4A-D0692794CDC2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9" creationId="{0B85BDB5-7257-A0A1-E77A-D60E437849AB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11" creationId="{BB6D7327-302B-509A-422C-D85A5C7DEA80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5:54.619" v="16"/>
        <pc:sldMkLst>
          <pc:docMk/>
          <pc:sldMk cId="1985706453" sldId="262"/>
        </pc:sldMkLst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2" creationId="{97C71524-CE29-7204-814A-2C171F5C7AA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3" creationId="{FCE06F1C-D258-274F-C40F-A7826AB59DB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7" creationId="{8B9CD985-E840-BEAC-7B97-8E147416AE8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8" creationId="{F4ACA565-9F73-792B-C518-BC1899CB53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9" creationId="{C5C07FE7-A99F-A56B-27A0-8B9C7EECD56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54.619" v="16"/>
          <ac:picMkLst>
            <pc:docMk/>
            <pc:sldMk cId="1985706453" sldId="262"/>
            <ac:picMk id="5" creationId="{D171B47B-9E9F-AB8E-C232-952551B6B406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6:01.088" v="17"/>
        <pc:sldMkLst>
          <pc:docMk/>
          <pc:sldMk cId="466483557" sldId="263"/>
        </pc:sldMkLst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2" creationId="{C9B8D8AD-726C-7AB6-573B-2C2C8B0A62DF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3" creationId="{1B96F939-8674-C729-00B3-8A15A0B833A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7" creationId="{4A4A226E-3196-1301-70D8-6BD862BB3BB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8" creationId="{A464A21D-B1CD-D3AA-1F36-03255A9BAD0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9" creationId="{2A6C7FF9-654B-7D48-B2BB-A1DE4357B44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6:01.088" v="17"/>
          <ac:picMkLst>
            <pc:docMk/>
            <pc:sldMk cId="466483557" sldId="263"/>
            <ac:picMk id="5" creationId="{BF1C7110-9407-DC37-2AC1-6DF260A3441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212518882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510413956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677659548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30259315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867444874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277176555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737139801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526234535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80103632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180637993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25172704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61680780" sldId="214748373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Možná řešení:</a:t>
            </a:r>
          </a:p>
          <a:p>
            <a:r>
              <a:t>1) public static bool JePrvocislo(int cislo)</a:t>
            </a:r>
          </a:p>
          <a:p>
            <a:r>
              <a:t>2) private static double Prumer(params double[] cisla)</a:t>
            </a:r>
          </a:p>
          <a:p>
            <a:r>
              <a:t>3) public static bool ZkusPrevestNaTeplotu(string text, out double teplota)</a:t>
            </a:r>
          </a:p>
          <a:p>
            <a:r>
              <a:t>4) public static void Prohod(ref int a, ref int b)</a:t>
            </a:r>
          </a:p>
          <a:p>
            <a:r>
              <a:t>5) public static int[] Posloupnost(int od, int doHodnoty, int krok = 1)</a:t>
            </a:r>
          </a:p>
          <a:p>
            <a:r>
              <a:t>6) public static string[,] VytvorMatici(int n)</a:t>
            </a:r>
          </a:p>
          <a:p>
            <a:r>
              <a:t>7) private static int SoucetCifer(int cislo) – rekurzivně: zarážka cislo &lt;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Chyby k nalezení:</a:t>
            </a:r>
          </a:p>
          <a:p>
            <a:r>
              <a:t>- název Metoda1 nic neříká, parametry a, b také ne</a:t>
            </a:r>
          </a:p>
          <a:p>
            <a:r>
              <a:t>- metoda počítá i vypisuje (míchá výpočet a výstup)</a:t>
            </a:r>
          </a:p>
          <a:p>
            <a:r>
              <a:t>- magické číslo 0.21 (DPH) – patří do konstanty</a:t>
            </a:r>
          </a:p>
          <a:p>
            <a:r>
              <a:t>- větev pro a &lt;= 0 nic nevrací → chyba CS0161, kód se nepřeloží</a:t>
            </a:r>
          </a:p>
          <a:p>
            <a:r>
              <a:t>- parametr b se nepoužívá</a:t>
            </a:r>
          </a:p>
          <a:p>
            <a:r>
              <a:t>- návrh: public static double CenaSDph(double cenaBezDph) s konstantou SazbaDph a výjimkou nebo kontrolou vstupu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Metody a funkce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PROGRAMOVÁNÍ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Metoda (funkce)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700"/>
              <a:t>= pojmenovaný blok kódu, který vykonává jednu konkrétní úlohu</a:t>
            </a:r>
          </a:p>
          <a:p>
            <a:pPr>
              <a:lnSpc>
                <a:spcPct val="110000"/>
              </a:lnSpc>
            </a:pPr>
            <a:r>
              <a:rPr sz="1700"/>
              <a:t>Podprogram – algoritmus rozdělíme na menší, samostatně řešitelné části</a:t>
            </a:r>
          </a:p>
          <a:p>
            <a:pPr>
              <a:lnSpc>
                <a:spcPct val="110000"/>
              </a:lnSpc>
            </a:pPr>
            <a:r>
              <a:rPr sz="1700"/>
              <a:t>V C# je každá metoda součástí třídy (nebo struktury)</a:t>
            </a:r>
          </a:p>
          <a:p>
            <a:pPr lvl="1">
              <a:lnSpc>
                <a:spcPct val="110000"/>
              </a:lnSpc>
            </a:pPr>
            <a:r>
              <a:rPr sz="1500"/>
              <a:t>Pojmy „metoda“ a „funkce“ budeme používat jako synonyma</a:t>
            </a:r>
          </a:p>
          <a:p>
            <a:pPr>
              <a:lnSpc>
                <a:spcPct val="110000"/>
              </a:lnSpc>
            </a:pPr>
            <a:r>
              <a:rPr sz="1700"/>
              <a:t>Proč metody používat:</a:t>
            </a:r>
          </a:p>
          <a:p>
            <a:pPr lvl="1">
              <a:lnSpc>
                <a:spcPct val="110000"/>
              </a:lnSpc>
            </a:pPr>
            <a:r>
              <a:rPr sz="1500"/>
              <a:t>Zamezení duplicitnímu kódu (DRY – Don't Repeat Yourself)</a:t>
            </a:r>
          </a:p>
          <a:p>
            <a:pPr lvl="1">
              <a:lnSpc>
                <a:spcPct val="110000"/>
              </a:lnSpc>
            </a:pPr>
            <a:r>
              <a:rPr sz="1500"/>
              <a:t>Čitelnost – název metody popisuje, co se děje</a:t>
            </a:r>
          </a:p>
          <a:p>
            <a:pPr lvl="1">
              <a:lnSpc>
                <a:spcPct val="110000"/>
              </a:lnSpc>
            </a:pPr>
            <a:r>
              <a:rPr sz="1500"/>
              <a:t>Snazší ladění a testování po malých částech</a:t>
            </a:r>
          </a:p>
          <a:p>
            <a:pPr lvl="1">
              <a:lnSpc>
                <a:spcPct val="110000"/>
              </a:lnSpc>
            </a:pPr>
            <a:r>
              <a:rPr sz="1500"/>
              <a:t>Rozšiřitelnost a znovupoužitelnost</a:t>
            </a:r>
          </a:p>
          <a:p>
            <a:pPr>
              <a:lnSpc>
                <a:spcPct val="110000"/>
              </a:lnSpc>
            </a:pPr>
            <a:r>
              <a:rPr sz="1700"/>
              <a:t>U hotové metody nás zajímá </a:t>
            </a:r>
            <a:r>
              <a:rPr b="1" sz="1700"/>
              <a:t>co dělá</a:t>
            </a:r>
            <a:r>
              <a:rPr sz="1700"/>
              <a:t>, ne </a:t>
            </a:r>
            <a:r>
              <a:rPr b="1" sz="1700"/>
              <a:t>jak to dělá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Struktura metody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b="1" sz="1600"/>
              <a:t>Viditelnost</a:t>
            </a:r>
            <a:r>
              <a:rPr sz="1600"/>
              <a:t> – public, private, protected</a:t>
            </a:r>
          </a:p>
          <a:p>
            <a:pPr>
              <a:lnSpc>
                <a:spcPct val="110000"/>
              </a:lnSpc>
            </a:pPr>
            <a:r>
              <a:rPr b="1" sz="1600"/>
              <a:t>static</a:t>
            </a:r>
            <a:r>
              <a:rPr sz="1600"/>
              <a:t> – volitelně, metoda patří třídě, ne objektu</a:t>
            </a:r>
          </a:p>
          <a:p>
            <a:pPr>
              <a:lnSpc>
                <a:spcPct val="110000"/>
              </a:lnSpc>
            </a:pPr>
            <a:r>
              <a:rPr b="1" sz="1600"/>
              <a:t>Návratový typ</a:t>
            </a:r>
            <a:r>
              <a:rPr sz="1600"/>
              <a:t> – co metoda vrací (void = nic)</a:t>
            </a:r>
          </a:p>
          <a:p>
            <a:pPr>
              <a:lnSpc>
                <a:spcPct val="110000"/>
              </a:lnSpc>
            </a:pPr>
            <a:r>
              <a:rPr b="1" sz="1600"/>
              <a:t>Název</a:t>
            </a:r>
            <a:r>
              <a:rPr sz="1600"/>
              <a:t> – PascalCase, ideálně sloveso: </a:t>
            </a:r>
            <a:r>
              <a:rPr sz="1600">
                <a:latin typeface="Consolas"/>
              </a:rPr>
              <a:t>SpocitejPrumer</a:t>
            </a:r>
          </a:p>
          <a:p>
            <a:pPr>
              <a:lnSpc>
                <a:spcPct val="110000"/>
              </a:lnSpc>
            </a:pPr>
            <a:r>
              <a:rPr b="1" sz="1600"/>
              <a:t>Parametry</a:t>
            </a:r>
            <a:r>
              <a:rPr sz="1600"/>
              <a:t> – datový typ a název, mohou chybět</a:t>
            </a:r>
          </a:p>
          <a:p>
            <a:pPr>
              <a:lnSpc>
                <a:spcPct val="110000"/>
              </a:lnSpc>
            </a:pPr>
            <a:r>
              <a:rPr b="1" sz="1600"/>
              <a:t>Tělo</a:t>
            </a:r>
            <a:r>
              <a:rPr sz="1600"/>
              <a:t> – blok { }, vykoná se až při </a:t>
            </a:r>
            <a:r>
              <a:rPr b="1" sz="1600"/>
              <a:t>volání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hlavička metody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public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Prumer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[</a:t>
            </a:r>
            <a:r>
              <a:rPr sz="1600">
                <a:solidFill>
                  <a:srgbClr val="1E1E1E"/>
                </a:solidFill>
                <a:latin typeface="Consolas"/>
              </a:rPr>
              <a:t>]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cisla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8000"/>
                </a:solidFill>
                <a:latin typeface="Consolas"/>
              </a:rPr>
              <a:t>// tělo metody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soucet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foreach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cisla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soucet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soucet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/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cisla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Length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volání metody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Prumer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new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[</a:t>
            </a:r>
            <a:r>
              <a:rPr sz="1600">
                <a:solidFill>
                  <a:srgbClr val="1E1E1E"/>
                </a:solidFill>
                <a:latin typeface="Consolas"/>
              </a:rPr>
              <a:t>]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3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Návratová hodnota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void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 návratovým typem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Metoda nic nevrací, jen něco provede</a:t>
            </a:r>
          </a:p>
          <a:p>
            <a:pPr algn="l"/>
            <a:r>
              <a:rPr sz="1500">
                <a:latin typeface="Consolas"/>
              </a:rPr>
              <a:t>return;</a:t>
            </a:r>
            <a:r>
              <a:rPr sz="1500"/>
              <a:t> lze použít pro předčasné ukončení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Každá větev kódu musí končit </a:t>
            </a:r>
            <a:r>
              <a:rPr sz="1500">
                <a:latin typeface="Consolas"/>
              </a:rPr>
              <a:t>return hodnota;</a:t>
            </a:r>
          </a:p>
          <a:p>
            <a:pPr algn="l"/>
            <a:r>
              <a:rPr sz="1500"/>
              <a:t>Vrátit lze jednoduchý typ, pole, kolekci, objekt…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7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void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Pozdrav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A31515"/>
                </a:solidFill>
                <a:latin typeface="Consolas"/>
              </a:rPr>
              <a:t>""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A31515"/>
                </a:solidFill>
                <a:latin typeface="Consolas"/>
              </a:rPr>
              <a:t>"Ahoj "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7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bool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JeSude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cislo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cislo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%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true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false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8000"/>
                </a:solidFill>
                <a:latin typeface="Consolas"/>
              </a:rPr>
              <a:t>// jinak chyba CS0161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Parametry metod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b="1" sz="1600"/>
              <a:t>Formální parametry</a:t>
            </a:r>
            <a:r>
              <a:rPr sz="1600"/>
              <a:t> – názvy proměnných v hlavičce metody</a:t>
            </a:r>
          </a:p>
          <a:p>
            <a:pPr>
              <a:lnSpc>
                <a:spcPct val="110000"/>
              </a:lnSpc>
            </a:pPr>
            <a:r>
              <a:rPr b="1" sz="1600"/>
              <a:t>Skutečné parametry (argumenty)</a:t>
            </a:r>
            <a:r>
              <a:rPr sz="1600"/>
              <a:t> – hodnoty předané při volání</a:t>
            </a:r>
          </a:p>
          <a:p>
            <a:pPr>
              <a:lnSpc>
                <a:spcPct val="110000"/>
              </a:lnSpc>
            </a:pPr>
            <a:r>
              <a:rPr b="1" sz="1600"/>
              <a:t>Předání hodnotou</a:t>
            </a:r>
            <a:r>
              <a:rPr sz="1600"/>
              <a:t> – výchozí, metoda pracuje s kopií hodnoty</a:t>
            </a:r>
          </a:p>
          <a:p>
            <a:pPr>
              <a:lnSpc>
                <a:spcPct val="110000"/>
              </a:lnSpc>
            </a:pPr>
            <a:r>
              <a:rPr b="1" sz="1600"/>
              <a:t>ref</a:t>
            </a:r>
            <a:r>
              <a:rPr sz="1600"/>
              <a:t> – vstupně-výstupní, proměnná musí být inicializovaná</a:t>
            </a:r>
          </a:p>
          <a:p>
            <a:pPr>
              <a:lnSpc>
                <a:spcPct val="110000"/>
              </a:lnSpc>
            </a:pPr>
            <a:r>
              <a:rPr b="1" sz="1600"/>
              <a:t>out</a:t>
            </a:r>
            <a:r>
              <a:rPr sz="1600"/>
              <a:t> – výstupní, metoda musí hodnotu přiřadit</a:t>
            </a:r>
          </a:p>
          <a:p>
            <a:pPr>
              <a:lnSpc>
                <a:spcPct val="110000"/>
              </a:lnSpc>
            </a:pPr>
            <a:r>
              <a:rPr b="1" sz="1600"/>
              <a:t>Výchozí hodnota</a:t>
            </a:r>
            <a:r>
              <a:rPr sz="1600"/>
              <a:t> – nepovinný parametr </a:t>
            </a:r>
            <a:r>
              <a:rPr sz="1600">
                <a:latin typeface="Consolas"/>
              </a:rPr>
              <a:t>int krok = 1</a:t>
            </a:r>
          </a:p>
          <a:p>
            <a:pPr>
              <a:lnSpc>
                <a:spcPct val="110000"/>
              </a:lnSpc>
            </a:pPr>
            <a:r>
              <a:rPr b="1" sz="1600"/>
              <a:t>params</a:t>
            </a:r>
            <a:r>
              <a:rPr sz="1600"/>
              <a:t> – libovolný počet argumentů stejného typu</a:t>
            </a:r>
          </a:p>
          <a:p>
            <a:pPr>
              <a:lnSpc>
                <a:spcPct val="110000"/>
              </a:lnSpc>
            </a:pPr>
            <a:r>
              <a:rPr b="1" sz="1600"/>
              <a:t>Pojmenované argumenty</a:t>
            </a:r>
            <a:r>
              <a:rPr sz="1600"/>
              <a:t> – </a:t>
            </a:r>
            <a:r>
              <a:rPr sz="1600">
                <a:latin typeface="Consolas"/>
              </a:rPr>
              <a:t>Vypis(text: "A", pocet: 3)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 a out v praxi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Změna parametru uvnitř metody se propíše 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Metoda vrací další hodnotu přes parametr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6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void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Zdvojnasob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ref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*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5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74531F"/>
                </a:solidFill>
                <a:latin typeface="Consolas"/>
              </a:rPr>
              <a:t>Zdvojnasob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ref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8000"/>
                </a:solidFill>
                <a:latin typeface="Consolas"/>
              </a:rPr>
              <a:t>// 10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6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string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vstup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2B91AF"/>
                </a:solidFill>
                <a:latin typeface="Consolas"/>
              </a:rPr>
              <a:t>Console</a:t>
            </a:r>
            <a:r>
              <a:rPr sz="1550">
                <a:solidFill>
                  <a:srgbClr val="1E1E1E"/>
                </a:solidFill>
                <a:latin typeface="Consolas"/>
              </a:rPr>
              <a:t>.</a:t>
            </a:r>
            <a:r>
              <a:rPr sz="1550">
                <a:solidFill>
                  <a:srgbClr val="74531F"/>
                </a:solidFill>
                <a:latin typeface="Consolas"/>
              </a:rPr>
              <a:t>ReadLine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if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.</a:t>
            </a:r>
            <a:r>
              <a:rPr sz="1550">
                <a:solidFill>
                  <a:srgbClr val="74531F"/>
                </a:solidFill>
                <a:latin typeface="Consolas"/>
              </a:rPr>
              <a:t>TryParse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vstup</a:t>
            </a:r>
            <a:r>
              <a:rPr sz="1550">
                <a:solidFill>
                  <a:srgbClr val="1E1E1E"/>
                </a:solidFill>
                <a:latin typeface="Consolas"/>
              </a:rPr>
              <a:t>,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out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cislo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2B91AF"/>
                </a:solidFill>
                <a:latin typeface="Consolas"/>
              </a:rPr>
              <a:t>Console</a:t>
            </a:r>
            <a:r>
              <a:rPr sz="1550">
                <a:solidFill>
                  <a:srgbClr val="1E1E1E"/>
                </a:solidFill>
                <a:latin typeface="Consolas"/>
              </a:rPr>
              <a:t>.</a:t>
            </a:r>
            <a:r>
              <a:rPr sz="1550">
                <a:solidFill>
                  <a:srgbClr val="74531F"/>
                </a:solidFill>
                <a:latin typeface="Consolas"/>
              </a:rPr>
              <a:t>WriteLine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cislo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*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2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else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2B91AF"/>
                </a:solidFill>
                <a:latin typeface="Consolas"/>
              </a:rPr>
              <a:t>Console</a:t>
            </a:r>
            <a:r>
              <a:rPr sz="1550">
                <a:solidFill>
                  <a:srgbClr val="1E1E1E"/>
                </a:solidFill>
                <a:latin typeface="Consolas"/>
              </a:rPr>
              <a:t>.</a:t>
            </a:r>
            <a:r>
              <a:rPr sz="1550">
                <a:solidFill>
                  <a:srgbClr val="74531F"/>
                </a:solidFill>
                <a:latin typeface="Consolas"/>
              </a:rPr>
              <a:t>WriteLine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A31515"/>
                </a:solidFill>
                <a:latin typeface="Consolas"/>
              </a:rPr>
              <a:t>"Neplatné číslo"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50">
                <a:solidFill>
                  <a:srgbClr val="008000"/>
                </a:solidFill>
                <a:latin typeface="Consolas"/>
              </a:rPr>
              <a:t>// TryParse: vrací bool + výsledek v 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Předání referenčního typu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Hodnotové typy (int, double, bool, struct) se předávají </a:t>
            </a:r>
            <a:r>
              <a:rPr b="1" sz="1600"/>
              <a:t>kopií</a:t>
            </a:r>
          </a:p>
          <a:p>
            <a:pPr>
              <a:lnSpc>
                <a:spcPct val="110000"/>
              </a:lnSpc>
            </a:pPr>
            <a:r>
              <a:rPr sz="1600"/>
              <a:t>Referenční typy (pole, List, objekty) předávají </a:t>
            </a:r>
            <a:r>
              <a:rPr b="1" sz="1600"/>
              <a:t>kopii odkazu</a:t>
            </a:r>
          </a:p>
          <a:p>
            <a:pPr lvl="1">
              <a:lnSpc>
                <a:spcPct val="110000"/>
              </a:lnSpc>
            </a:pPr>
            <a:r>
              <a:rPr sz="1500"/>
              <a:t>Metoda tak může změnit obsah původního pole či objektu</a:t>
            </a:r>
          </a:p>
          <a:p>
            <a:pPr lvl="1">
              <a:lnSpc>
                <a:spcPct val="110000"/>
              </a:lnSpc>
            </a:pPr>
            <a:r>
              <a:rPr sz="1500"/>
              <a:t>Přiřazení nového objektu uvnitř metody se ven neprojeví</a:t>
            </a:r>
          </a:p>
          <a:p>
            <a:pPr>
              <a:lnSpc>
                <a:spcPct val="110000"/>
              </a:lnSpc>
            </a:pPr>
            <a:r>
              <a:rPr sz="1600"/>
              <a:t>Souvislost se zásobníkem a haldou – viz práce s pamětí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void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Vynuluj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[</a:t>
            </a:r>
            <a:r>
              <a:rPr sz="1600">
                <a:solidFill>
                  <a:srgbClr val="1E1E1E"/>
                </a:solidFill>
                <a:latin typeface="Consolas"/>
              </a:rPr>
              <a:t>]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[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]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8000"/>
                </a:solidFill>
                <a:latin typeface="Consolas"/>
              </a:rPr>
              <a:t>// změní originál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8000"/>
                </a:solidFill>
                <a:latin typeface="Consolas"/>
              </a:rPr>
              <a:t>// změní jen kopii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[</a:t>
            </a:r>
            <a:r>
              <a:rPr sz="1600">
                <a:solidFill>
                  <a:srgbClr val="1E1E1E"/>
                </a:solidFill>
                <a:latin typeface="Consolas"/>
              </a:rPr>
              <a:t>]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data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7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8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9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cislo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7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74531F"/>
                </a:solidFill>
                <a:latin typeface="Consolas"/>
              </a:rPr>
              <a:t>Vynuluj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data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cislo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data  -&gt; { 0, 8, 9 }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cislo -&gt;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Přetížení metod (overloading)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Více metod se </a:t>
            </a:r>
            <a:r>
              <a:rPr b="1" sz="1600"/>
              <a:t>stejným názvem</a:t>
            </a:r>
            <a:r>
              <a:rPr sz="1600"/>
              <a:t> v jedné třídě</a:t>
            </a:r>
          </a:p>
          <a:p>
            <a:pPr>
              <a:lnSpc>
                <a:spcPct val="110000"/>
              </a:lnSpc>
            </a:pPr>
            <a:r>
              <a:rPr sz="1600"/>
              <a:t>Musí se lišit </a:t>
            </a:r>
            <a:r>
              <a:rPr b="1" sz="1600"/>
              <a:t>seznamem parametrů</a:t>
            </a:r>
          </a:p>
          <a:p>
            <a:pPr lvl="1">
              <a:lnSpc>
                <a:spcPct val="110000"/>
              </a:lnSpc>
            </a:pPr>
            <a:r>
              <a:rPr sz="1500"/>
              <a:t>počtem, datovým typem nebo pořadím</a:t>
            </a:r>
          </a:p>
          <a:p>
            <a:pPr>
              <a:lnSpc>
                <a:spcPct val="110000"/>
              </a:lnSpc>
            </a:pPr>
            <a:r>
              <a:rPr sz="1600"/>
              <a:t>Samotný návratový typ k přetížení nestačí</a:t>
            </a:r>
          </a:p>
          <a:p>
            <a:pPr>
              <a:lnSpc>
                <a:spcPct val="110000"/>
              </a:lnSpc>
            </a:pPr>
            <a:r>
              <a:rPr sz="1600"/>
              <a:t>Překladač vybere metodu podle předaných argumentů</a:t>
            </a:r>
          </a:p>
          <a:p>
            <a:pPr>
              <a:lnSpc>
                <a:spcPct val="110000"/>
              </a:lnSpc>
            </a:pPr>
            <a:r>
              <a:rPr sz="1600"/>
              <a:t>Známe z praxe: </a:t>
            </a:r>
            <a:r>
              <a:rPr sz="1600">
                <a:latin typeface="Consolas"/>
              </a:rPr>
              <a:t>Console.WriteLine</a:t>
            </a:r>
            <a:r>
              <a:rPr sz="1600"/>
              <a:t>, </a:t>
            </a:r>
            <a:r>
              <a:rPr sz="1600">
                <a:latin typeface="Consolas"/>
              </a:rPr>
              <a:t>Math.Max</a:t>
            </a:r>
          </a:p>
          <a:p>
            <a:pPr>
              <a:lnSpc>
                <a:spcPct val="110000"/>
              </a:lnSpc>
            </a:pPr>
            <a:r>
              <a:rPr sz="1600"/>
              <a:t>Pozor: přetížení ≠ přepsání (</a:t>
            </a:r>
            <a:r>
              <a:rPr b="1" sz="1600"/>
              <a:t>override</a:t>
            </a:r>
            <a:r>
              <a:rPr sz="1600"/>
              <a:t>) z OOP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Secti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b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b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Secti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b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b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Secti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b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b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74531F"/>
                </a:solidFill>
                <a:latin typeface="Consolas"/>
              </a:rPr>
              <a:t>Secti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8000"/>
                </a:solidFill>
                <a:latin typeface="Consolas"/>
              </a:rPr>
              <a:t>// int verze</a:t>
            </a:r>
          </a:p>
          <a:p>
            <a:pPr algn="l"/>
            <a:r>
              <a:rPr sz="1600">
                <a:solidFill>
                  <a:srgbClr val="74531F"/>
                </a:solidFill>
                <a:latin typeface="Consolas"/>
              </a:rPr>
              <a:t>Secti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5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5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8000"/>
                </a:solidFill>
                <a:latin typeface="Consolas"/>
              </a:rPr>
              <a:t>// double verze</a:t>
            </a:r>
          </a:p>
          <a:p>
            <a:pPr algn="l"/>
            <a:r>
              <a:rPr sz="1600">
                <a:solidFill>
                  <a:srgbClr val="74531F"/>
                </a:solidFill>
                <a:latin typeface="Consolas"/>
              </a:rPr>
              <a:t>Secti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3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8000"/>
                </a:solidFill>
                <a:latin typeface="Consolas"/>
              </a:rPr>
              <a:t>// tři parametry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Rekurzivní metoda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= metoda, která volá sama sebe (přímo nebo nepřímo)</a:t>
            </a:r>
          </a:p>
          <a:p>
            <a:pPr>
              <a:lnSpc>
                <a:spcPct val="110000"/>
              </a:lnSpc>
            </a:pPr>
            <a:r>
              <a:rPr sz="1600"/>
              <a:t>Problém rozdělíme na menší podproblém stejného typu</a:t>
            </a:r>
          </a:p>
          <a:p>
            <a:pPr>
              <a:lnSpc>
                <a:spcPct val="110000"/>
              </a:lnSpc>
            </a:pPr>
            <a:r>
              <a:rPr sz="1600"/>
              <a:t>Nutné podmínky:</a:t>
            </a:r>
          </a:p>
          <a:p>
            <a:pPr lvl="1">
              <a:lnSpc>
                <a:spcPct val="110000"/>
              </a:lnSpc>
            </a:pPr>
            <a:r>
              <a:rPr b="1" sz="1500"/>
              <a:t>zarážka</a:t>
            </a:r>
            <a:r>
              <a:rPr sz="1500"/>
              <a:t> – stav, kdy se rekurze zastaví</a:t>
            </a:r>
          </a:p>
          <a:p>
            <a:pPr lvl="1">
              <a:lnSpc>
                <a:spcPct val="110000"/>
              </a:lnSpc>
            </a:pPr>
            <a:r>
              <a:rPr sz="1500"/>
              <a:t>každé volání pracuje s </a:t>
            </a:r>
            <a:r>
              <a:rPr b="1" sz="1500"/>
              <a:t>menšími daty</a:t>
            </a:r>
          </a:p>
          <a:p>
            <a:pPr>
              <a:lnSpc>
                <a:spcPct val="110000"/>
              </a:lnSpc>
            </a:pPr>
            <a:r>
              <a:rPr sz="1600"/>
              <a:t>Bez zarážky → přetečení zásobníku (StackOverflowException)</a:t>
            </a:r>
          </a:p>
          <a:p>
            <a:pPr>
              <a:lnSpc>
                <a:spcPct val="110000"/>
              </a:lnSpc>
            </a:pPr>
            <a:r>
              <a:rPr sz="1600"/>
              <a:t>Využití: faktoriál, Fibonacci, procházení stromů a složek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Faktorial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n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&lt;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8000"/>
                </a:solidFill>
                <a:latin typeface="Consolas"/>
              </a:rPr>
              <a:t>// zarážka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*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Faktorial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-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74531F"/>
                </a:solidFill>
                <a:latin typeface="Consolas"/>
              </a:rPr>
              <a:t>Faktorial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4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8000"/>
                </a:solidFill>
                <a:latin typeface="Consolas"/>
              </a:rPr>
              <a:t>// 4 * 3 * 2 * 1 =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Rekurze a zásobník volání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4800000"/>
            <a:ext cx="6400000" cy="640000"/>
          </a:xfrm>
          <a:prstGeom prst="roundRect">
            <a:avLst>
              <a:gd name="adj" fmla="val 12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Faktorial(4)  →  4 * Faktorial(3)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4400" y="4800000"/>
            <a:ext cx="13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/>
              <a:t>vrací 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4400" y="4050000"/>
            <a:ext cx="6400000" cy="640000"/>
          </a:xfrm>
          <a:prstGeom prst="roundRect">
            <a:avLst>
              <a:gd name="adj" fmla="val 12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Faktorial(3)  →  3 * Faktorial(2)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4400" y="4050000"/>
            <a:ext cx="13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/>
              <a:t>vrací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4400" y="3300000"/>
            <a:ext cx="6400000" cy="640000"/>
          </a:xfrm>
          <a:prstGeom prst="roundRect">
            <a:avLst>
              <a:gd name="adj" fmla="val 12000"/>
            </a:avLst>
          </a:prstGeom>
          <a:solidFill>
            <a:srgbClr val="BF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Faktorial(2)  →  2 * Faktorial(1)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4400" y="3300000"/>
            <a:ext cx="13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/>
              <a:t>vrací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4400" y="2550000"/>
            <a:ext cx="6400000" cy="640000"/>
          </a:xfrm>
          <a:prstGeom prst="roundRect">
            <a:avLst>
              <a:gd name="adj" fmla="val 12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Faktorial(1)  →  return 1   (zarážka)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4400" y="2550000"/>
            <a:ext cx="13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/>
              <a:t>vrací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0000" y="2550000"/>
            <a:ext cx="2000000" cy="3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/>
              <a:t>Zanořování</a:t>
            </a:r>
            <a:r>
              <a:rPr sz="1500"/>
              <a:t> – každé volání se uloží na vrchol zásobníku</a:t>
            </a:r>
          </a:p>
          <a:p>
            <a:pPr algn="l"/>
          </a:p>
          <a:p>
            <a:pPr algn="l"/>
            <a:r>
              <a:rPr b="1" sz="1500"/>
              <a:t>Vynořování</a:t>
            </a:r>
            <a:r>
              <a:rPr sz="1500"/>
              <a:t> – po dosažení zarážky se výsledky vrací dolů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Statické a instanční metody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Instanční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Volá se přes název třídy, bez objektu</a:t>
            </a:r>
          </a:p>
          <a:p>
            <a:pPr algn="l"/>
            <a:r>
              <a:rPr sz="1500"/>
              <a:t>Nemá přístup k atributům objektu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Patří objektu, volá se přes něj</a:t>
            </a:r>
          </a:p>
          <a:p>
            <a:pPr algn="l"/>
            <a:r>
              <a:rPr sz="1500"/>
              <a:t>Pracuje se stavem objektu (atributy)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7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Math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Sqrt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6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max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Math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Max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3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8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bool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ok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TryParse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A31515"/>
                </a:solidFill>
                <a:latin typeface="Consolas"/>
              </a:rPr>
              <a:t>"5"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out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n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7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Random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rnd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new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Random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hod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rnd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Next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7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text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A31515"/>
                </a:solidFill>
                <a:latin typeface="Consolas"/>
              </a:rPr>
              <a:t>"ahoj"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velky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text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ToUpper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Zkrácený zápis metody =&gt;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b="1" sz="1600"/>
              <a:t>Expression-bodied</a:t>
            </a:r>
            <a:r>
              <a:rPr sz="1600"/>
              <a:t> metoda – tělo tvoří jediný výraz</a:t>
            </a:r>
          </a:p>
          <a:p>
            <a:pPr>
              <a:lnSpc>
                <a:spcPct val="110000"/>
              </a:lnSpc>
            </a:pPr>
            <a:r>
              <a:rPr sz="1600"/>
              <a:t>Šipka =&gt; nahrazuje { return …; }</a:t>
            </a:r>
          </a:p>
          <a:p>
            <a:pPr>
              <a:lnSpc>
                <a:spcPct val="110000"/>
              </a:lnSpc>
            </a:pPr>
            <a:r>
              <a:rPr sz="1600"/>
              <a:t>Častý zápis v moderním C# i v kódu generovaném AI</a:t>
            </a:r>
          </a:p>
          <a:p>
            <a:pPr>
              <a:lnSpc>
                <a:spcPct val="110000"/>
              </a:lnSpc>
            </a:pPr>
            <a:r>
              <a:rPr sz="1600"/>
              <a:t>Vhodné jen pro krátké a jednoduché metody</a:t>
            </a:r>
          </a:p>
          <a:p>
            <a:pPr>
              <a:lnSpc>
                <a:spcPct val="110000"/>
              </a:lnSpc>
            </a:pPr>
            <a:r>
              <a:rPr sz="1600"/>
              <a:t>Stejnou šipku uvidíme později u </a:t>
            </a:r>
            <a:r>
              <a:rPr b="1" sz="1600"/>
              <a:t>lambda funkcí</a:t>
            </a:r>
          </a:p>
          <a:p>
            <a:pPr lvl="1">
              <a:lnSpc>
                <a:spcPct val="110000"/>
              </a:lnSpc>
            </a:pPr>
            <a:r>
              <a:rPr sz="1500"/>
              <a:t>podrobně v tématu Lambda funkce a LINQ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klasický zápis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Druha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*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zkrácený zápis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Druha2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*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bool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JeSude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%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static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Pozdrav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A31515"/>
                </a:solidFill>
                <a:latin typeface="Consolas"/>
              </a:rPr>
              <a:t>"Ahoj "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A31515"/>
                </a:solidFill>
                <a:latin typeface="Consolas"/>
              </a:rPr>
              <a:t>"!"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Dobře navržená metoda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2560000"/>
            <a:ext cx="3350000" cy="158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Jedna odpovědnost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Metoda dělá jednu věc.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Pokud název potřebuje „a“, rozdělte ji.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0400" y="2560000"/>
            <a:ext cx="3350000" cy="158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Výstižný název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Sloveso + předmět: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  <a:latin typeface="Consolas"/>
              </a:rPr>
              <a:t>NactiSoubor</a:t>
            </a:r>
            <a:r>
              <a:rPr sz="1600">
                <a:solidFill>
                  <a:srgbClr val="FFFFFF"/>
                </a:solidFill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JeValidniEmail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6400" y="2560000"/>
            <a:ext cx="3350000" cy="158000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Málo parametrů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Ideálně do 3–4.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Více dat → struktura nebo objekt.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40000"/>
            <a:ext cx="3350000" cy="158000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Výpočet ≠ výstup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Metoda vrací výsledek,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výpis řeší volající kód.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0400" y="4340000"/>
            <a:ext cx="3350000" cy="1580000"/>
          </a:xfrm>
          <a:prstGeom prst="roundRect">
            <a:avLst>
              <a:gd name="adj" fmla="val 6000"/>
            </a:avLst>
          </a:prstGeom>
          <a:solidFill>
            <a:srgbClr val="FE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Žádná magická čísla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Hodnoty jako 0.21 nebo 365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patří do pojmenované konstanty.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6400" y="4340000"/>
            <a:ext cx="3350000" cy="1580000"/>
          </a:xfrm>
          <a:prstGeom prst="roundRect">
            <a:avLst>
              <a:gd name="adj" fmla="val 6000"/>
            </a:avLst>
          </a:prstGeom>
          <a:solidFill>
            <a:srgbClr val="0D1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Krátká, testovatelná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Vejde se na obrazovku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a lze ji ověřit testem.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Procvičování – hlavičky metod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200"/>
              <a:t>Napište pouze </a:t>
            </a:r>
            <a:r>
              <a:rPr b="1" sz="2200"/>
              <a:t>hlavičku</a:t>
            </a:r>
            <a:r>
              <a:rPr sz="2200"/>
              <a:t> metody, vhodně ji pojmenujte a zvolte typy:</a:t>
            </a:r>
          </a:p>
          <a:p>
            <a:pPr lvl="1">
              <a:lnSpc>
                <a:spcPct val="110000"/>
              </a:lnSpc>
              <a:buNone/>
            </a:pPr>
            <a:r>
              <a:rPr sz="2000"/>
              <a:t>1. Veřejná statická metoda rozhodne, zda je celé číslo prvočíslo</a:t>
            </a:r>
          </a:p>
          <a:p>
            <a:pPr lvl="1">
              <a:lnSpc>
                <a:spcPct val="110000"/>
              </a:lnSpc>
              <a:buNone/>
            </a:pPr>
            <a:r>
              <a:rPr sz="2000"/>
              <a:t>2. Privátní metoda vrátí průměr libovolného počtu desetinných čísel</a:t>
            </a:r>
          </a:p>
          <a:p>
            <a:pPr lvl="1">
              <a:lnSpc>
                <a:spcPct val="110000"/>
              </a:lnSpc>
              <a:buNone/>
            </a:pPr>
            <a:r>
              <a:rPr sz="2000"/>
              <a:t>3. Metoda zkusí převést text na teplotu, vrátí úspěch a převedenou hodnotu</a:t>
            </a:r>
          </a:p>
          <a:p>
            <a:pPr lvl="1">
              <a:lnSpc>
                <a:spcPct val="110000"/>
              </a:lnSpc>
              <a:buNone/>
            </a:pPr>
            <a:r>
              <a:rPr sz="2000"/>
              <a:t>4. Metoda prohodí hodnoty dvou celočíselných proměnných volajícího</a:t>
            </a:r>
          </a:p>
          <a:p>
            <a:pPr lvl="1">
              <a:lnSpc>
                <a:spcPct val="110000"/>
              </a:lnSpc>
              <a:buNone/>
            </a:pPr>
            <a:r>
              <a:rPr sz="2000"/>
              <a:t>5. Metoda vrátí pole čísel od – do s nepovinným krokem (výchozí 1)</a:t>
            </a:r>
          </a:p>
          <a:p>
            <a:pPr lvl="1">
              <a:lnSpc>
                <a:spcPct val="110000"/>
              </a:lnSpc>
              <a:buNone/>
            </a:pPr>
            <a:r>
              <a:rPr sz="2000"/>
              <a:t>6. Metoda vrátí pravoúhlé pole řetězců o rozměrech N×N</a:t>
            </a:r>
          </a:p>
          <a:p>
            <a:pPr lvl="1">
              <a:lnSpc>
                <a:spcPct val="110000"/>
              </a:lnSpc>
              <a:buNone/>
            </a:pPr>
            <a:r>
              <a:rPr sz="2000"/>
              <a:t>7. Rekurzivní metoda vrátí ciferný součet čísla – co bude zarážkou?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review – co je špatně?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Metodu vygeneroval AI asistent na zadání: „spočítej cenu s DPH“</a:t>
            </a:r>
          </a:p>
          <a:p>
            <a:pPr>
              <a:lnSpc>
                <a:spcPct val="110000"/>
              </a:lnSpc>
            </a:pPr>
            <a:r>
              <a:rPr sz="1600"/>
              <a:t>Najděte co nejvíce problémů:</a:t>
            </a:r>
          </a:p>
          <a:p>
            <a:pPr lvl="1">
              <a:lnSpc>
                <a:spcPct val="110000"/>
              </a:lnSpc>
            </a:pPr>
            <a:r>
              <a:rPr sz="1500"/>
              <a:t>Přeloží se kód vůbec?</a:t>
            </a:r>
          </a:p>
          <a:p>
            <a:pPr lvl="1">
              <a:lnSpc>
                <a:spcPct val="110000"/>
              </a:lnSpc>
            </a:pPr>
            <a:r>
              <a:rPr sz="1500"/>
              <a:t>Je metoda dobře pojmenovaná?</a:t>
            </a:r>
          </a:p>
          <a:p>
            <a:pPr lvl="1">
              <a:lnSpc>
                <a:spcPct val="110000"/>
              </a:lnSpc>
            </a:pPr>
            <a:r>
              <a:rPr sz="1500"/>
              <a:t>Dodržuje jednu odpovědnost?</a:t>
            </a:r>
          </a:p>
          <a:p>
            <a:pPr lvl="1">
              <a:lnSpc>
                <a:spcPct val="110000"/>
              </a:lnSpc>
            </a:pPr>
            <a:r>
              <a:rPr sz="1500"/>
              <a:t>Co byste změnili před odevzdáním?</a:t>
            </a:r>
          </a:p>
          <a:p>
            <a:pPr>
              <a:lnSpc>
                <a:spcPct val="110000"/>
              </a:lnSpc>
            </a:pPr>
            <a:r>
              <a:rPr sz="1600"/>
              <a:t>Navrhněte opravenou hlavičku i tělo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public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Metoda1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b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*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A31515"/>
                </a:solidFill>
                <a:latin typeface="Consolas"/>
              </a:rPr>
              <a:t>"Cena: "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171</Words>
  <Application>Microsoft Office PowerPoint</Application>
  <PresentationFormat>Širokoúhlá obrazovka</PresentationFormat>
  <Paragraphs>31</Paragraphs>
  <Slides>7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DashVTI</vt:lpstr>
      <vt:lpstr>Soubory a složky</vt:lpstr>
      <vt:lpstr>Stream</vt:lpstr>
      <vt:lpstr>StreamReader, StreamWriter</vt:lpstr>
      <vt:lpstr>Příklad čtení a zápisu do textového</vt:lpstr>
      <vt:lpstr>Neexistující soubor pro zápis</vt:lpstr>
      <vt:lpstr>File</vt:lpstr>
      <vt:lpstr>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42</cp:revision>
  <dcterms:created xsi:type="dcterms:W3CDTF">2022-09-21T15:44:15Z</dcterms:created>
  <dcterms:modified xsi:type="dcterms:W3CDTF">2026-09-03T05:46:04Z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5200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