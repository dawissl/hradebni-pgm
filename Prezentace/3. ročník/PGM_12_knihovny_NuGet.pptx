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2"/>
  </p:notesMasterIdLst>
  <p:sldIdLst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03T05:44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modSld addMainMaster delMainMaster">
      <pc:chgData name="Sládeček David" userId="S::sladecek@hradebni.cz::474d93f0-3a32-49cc-b837-47806091b590" providerId="AD" clId="Web-{00000000-0000-0000-0000-000000000000}" dt="2026-09-03T05:46:01.088" v="1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4:55.555" v="13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4:46.039" v="10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55.555" v="13" actId="20577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8" creationId="{85AE27A1-125B-7955-BB01-DB47E1984921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0" creationId="{090B1A9B-4205-8525-E5AA-27B99868A41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2" creationId="{2B584676-79BC-4E35-6927-8126B364614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4:31.741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31.931" v="14"/>
        <pc:sldMkLst>
          <pc:docMk/>
          <pc:sldMk cId="1193411076" sldId="257"/>
        </pc:sldMkLst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2" creationId="{C2ABE8DD-861D-6DE5-4EB8-111F9340CB2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3" creationId="{65972E93-DAC9-E513-56E0-FAE4C410CF5A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8" creationId="{B04C8FDB-7636-E099-933A-56FA7B97D75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0" creationId="{D695048C-4ED8-1785-CE5A-487FCF825C4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2" creationId="{67D57CBD-615F-100D-50B2-90B3CAFEB46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4" creationId="{16149381-361D-52A0-14E9-6E4EB5378B3B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42.978" v="15"/>
        <pc:sldMkLst>
          <pc:docMk/>
          <pc:sldMk cId="3505840516" sldId="258"/>
        </pc:sldMkLst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2" creationId="{AB386235-FE3A-529E-ABE4-2D0F0B9610CE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3" creationId="{232C0A67-6AAD-4B74-66BE-EE8315B5FD2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1" creationId="{C4915C41-4C4D-22DA-6C1D-8EDCD60CBD6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3" creationId="{70C36DC6-11A5-C29B-C763-7C78570966D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5" creationId="{E622008F-6F8C-F456-F22A-BD8F931FB1F8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42.978" v="15"/>
          <ac:picMkLst>
            <pc:docMk/>
            <pc:sldMk cId="3505840516" sldId="258"/>
            <ac:picMk id="1026" creationId="{B200EB5D-7C8D-FFC8-A35F-45486B97253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196183517" sldId="259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2" creationId="{CC085EB1-21A1-CD43-A142-E14178B802F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4" creationId="{F5FE7AC0-A3B1-E3C0-FBD1-32FCB56D6E9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6" creationId="{50EDE671-98A9-5358-733F-213EF1E92BAD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9" creationId="{3648A306-1FEE-D803-2355-BF6400B690C5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11" creationId="{2DA7B9AA-1866-F0CF-B410-4AC99794489B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946532546" sldId="261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2" creationId="{3E495D63-421F-19F8-9DDA-3496A16EE21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4" creationId="{10C756C9-0A46-08F9-4580-4EBB5A356F4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6" creationId="{20518221-AF82-FBC4-9E4A-D0692794CDC2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9" creationId="{0B85BDB5-7257-A0A1-E77A-D60E437849AB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11" creationId="{BB6D7327-302B-509A-422C-D85A5C7DEA80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5:54.619" v="16"/>
        <pc:sldMkLst>
          <pc:docMk/>
          <pc:sldMk cId="1985706453" sldId="262"/>
        </pc:sldMkLst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2" creationId="{97C71524-CE29-7204-814A-2C171F5C7AA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3" creationId="{FCE06F1C-D258-274F-C40F-A7826AB59DB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7" creationId="{8B9CD985-E840-BEAC-7B97-8E147416AE8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8" creationId="{F4ACA565-9F73-792B-C518-BC1899CB53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9" creationId="{C5C07FE7-A99F-A56B-27A0-8B9C7EECD56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54.619" v="16"/>
          <ac:picMkLst>
            <pc:docMk/>
            <pc:sldMk cId="1985706453" sldId="262"/>
            <ac:picMk id="5" creationId="{D171B47B-9E9F-AB8E-C232-952551B6B406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6:01.088" v="17"/>
        <pc:sldMkLst>
          <pc:docMk/>
          <pc:sldMk cId="466483557" sldId="263"/>
        </pc:sldMkLst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2" creationId="{C9B8D8AD-726C-7AB6-573B-2C2C8B0A62DF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3" creationId="{1B96F939-8674-C729-00B3-8A15A0B833A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7" creationId="{4A4A226E-3196-1301-70D8-6BD862BB3BB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8" creationId="{A464A21D-B1CD-D3AA-1F36-03255A9BAD0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9" creationId="{2A6C7FF9-654B-7D48-B2BB-A1DE4357B44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6:01.088" v="17"/>
          <ac:picMkLst>
            <pc:docMk/>
            <pc:sldMk cId="466483557" sldId="263"/>
            <ac:picMk id="5" creationId="{BF1C7110-9407-DC37-2AC1-6DF260A3441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212518882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510413956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677659548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30259315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867444874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277176555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737139801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526234535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80103632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180637993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25172704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61680780" sldId="214748373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Knihovny – systémové, vlastní, NuGet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PROGRAMOVÁNÍ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Proč knihovny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700"/>
              <a:t>Třídu </a:t>
            </a:r>
            <a:r>
              <a:rPr sz="1700">
                <a:latin typeface="Consolas"/>
              </a:rPr>
              <a:t>BankovniUcet</a:t>
            </a:r>
            <a:r>
              <a:rPr sz="1700"/>
              <a:t> chcete použít ve třech projektech</a:t>
            </a:r>
          </a:p>
          <a:p>
            <a:pPr>
              <a:lnSpc>
                <a:spcPct val="110000"/>
              </a:lnSpc>
            </a:pPr>
            <a:r>
              <a:rPr sz="1700"/>
              <a:t>Kopírování souboru </a:t>
            </a:r>
            <a:r>
              <a:rPr sz="1700">
                <a:latin typeface="Consolas"/>
              </a:rPr>
              <a:t>.cs</a:t>
            </a:r>
            <a:r>
              <a:rPr sz="1700"/>
              <a:t> funguje… dokud neopravíte chybu</a:t>
            </a:r>
          </a:p>
          <a:p>
            <a:pPr lvl="1">
              <a:lnSpc>
                <a:spcPct val="110000"/>
              </a:lnSpc>
            </a:pPr>
            <a:r>
              <a:rPr sz="1500"/>
              <a:t>oprava v jednom projektu, zbylé dva zůstanou chybné</a:t>
            </a:r>
          </a:p>
          <a:p>
            <a:pPr>
              <a:lnSpc>
                <a:spcPct val="110000"/>
              </a:lnSpc>
            </a:pPr>
            <a:r>
              <a:rPr sz="1700"/>
              <a:t>Knihovna = kód, který projekty </a:t>
            </a:r>
            <a:r>
              <a:rPr b="1" sz="1700"/>
              <a:t>odkazují</a:t>
            </a:r>
            <a:r>
              <a:rPr sz="1700"/>
              <a:t>, ne kopírují</a:t>
            </a:r>
          </a:p>
          <a:p>
            <a:pPr>
              <a:lnSpc>
                <a:spcPct val="110000"/>
              </a:lnSpc>
            </a:pPr>
            <a:r>
              <a:rPr sz="1700"/>
              <a:t>Výhody:</a:t>
            </a:r>
          </a:p>
          <a:p>
            <a:pPr lvl="1">
              <a:lnSpc>
                <a:spcPct val="110000"/>
              </a:lnSpc>
            </a:pPr>
            <a:r>
              <a:rPr sz="1500"/>
              <a:t>jedna oprava se projeví všude</a:t>
            </a:r>
          </a:p>
          <a:p>
            <a:pPr lvl="1">
              <a:lnSpc>
                <a:spcPct val="110000"/>
              </a:lnSpc>
            </a:pPr>
            <a:r>
              <a:rPr sz="1500"/>
              <a:t>jasné rozhraní, skrytá implementace</a:t>
            </a:r>
          </a:p>
          <a:p>
            <a:pPr lvl="1">
              <a:lnSpc>
                <a:spcPct val="110000"/>
              </a:lnSpc>
            </a:pPr>
            <a:r>
              <a:rPr sz="1500"/>
              <a:t>znovupoužití napříč projekty i týmy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Tři zdroje knihoven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2560000"/>
            <a:ext cx="3354400" cy="260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200">
                <a:solidFill>
                  <a:srgbClr val="FFFFFF"/>
                </a:solidFill>
              </a:rPr>
              <a:t>Systémové (BCL)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Součást .NET, máte je vždy: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System.IO, System.Linq,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System.Collections.Generic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8800" y="2560000"/>
            <a:ext cx="3354400" cy="260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200">
                <a:solidFill>
                  <a:srgbClr val="FFFFFF"/>
                </a:solidFill>
              </a:rPr>
              <a:t>Vlastní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Projekt typu Class Library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přeložený do .dll,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odkazovaný z jiných projektů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3200" y="2560000"/>
            <a:ext cx="3354400" cy="260000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200">
                <a:solidFill>
                  <a:srgbClr val="FFFFFF"/>
                </a:solidFill>
              </a:rPr>
              <a:t>NuGet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Balíčky od jiných autorů,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stažené jedním kliknutím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z nuget.org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Systémové knihovny a jmenné prostory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b="1" sz="1600"/>
              <a:t>Jmenný prostor</a:t>
            </a:r>
            <a:r>
              <a:rPr sz="1600"/>
              <a:t> (namespace) třídí třídy do skupin</a:t>
            </a:r>
          </a:p>
          <a:p>
            <a:pPr>
              <a:lnSpc>
                <a:spcPct val="110000"/>
              </a:lnSpc>
            </a:pPr>
            <a:r>
              <a:rPr sz="1600">
                <a:latin typeface="Consolas"/>
              </a:rPr>
              <a:t>using</a:t>
            </a:r>
            <a:r>
              <a:rPr sz="1600"/>
              <a:t> zpřístupní třídy bez celého názvu</a:t>
            </a:r>
          </a:p>
          <a:p>
            <a:pPr>
              <a:lnSpc>
                <a:spcPct val="110000"/>
              </a:lnSpc>
            </a:pPr>
            <a:r>
              <a:rPr sz="1600"/>
              <a:t>Bez using: </a:t>
            </a:r>
            <a:r>
              <a:rPr sz="1600">
                <a:latin typeface="Consolas"/>
              </a:rPr>
              <a:t>System.IO.File.ReadAllText(...)</a:t>
            </a:r>
          </a:p>
          <a:p>
            <a:pPr>
              <a:lnSpc>
                <a:spcPct val="110000"/>
              </a:lnSpc>
            </a:pPr>
            <a:r>
              <a:rPr sz="1600"/>
              <a:t>Novější .NET má </a:t>
            </a:r>
            <a:r>
              <a:rPr b="1" sz="1600"/>
              <a:t>implicitní usings</a:t>
            </a:r>
          </a:p>
          <a:p>
            <a:pPr lvl="1">
              <a:lnSpc>
                <a:spcPct val="110000"/>
              </a:lnSpc>
            </a:pPr>
            <a:r>
              <a:rPr sz="1500"/>
              <a:t>System, System.IO, System.Linq… jsou přidány automaticky</a:t>
            </a:r>
          </a:p>
          <a:p>
            <a:pPr>
              <a:lnSpc>
                <a:spcPct val="110000"/>
              </a:lnSpc>
            </a:pPr>
            <a:r>
              <a:rPr sz="1600"/>
              <a:t>Stejný název třídy může existovat ve více prostorech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using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System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Text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Json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using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System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Diagnostics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008000"/>
                </a:solidFill>
                <a:latin typeface="Consolas"/>
              </a:rPr>
              <a:t>// plný název bez using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string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text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System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IO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2B91AF"/>
                </a:solidFill>
                <a:latin typeface="Consolas"/>
              </a:rPr>
              <a:t>File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ReadAllText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A31515"/>
                </a:solidFill>
                <a:latin typeface="Consolas"/>
              </a:rPr>
              <a:t>"data.txt"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008000"/>
                </a:solidFill>
                <a:latin typeface="Consolas"/>
              </a:rPr>
              <a:t>// s using</a:t>
            </a:r>
          </a:p>
          <a:p>
            <a:pPr algn="l"/>
            <a:r>
              <a:rPr sz="1500">
                <a:solidFill>
                  <a:srgbClr val="2B91AF"/>
                </a:solidFill>
                <a:latin typeface="Consolas"/>
              </a:rPr>
              <a:t>Stopwatch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sw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2B91AF"/>
                </a:solidFill>
                <a:latin typeface="Consolas"/>
              </a:rPr>
              <a:t>Stopwatch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StartNew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string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json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2B91AF"/>
                </a:solidFill>
                <a:latin typeface="Consolas"/>
              </a:rPr>
              <a:t>JsonSerializer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Serialize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data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sw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Stop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Typ projektu </a:t>
            </a:r>
            <a:r>
              <a:rPr b="1" sz="1600"/>
              <a:t>bez Main()</a:t>
            </a:r>
            <a:r>
              <a:rPr sz="1600"/>
              <a:t> – nejde spustit</a:t>
            </a:r>
          </a:p>
          <a:p>
            <a:pPr>
              <a:lnSpc>
                <a:spcPct val="110000"/>
              </a:lnSpc>
            </a:pPr>
            <a:r>
              <a:rPr sz="1600"/>
              <a:t>Překládá se do souboru </a:t>
            </a:r>
            <a:r>
              <a:rPr b="1" sz="1600"/>
              <a:t>.dll</a:t>
            </a:r>
          </a:p>
          <a:p>
            <a:pPr>
              <a:lnSpc>
                <a:spcPct val="110000"/>
              </a:lnSpc>
            </a:pPr>
            <a:r>
              <a:rPr sz="1600"/>
              <a:t>Postup ve Visual Studiu:</a:t>
            </a:r>
          </a:p>
          <a:p>
            <a:pPr lvl="1">
              <a:lnSpc>
                <a:spcPct val="110000"/>
              </a:lnSpc>
            </a:pPr>
            <a:r>
              <a:rPr sz="1500"/>
              <a:t>Add → New Project → Class Library (C#)</a:t>
            </a:r>
          </a:p>
          <a:p>
            <a:pPr lvl="1">
              <a:lnSpc>
                <a:spcPct val="110000"/>
              </a:lnSpc>
            </a:pPr>
            <a:r>
              <a:rPr sz="1500"/>
              <a:t>pojmenovat, např. Skoleni.Utils</a:t>
            </a:r>
          </a:p>
          <a:p>
            <a:pPr lvl="1">
              <a:lnSpc>
                <a:spcPct val="110000"/>
              </a:lnSpc>
            </a:pPr>
            <a:r>
              <a:rPr sz="1500"/>
              <a:t>vložit třídy, Build</a:t>
            </a:r>
          </a:p>
          <a:p>
            <a:pPr>
              <a:lnSpc>
                <a:spcPct val="110000"/>
              </a:lnSpc>
            </a:pPr>
            <a:r>
              <a:rPr sz="1600"/>
              <a:t>Jedna solution může obsahovat více projektů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MujProjekt.sln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├── MujProjekt/          ← Console / WinForms App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│   └── Program.cs          obsahuje Main()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│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└── Skoleni.Utils/       ← Class Library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   ├── BankovniUcet.cs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   └── Zasobnik.cs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/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Build → Skoleni.Utils.dll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Aplikace musí na knihovnu </a:t>
            </a:r>
            <a:r>
              <a:rPr b="1" sz="1600"/>
              <a:t>odkazovat</a:t>
            </a:r>
          </a:p>
          <a:p>
            <a:pPr>
              <a:lnSpc>
                <a:spcPct val="110000"/>
              </a:lnSpc>
            </a:pPr>
            <a:r>
              <a:rPr sz="1600"/>
              <a:t>Pravý klik na projekt → Add → Project Reference</a:t>
            </a:r>
          </a:p>
          <a:p>
            <a:pPr>
              <a:lnSpc>
                <a:spcPct val="110000"/>
              </a:lnSpc>
            </a:pPr>
            <a:r>
              <a:rPr sz="1600"/>
              <a:t>Zaškrtnout knihovnu</a:t>
            </a:r>
          </a:p>
          <a:p>
            <a:pPr>
              <a:lnSpc>
                <a:spcPct val="110000"/>
              </a:lnSpc>
            </a:pPr>
            <a:r>
              <a:rPr sz="1600"/>
              <a:t>V kódu </a:t>
            </a:r>
            <a:r>
              <a:rPr sz="1600">
                <a:latin typeface="Consolas"/>
              </a:rPr>
              <a:t>using</a:t>
            </a:r>
            <a:r>
              <a:rPr sz="1600"/>
              <a:t> jmenného prostoru knihovny</a:t>
            </a:r>
          </a:p>
          <a:p>
            <a:pPr>
              <a:lnSpc>
                <a:spcPct val="110000"/>
              </a:lnSpc>
            </a:pPr>
            <a:r>
              <a:rPr sz="1600"/>
              <a:t>Oprava v knihovně + Build = oprava ve všech projektech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300">
                <a:solidFill>
                  <a:srgbClr val="008000"/>
                </a:solidFill>
                <a:latin typeface="Consolas"/>
              </a:rPr>
              <a:t>// Program.cs v projektu MujProjekt</a:t>
            </a:r>
          </a:p>
          <a:p>
            <a:pPr algn="l"/>
            <a:r>
              <a:rPr sz="1300">
                <a:solidFill>
                  <a:srgbClr val="0000FF"/>
                </a:solidFill>
                <a:latin typeface="Consolas"/>
              </a:rPr>
              <a:t>using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Skoleni</a:t>
            </a:r>
            <a:r>
              <a:rPr sz="1300">
                <a:solidFill>
                  <a:srgbClr val="1E1E1E"/>
                </a:solidFill>
                <a:latin typeface="Consolas"/>
              </a:rPr>
              <a:t>.</a:t>
            </a:r>
            <a:r>
              <a:rPr sz="1300">
                <a:solidFill>
                  <a:srgbClr val="1E1E1E"/>
                </a:solidFill>
                <a:latin typeface="Consolas"/>
              </a:rPr>
              <a:t>Utils</a:t>
            </a:r>
            <a:r>
              <a:rPr sz="13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2B91AF"/>
                </a:solidFill>
                <a:latin typeface="Consolas"/>
              </a:rPr>
              <a:t>BankovniUcet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ucet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=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0000FF"/>
                </a:solidFill>
                <a:latin typeface="Consolas"/>
              </a:rPr>
              <a:t>new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2B91AF"/>
                </a:solidFill>
                <a:latin typeface="Consolas"/>
              </a:rPr>
              <a:t>BankovniUcet</a:t>
            </a:r>
            <a:r>
              <a:rPr sz="1300">
                <a:solidFill>
                  <a:srgbClr val="1E1E1E"/>
                </a:solidFill>
                <a:latin typeface="Consolas"/>
              </a:rPr>
              <a:t>(</a:t>
            </a:r>
            <a:r>
              <a:rPr sz="1300">
                <a:solidFill>
                  <a:srgbClr val="A31515"/>
                </a:solidFill>
                <a:latin typeface="Consolas"/>
              </a:rPr>
              <a:t>"Jana"</a:t>
            </a:r>
            <a:r>
              <a:rPr sz="1300">
                <a:solidFill>
                  <a:srgbClr val="1E1E1E"/>
                </a:solidFill>
                <a:latin typeface="Consolas"/>
              </a:rPr>
              <a:t>,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1</a:t>
            </a:r>
            <a:r>
              <a:rPr sz="1300">
                <a:solidFill>
                  <a:srgbClr val="1E1E1E"/>
                </a:solidFill>
                <a:latin typeface="Consolas"/>
              </a:rPr>
              <a:t>0</a:t>
            </a:r>
            <a:r>
              <a:rPr sz="1300">
                <a:solidFill>
                  <a:srgbClr val="1E1E1E"/>
                </a:solidFill>
                <a:latin typeface="Consolas"/>
              </a:rPr>
              <a:t>0</a:t>
            </a:r>
            <a:r>
              <a:rPr sz="1300">
                <a:solidFill>
                  <a:srgbClr val="1E1E1E"/>
                </a:solidFill>
                <a:latin typeface="Consolas"/>
              </a:rPr>
              <a:t>0</a:t>
            </a:r>
            <a:r>
              <a:rPr sz="1300">
                <a:solidFill>
                  <a:srgbClr val="1E1E1E"/>
                </a:solidFill>
                <a:latin typeface="Consolas"/>
              </a:rPr>
              <a:t>)</a:t>
            </a:r>
            <a:r>
              <a:rPr sz="13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nsolas"/>
              </a:rPr>
              <a:t>ucet</a:t>
            </a:r>
            <a:r>
              <a:rPr sz="1300">
                <a:solidFill>
                  <a:srgbClr val="1E1E1E"/>
                </a:solidFill>
                <a:latin typeface="Consolas"/>
              </a:rPr>
              <a:t>.</a:t>
            </a:r>
            <a:r>
              <a:rPr sz="1300">
                <a:solidFill>
                  <a:srgbClr val="74531F"/>
                </a:solidFill>
                <a:latin typeface="Consolas"/>
              </a:rPr>
              <a:t>Vloz</a:t>
            </a:r>
            <a:r>
              <a:rPr sz="1300">
                <a:solidFill>
                  <a:srgbClr val="1E1E1E"/>
                </a:solidFill>
                <a:latin typeface="Consolas"/>
              </a:rPr>
              <a:t>(</a:t>
            </a:r>
            <a:r>
              <a:rPr sz="1300">
                <a:solidFill>
                  <a:srgbClr val="1E1E1E"/>
                </a:solidFill>
                <a:latin typeface="Consolas"/>
              </a:rPr>
              <a:t>5</a:t>
            </a:r>
            <a:r>
              <a:rPr sz="1300">
                <a:solidFill>
                  <a:srgbClr val="1E1E1E"/>
                </a:solidFill>
                <a:latin typeface="Consolas"/>
              </a:rPr>
              <a:t>0</a:t>
            </a:r>
            <a:r>
              <a:rPr sz="1300">
                <a:solidFill>
                  <a:srgbClr val="1E1E1E"/>
                </a:solidFill>
                <a:latin typeface="Consolas"/>
              </a:rPr>
              <a:t>0</a:t>
            </a:r>
            <a:r>
              <a:rPr sz="1300">
                <a:solidFill>
                  <a:srgbClr val="1E1E1E"/>
                </a:solidFill>
                <a:latin typeface="Consolas"/>
              </a:rPr>
              <a:t>)</a:t>
            </a:r>
            <a:r>
              <a:rPr sz="13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2B91AF"/>
                </a:solidFill>
                <a:latin typeface="Consolas"/>
              </a:rPr>
              <a:t>Zasobnik</a:t>
            </a:r>
            <a:r>
              <a:rPr sz="1300">
                <a:solidFill>
                  <a:srgbClr val="1E1E1E"/>
                </a:solidFill>
                <a:latin typeface="Consolas"/>
              </a:rPr>
              <a:t>&lt;</a:t>
            </a:r>
            <a:r>
              <a:rPr sz="1300">
                <a:solidFill>
                  <a:srgbClr val="0000FF"/>
                </a:solidFill>
                <a:latin typeface="Consolas"/>
              </a:rPr>
              <a:t>int</a:t>
            </a:r>
            <a:r>
              <a:rPr sz="1300">
                <a:solidFill>
                  <a:srgbClr val="1E1E1E"/>
                </a:solidFill>
                <a:latin typeface="Consolas"/>
              </a:rPr>
              <a:t>&gt;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z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=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0000FF"/>
                </a:solidFill>
                <a:latin typeface="Consolas"/>
              </a:rPr>
              <a:t>new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2B91AF"/>
                </a:solidFill>
                <a:latin typeface="Consolas"/>
              </a:rPr>
              <a:t>Zasobnik</a:t>
            </a:r>
            <a:r>
              <a:rPr sz="1300">
                <a:solidFill>
                  <a:srgbClr val="1E1E1E"/>
                </a:solidFill>
                <a:latin typeface="Consolas"/>
              </a:rPr>
              <a:t>&lt;</a:t>
            </a:r>
            <a:r>
              <a:rPr sz="1300">
                <a:solidFill>
                  <a:srgbClr val="0000FF"/>
                </a:solidFill>
                <a:latin typeface="Consolas"/>
              </a:rPr>
              <a:t>int</a:t>
            </a:r>
            <a:r>
              <a:rPr sz="1300">
                <a:solidFill>
                  <a:srgbClr val="1E1E1E"/>
                </a:solidFill>
                <a:latin typeface="Consolas"/>
              </a:rPr>
              <a:t>&gt;</a:t>
            </a:r>
            <a:r>
              <a:rPr sz="1300">
                <a:solidFill>
                  <a:srgbClr val="1E1E1E"/>
                </a:solidFill>
                <a:latin typeface="Consolas"/>
              </a:rPr>
              <a:t>(</a:t>
            </a:r>
            <a:r>
              <a:rPr sz="1300">
                <a:solidFill>
                  <a:srgbClr val="1E1E1E"/>
                </a:solidFill>
                <a:latin typeface="Consolas"/>
              </a:rPr>
              <a:t>)</a:t>
            </a:r>
            <a:r>
              <a:rPr sz="13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nsolas"/>
              </a:rPr>
              <a:t>z</a:t>
            </a:r>
            <a:r>
              <a:rPr sz="1300">
                <a:solidFill>
                  <a:srgbClr val="1E1E1E"/>
                </a:solidFill>
                <a:latin typeface="Consolas"/>
              </a:rPr>
              <a:t>.</a:t>
            </a:r>
            <a:r>
              <a:rPr sz="1300">
                <a:solidFill>
                  <a:srgbClr val="74531F"/>
                </a:solidFill>
                <a:latin typeface="Consolas"/>
              </a:rPr>
              <a:t>Push</a:t>
            </a:r>
            <a:r>
              <a:rPr sz="1300">
                <a:solidFill>
                  <a:srgbClr val="1E1E1E"/>
                </a:solidFill>
                <a:latin typeface="Consolas"/>
              </a:rPr>
              <a:t>(</a:t>
            </a:r>
            <a:r>
              <a:rPr sz="1300">
                <a:solidFill>
                  <a:srgbClr val="1E1E1E"/>
                </a:solidFill>
                <a:latin typeface="Consolas"/>
              </a:rPr>
              <a:t>1</a:t>
            </a:r>
            <a:r>
              <a:rPr sz="1300">
                <a:solidFill>
                  <a:srgbClr val="1E1E1E"/>
                </a:solidFill>
                <a:latin typeface="Consolas"/>
              </a:rPr>
              <a:t>)</a:t>
            </a:r>
            <a:r>
              <a:rPr sz="13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Veřejné rozhraní knihovny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public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Určeno k použití zvenčí – „smlouva“ knihovny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Viditelné jen uvnitř knihovny (assembly)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7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namespace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Skoleni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Utils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public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class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2B91AF"/>
                </a:solidFill>
                <a:latin typeface="Consolas"/>
              </a:rPr>
              <a:t>BankovniUcet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public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void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74531F"/>
                </a:solidFill>
                <a:latin typeface="Consolas"/>
              </a:rPr>
              <a:t>Vloz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0000FF"/>
                </a:solidFill>
                <a:latin typeface="Consolas"/>
              </a:rPr>
              <a:t>decimal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castka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/</a:t>
            </a:r>
            <a:r>
              <a:rPr sz="1400">
                <a:solidFill>
                  <a:srgbClr val="1E1E1E"/>
                </a:solidFill>
                <a:latin typeface="Consolas"/>
              </a:rPr>
              <a:t>*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*</a:t>
            </a:r>
            <a:r>
              <a:rPr sz="1400">
                <a:solidFill>
                  <a:srgbClr val="1E1E1E"/>
                </a:solidFill>
                <a:latin typeface="Consolas"/>
              </a:rPr>
              <a:t>/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7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namespace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Skoleni</a:t>
            </a:r>
            <a:r>
              <a:rPr sz="1550">
                <a:solidFill>
                  <a:srgbClr val="1E1E1E"/>
                </a:solidFill>
                <a:latin typeface="Consolas"/>
              </a:rPr>
              <a:t>.</a:t>
            </a:r>
            <a:r>
              <a:rPr sz="1550">
                <a:solidFill>
                  <a:srgbClr val="1E1E1E"/>
                </a:solidFill>
                <a:latin typeface="Consolas"/>
              </a:rPr>
              <a:t>Utils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internal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class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2B91AF"/>
                </a:solidFill>
                <a:latin typeface="Consolas"/>
              </a:rPr>
              <a:t>UrokovaKalkulacka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internal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decimal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74531F"/>
                </a:solidFill>
                <a:latin typeface="Consolas"/>
              </a:rPr>
              <a:t>Urok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0000FF"/>
                </a:solidFill>
                <a:latin typeface="Consolas"/>
              </a:rPr>
              <a:t>decimal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z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&gt;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z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*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0</a:t>
            </a:r>
            <a:r>
              <a:rPr sz="1550">
                <a:solidFill>
                  <a:srgbClr val="1E1E1E"/>
                </a:solidFill>
                <a:latin typeface="Consolas"/>
              </a:rPr>
              <a:t>.</a:t>
            </a:r>
            <a:r>
              <a:rPr sz="1550">
                <a:solidFill>
                  <a:srgbClr val="1E1E1E"/>
                </a:solidFill>
                <a:latin typeface="Consolas"/>
              </a:rPr>
              <a:t>0</a:t>
            </a:r>
            <a:r>
              <a:rPr sz="1550">
                <a:solidFill>
                  <a:srgbClr val="1E1E1E"/>
                </a:solidFill>
                <a:latin typeface="Consolas"/>
              </a:rPr>
              <a:t>2</a:t>
            </a:r>
            <a:r>
              <a:rPr sz="1550">
                <a:solidFill>
                  <a:srgbClr val="1E1E1E"/>
                </a:solidFill>
                <a:latin typeface="Consolas"/>
              </a:rPr>
              <a:t>m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550">
                <a:solidFill>
                  <a:srgbClr val="008000"/>
                </a:solidFill>
                <a:latin typeface="Consolas"/>
              </a:rPr>
              <a:t>// v aplikaci třídu vůbec neuvidíte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Dokumentace knihovny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Uživatel knihovny nevidí do kódu – potřebuje dokumentaci</a:t>
            </a:r>
          </a:p>
          <a:p>
            <a:pPr>
              <a:lnSpc>
                <a:spcPct val="110000"/>
              </a:lnSpc>
            </a:pPr>
            <a:r>
              <a:rPr b="1" sz="1600"/>
              <a:t>XML dokumentační komentáře</a:t>
            </a:r>
            <a:r>
              <a:rPr sz="1600"/>
              <a:t> </a:t>
            </a:r>
            <a:r>
              <a:rPr sz="1600">
                <a:latin typeface="Consolas"/>
              </a:rPr>
              <a:t>///</a:t>
            </a:r>
          </a:p>
          <a:p>
            <a:pPr lvl="1">
              <a:lnSpc>
                <a:spcPct val="110000"/>
              </a:lnSpc>
            </a:pPr>
            <a:r>
              <a:rPr sz="1500"/>
              <a:t>summary, param, returns, exception</a:t>
            </a:r>
          </a:p>
          <a:p>
            <a:pPr>
              <a:lnSpc>
                <a:spcPct val="110000"/>
              </a:lnSpc>
            </a:pPr>
            <a:r>
              <a:rPr sz="1600"/>
              <a:t>IntelliSense je zobrazí při psaní kódu</a:t>
            </a:r>
          </a:p>
          <a:p>
            <a:pPr>
              <a:lnSpc>
                <a:spcPct val="110000"/>
              </a:lnSpc>
            </a:pPr>
            <a:r>
              <a:rPr sz="1600"/>
              <a:t>Dokumentujte hlavně </a:t>
            </a:r>
            <a:r>
              <a:rPr b="1" sz="1600"/>
              <a:t>public</a:t>
            </a:r>
            <a:r>
              <a:rPr sz="1600"/>
              <a:t> členy</a:t>
            </a:r>
          </a:p>
          <a:p>
            <a:pPr>
              <a:lnSpc>
                <a:spcPct val="110000"/>
              </a:lnSpc>
            </a:pPr>
            <a:r>
              <a:rPr sz="1600"/>
              <a:t>Popisujte </a:t>
            </a:r>
            <a:r>
              <a:rPr b="1" sz="1600"/>
              <a:t>co</a:t>
            </a:r>
            <a:r>
              <a:rPr sz="1600"/>
              <a:t> metoda dělá a </a:t>
            </a:r>
            <a:r>
              <a:rPr b="1" sz="1600"/>
              <a:t>kdy selže</a:t>
            </a:r>
            <a:r>
              <a:rPr sz="1600"/>
              <a:t>, ne jak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300">
                <a:solidFill>
                  <a:srgbClr val="008000"/>
                </a:solidFill>
                <a:latin typeface="Consolas"/>
              </a:rPr>
              <a:t>/// &lt;summary&gt;Vybere částku z účtu.&lt;/summary&gt;</a:t>
            </a:r>
          </a:p>
          <a:p>
            <a:pPr algn="l"/>
            <a:r>
              <a:rPr sz="1300">
                <a:solidFill>
                  <a:srgbClr val="008000"/>
                </a:solidFill>
                <a:latin typeface="Consolas"/>
              </a:rPr>
              <a:t>/// &lt;param name="castka"&gt;Kladná částka.&lt;/param&gt;</a:t>
            </a:r>
          </a:p>
          <a:p>
            <a:pPr algn="l"/>
            <a:r>
              <a:rPr sz="1300">
                <a:solidFill>
                  <a:srgbClr val="008000"/>
                </a:solidFill>
                <a:latin typeface="Consolas"/>
              </a:rPr>
              <a:t>/// &lt;returns&gt;Zda byl zůstatek dostatečný.&lt;/returns&gt;</a:t>
            </a:r>
          </a:p>
          <a:p>
            <a:pPr algn="l"/>
            <a:r>
              <a:rPr sz="1300">
                <a:solidFill>
                  <a:srgbClr val="008000"/>
                </a:solidFill>
                <a:latin typeface="Consolas"/>
              </a:rPr>
              <a:t>/// &lt;exception cref="ArgumentException"&gt;</a:t>
            </a:r>
          </a:p>
          <a:p>
            <a:pPr algn="l"/>
            <a:r>
              <a:rPr sz="1300">
                <a:solidFill>
                  <a:srgbClr val="008000"/>
                </a:solidFill>
                <a:latin typeface="Consolas"/>
              </a:rPr>
              <a:t>/// Částka je záporná nebo nulová.</a:t>
            </a:r>
          </a:p>
          <a:p>
            <a:pPr algn="l"/>
            <a:r>
              <a:rPr sz="1300">
                <a:solidFill>
                  <a:srgbClr val="008000"/>
                </a:solidFill>
                <a:latin typeface="Consolas"/>
              </a:rPr>
              <a:t>/// &lt;/exception&gt;</a:t>
            </a:r>
          </a:p>
          <a:p>
            <a:pPr algn="l"/>
            <a:r>
              <a:rPr sz="1300">
                <a:solidFill>
                  <a:srgbClr val="0000FF"/>
                </a:solidFill>
                <a:latin typeface="Consolas"/>
              </a:rPr>
              <a:t>public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0000FF"/>
                </a:solidFill>
                <a:latin typeface="Consolas"/>
              </a:rPr>
              <a:t>bool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74531F"/>
                </a:solidFill>
                <a:latin typeface="Consolas"/>
              </a:rPr>
              <a:t>Vyber</a:t>
            </a:r>
            <a:r>
              <a:rPr sz="1300">
                <a:solidFill>
                  <a:srgbClr val="1E1E1E"/>
                </a:solidFill>
                <a:latin typeface="Consolas"/>
              </a:rPr>
              <a:t>(</a:t>
            </a:r>
            <a:r>
              <a:rPr sz="1300">
                <a:solidFill>
                  <a:srgbClr val="0000FF"/>
                </a:solidFill>
                <a:latin typeface="Consolas"/>
              </a:rPr>
              <a:t>decimal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castka</a:t>
            </a:r>
            <a:r>
              <a:rPr sz="13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/</a:t>
            </a:r>
            <a:r>
              <a:rPr sz="1300">
                <a:solidFill>
                  <a:srgbClr val="1E1E1E"/>
                </a:solidFill>
                <a:latin typeface="Consolas"/>
              </a:rPr>
              <a:t>*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.</a:t>
            </a:r>
            <a:r>
              <a:rPr sz="1300">
                <a:solidFill>
                  <a:srgbClr val="1E1E1E"/>
                </a:solidFill>
                <a:latin typeface="Consolas"/>
              </a:rPr>
              <a:t>.</a:t>
            </a:r>
            <a:r>
              <a:rPr sz="1300">
                <a:solidFill>
                  <a:srgbClr val="1E1E1E"/>
                </a:solidFill>
                <a:latin typeface="Consolas"/>
              </a:rPr>
              <a:t>.</a:t>
            </a:r>
            <a:r>
              <a:rPr sz="1300">
                <a:solidFill>
                  <a:srgbClr val="1E1E1E"/>
                </a:solidFill>
                <a:latin typeface="Consolas"/>
              </a:rPr>
              <a:t> </a:t>
            </a:r>
            <a:r>
              <a:rPr sz="1300">
                <a:solidFill>
                  <a:srgbClr val="1E1E1E"/>
                </a:solidFill>
                <a:latin typeface="Consolas"/>
              </a:rPr>
              <a:t>*</a:t>
            </a:r>
            <a:r>
              <a:rPr sz="1300">
                <a:solidFill>
                  <a:srgbClr val="1E1E1E"/>
                </a:solidFill>
                <a:latin typeface="Consolas"/>
              </a:rPr>
              <a:t>/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NuGet – balíčky od jiných autorů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Balíčkovací systém platformy .NET</a:t>
            </a:r>
          </a:p>
          <a:p>
            <a:pPr>
              <a:lnSpc>
                <a:spcPct val="110000"/>
              </a:lnSpc>
            </a:pPr>
            <a:r>
              <a:rPr sz="1600"/>
              <a:t>Tisíce hotových knihoven: JSON, PDF, Excel, grafy…</a:t>
            </a:r>
          </a:p>
          <a:p>
            <a:pPr>
              <a:lnSpc>
                <a:spcPct val="110000"/>
              </a:lnSpc>
            </a:pPr>
            <a:r>
              <a:rPr sz="1600"/>
              <a:t>Pravý klik na projekt → </a:t>
            </a:r>
            <a:r>
              <a:rPr b="1" sz="1600"/>
              <a:t>Manage NuGet Packages</a:t>
            </a:r>
          </a:p>
          <a:p>
            <a:pPr lvl="1">
              <a:lnSpc>
                <a:spcPct val="110000"/>
              </a:lnSpc>
            </a:pPr>
            <a:r>
              <a:rPr sz="1500"/>
              <a:t>Browse → vyhledat → Install</a:t>
            </a:r>
          </a:p>
          <a:p>
            <a:pPr>
              <a:lnSpc>
                <a:spcPct val="110000"/>
              </a:lnSpc>
            </a:pPr>
            <a:r>
              <a:rPr sz="1600"/>
              <a:t>Odkaz se zapíše do souboru </a:t>
            </a:r>
            <a:r>
              <a:rPr b="1" sz="1600"/>
              <a:t>.csproj</a:t>
            </a:r>
          </a:p>
          <a:p>
            <a:pPr>
              <a:lnSpc>
                <a:spcPct val="110000"/>
              </a:lnSpc>
            </a:pPr>
            <a:r>
              <a:rPr sz="1600"/>
              <a:t>Vlastní knihovnu lze zabalit: </a:t>
            </a:r>
            <a:r>
              <a:rPr sz="1600">
                <a:latin typeface="Consolas"/>
              </a:rPr>
              <a:t>dotnet pack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!</a:t>
            </a:r>
            <a:r>
              <a:rPr sz="1500">
                <a:solidFill>
                  <a:srgbClr val="1E1E1E"/>
                </a:solidFill>
                <a:latin typeface="Consolas"/>
              </a:rPr>
              <a:t>-</a:t>
            </a:r>
            <a:r>
              <a:rPr sz="1500">
                <a:solidFill>
                  <a:srgbClr val="1E1E1E"/>
                </a:solidFill>
                <a:latin typeface="Consolas"/>
              </a:rPr>
              <a:t>-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csproj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–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dopln</a:t>
            </a:r>
            <a:r>
              <a:rPr sz="1500">
                <a:solidFill>
                  <a:srgbClr val="1E1E1E"/>
                </a:solidFill>
                <a:latin typeface="Consolas"/>
              </a:rPr>
              <a:t>í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se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automaticky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-</a:t>
            </a:r>
            <a:r>
              <a:rPr sz="1500">
                <a:solidFill>
                  <a:srgbClr val="1E1E1E"/>
                </a:solidFill>
                <a:latin typeface="Consolas"/>
              </a:rPr>
              <a:t>-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ItemGroup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PackageReference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Include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A31515"/>
                </a:solidFill>
                <a:latin typeface="Consolas"/>
              </a:rPr>
              <a:t>"Newtonsoft.Json"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Version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A31515"/>
                </a:solidFill>
                <a:latin typeface="Consolas"/>
              </a:rPr>
              <a:t>"13.0.3"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/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/</a:t>
            </a:r>
            <a:r>
              <a:rPr sz="1500">
                <a:solidFill>
                  <a:srgbClr val="1E1E1E"/>
                </a:solidFill>
                <a:latin typeface="Consolas"/>
              </a:rPr>
              <a:t>ItemGroup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Jak vybrat NuGet balíček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Popularita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Počet stažení, hvězdičky,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kdo ho používá.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88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Údržba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Datum poslední verze,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reakce na nahlášené chyby.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32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Licence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Smíte ho použít pro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váš účel (MIT, Apache…)?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Závislosti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Co všechno balíček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stáhne s sebou?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88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FE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Verze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Major.Minor.Patch – změna prvního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čísla může rozbít kompatibilitu.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32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0D1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Bezpečnost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Ověřený autor, správný název –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pozor na podvržené balíčky.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Procvičování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Otázky: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1. Čím se Class Library liší od Console App?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2. Proč knihovnu odkazovat, a ne kopírovat soubory?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3. Kdy použít internal místo public?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4. Co znamená přechod balíčku z verze 2.4.1 na 3.0.0?</a:t>
            </a:r>
          </a:p>
          <a:p>
            <a:pPr>
              <a:lnSpc>
                <a:spcPct val="110000"/>
              </a:lnSpc>
            </a:pPr>
            <a:r>
              <a:rPr sz="2000"/>
              <a:t>Úlohy: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1. Přesuňte Zasobnik&lt;T&gt; a Teplomer do knihovny Skoleni.Utils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2. Použijte knihovnu v konzolové i WFA aplikaci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3. Doplňte XML komentáře ke všem public metodám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Praxe – vlastní knihovna pro projekt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Z kódu z předchozích hodin vytvořte knihovnu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generický žebříček, herní logika s událostmi, LINQ statistiky</a:t>
            </a:r>
          </a:p>
          <a:p>
            <a:pPr>
              <a:lnSpc>
                <a:spcPct val="110000"/>
              </a:lnSpc>
            </a:pPr>
            <a:r>
              <a:rPr sz="2000"/>
              <a:t>Navrhněte veřejné rozhraní – co je public, co internal</a:t>
            </a:r>
          </a:p>
          <a:p>
            <a:pPr>
              <a:lnSpc>
                <a:spcPct val="110000"/>
              </a:lnSpc>
            </a:pPr>
            <a:r>
              <a:rPr sz="2000"/>
              <a:t>Knihovnu použijte ve dvou aplikacích (konzole + WFA)</a:t>
            </a:r>
          </a:p>
          <a:p>
            <a:pPr>
              <a:lnSpc>
                <a:spcPct val="110000"/>
              </a:lnSpc>
            </a:pPr>
            <a:r>
              <a:rPr sz="2000"/>
              <a:t>Přidejte NuGet balíček pro ukládání dat do JSON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porovnejte s vestavěným System.Text.Json</a:t>
            </a:r>
          </a:p>
          <a:p>
            <a:pPr>
              <a:lnSpc>
                <a:spcPct val="110000"/>
              </a:lnSpc>
            </a:pPr>
            <a:r>
              <a:rPr sz="2000"/>
              <a:t>Odevzdání: solution, XML dokumentace, zdůvodnění výběru balíčku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171</Words>
  <Application>Microsoft Office PowerPoint</Application>
  <PresentationFormat>Širokoúhlá obrazovka</PresentationFormat>
  <Paragraphs>31</Paragraphs>
  <Slides>7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DashVTI</vt:lpstr>
      <vt:lpstr>Soubory a složky</vt:lpstr>
      <vt:lpstr>Stream</vt:lpstr>
      <vt:lpstr>StreamReader, StreamWriter</vt:lpstr>
      <vt:lpstr>Příklad čtení a zápisu do textového</vt:lpstr>
      <vt:lpstr>Neexistující soubor pro zápis</vt:lpstr>
      <vt:lpstr>File</vt:lpstr>
      <vt:lpstr>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42</cp:revision>
  <dcterms:created xsi:type="dcterms:W3CDTF">2022-09-21T15:44:15Z</dcterms:created>
  <dcterms:modified xsi:type="dcterms:W3CDTF">2026-09-03T05:46:04Z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5200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