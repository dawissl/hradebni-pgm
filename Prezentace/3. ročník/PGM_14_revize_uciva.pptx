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12"/>
  </p:notesMasterIdLst>
  <p:sldIdLst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03T05:44:5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000000-0000-0000-0000-000000000000}"/>
    <pc:docChg chg="mod modSld addMainMaster delMainMaster">
      <pc:chgData name="Sládeček David" userId="S::sladecek@hradebni.cz::474d93f0-3a32-49cc-b837-47806091b590" providerId="AD" clId="Web-{00000000-0000-0000-0000-000000000000}" dt="2026-09-03T05:46:01.088" v="17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4:55.555" v="13" actId="20577"/>
        <pc:sldMkLst>
          <pc:docMk/>
          <pc:sldMk cId="1179415898" sldId="256"/>
        </pc:sldMkLst>
        <pc:spChg chg="mod ord">
          <ac:chgData name="Sládeček David" userId="S::sladecek@hradebni.cz::474d93f0-3a32-49cc-b837-47806091b590" providerId="AD" clId="Web-{00000000-0000-0000-0000-000000000000}" dt="2026-09-03T05:44:46.039" v="10" actId="20577"/>
          <ac:spMkLst>
            <pc:docMk/>
            <pc:sldMk cId="1179415898" sldId="256"/>
            <ac:spMk id="2" creationId="{37C90CD6-0E54-5071-9182-36048610B61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55.555" v="13" actId="20577"/>
          <ac:spMkLst>
            <pc:docMk/>
            <pc:sldMk cId="1179415898" sldId="256"/>
            <ac:spMk id="3" creationId="{EE364F67-BE5F-AA7F-9525-0F7D636F30F1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8" creationId="{85AE27A1-125B-7955-BB01-DB47E1984921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9" creationId="{C0782607-67EF-47AC-96DF-A7DE2A282C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0" creationId="{090B1A9B-4205-8525-E5AA-27B99868A41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1" creationId="{65351FED-1024-4E4A-BE3B-371ABFCDF67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2" creationId="{2B584676-79BC-4E35-6927-8126B364614D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3" creationId="{6692CD4C-1BDD-4687-BFFE-33F1462F855E}"/>
          </ac:spMkLst>
        </pc:spChg>
        <pc:picChg chg="del">
          <ac:chgData name="Sládeček David" userId="S::sladecek@hradebni.cz::474d93f0-3a32-49cc-b837-47806091b590" providerId="AD" clId="Web-{00000000-0000-0000-0000-000000000000}" dt="2026-09-03T05:44:31.741" v="1"/>
          <ac:picMkLst>
            <pc:docMk/>
            <pc:sldMk cId="1179415898" sldId="256"/>
            <ac:picMk id="5" creationId="{DF8F8E36-46E3-C140-472F-2A2C04AC366E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31.931" v="14"/>
        <pc:sldMkLst>
          <pc:docMk/>
          <pc:sldMk cId="1193411076" sldId="257"/>
        </pc:sldMkLst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2" creationId="{C2ABE8DD-861D-6DE5-4EB8-111F9340CB2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3" creationId="{65972E93-DAC9-E513-56E0-FAE4C410CF5A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8" creationId="{B04C8FDB-7636-E099-933A-56FA7B97D75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0" creationId="{D695048C-4ED8-1785-CE5A-487FCF825C4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2" creationId="{67D57CBD-615F-100D-50B2-90B3CAFEB46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4" creationId="{16149381-361D-52A0-14E9-6E4EB5378B3B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42.978" v="15"/>
        <pc:sldMkLst>
          <pc:docMk/>
          <pc:sldMk cId="3505840516" sldId="258"/>
        </pc:sldMkLst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2" creationId="{AB386235-FE3A-529E-ABE4-2D0F0B9610CE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3" creationId="{232C0A67-6AAD-4B74-66BE-EE8315B5FD2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1" creationId="{C4915C41-4C4D-22DA-6C1D-8EDCD60CBD6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3" creationId="{70C36DC6-11A5-C29B-C763-7C78570966D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5" creationId="{E622008F-6F8C-F456-F22A-BD8F931FB1F8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42.978" v="15"/>
          <ac:picMkLst>
            <pc:docMk/>
            <pc:sldMk cId="3505840516" sldId="258"/>
            <ac:picMk id="1026" creationId="{B200EB5D-7C8D-FFC8-A35F-45486B972532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196183517" sldId="259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2" creationId="{CC085EB1-21A1-CD43-A142-E14178B802F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4" creationId="{F5FE7AC0-A3B1-E3C0-FBD1-32FCB56D6E9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6" creationId="{50EDE671-98A9-5358-733F-213EF1E92BAD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9" creationId="{3648A306-1FEE-D803-2355-BF6400B690C5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11" creationId="{2DA7B9AA-1866-F0CF-B410-4AC99794489B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946532546" sldId="261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2" creationId="{3E495D63-421F-19F8-9DDA-3496A16EE21A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4" creationId="{10C756C9-0A46-08F9-4580-4EBB5A356F4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6" creationId="{20518221-AF82-FBC4-9E4A-D0692794CDC2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9" creationId="{0B85BDB5-7257-A0A1-E77A-D60E437849AB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11" creationId="{BB6D7327-302B-509A-422C-D85A5C7DEA80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5:54.619" v="16"/>
        <pc:sldMkLst>
          <pc:docMk/>
          <pc:sldMk cId="1985706453" sldId="262"/>
        </pc:sldMkLst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2" creationId="{97C71524-CE29-7204-814A-2C171F5C7AA0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3" creationId="{FCE06F1C-D258-274F-C40F-A7826AB59DB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7" creationId="{8B9CD985-E840-BEAC-7B97-8E147416AE8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8" creationId="{F4ACA565-9F73-792B-C518-BC1899CB5307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9" creationId="{C5C07FE7-A99F-A56B-27A0-8B9C7EECD56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54.619" v="16"/>
          <ac:picMkLst>
            <pc:docMk/>
            <pc:sldMk cId="1985706453" sldId="262"/>
            <ac:picMk id="5" creationId="{D171B47B-9E9F-AB8E-C232-952551B6B406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6:01.088" v="17"/>
        <pc:sldMkLst>
          <pc:docMk/>
          <pc:sldMk cId="466483557" sldId="263"/>
        </pc:sldMkLst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2" creationId="{C9B8D8AD-726C-7AB6-573B-2C2C8B0A62DF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3" creationId="{1B96F939-8674-C729-00B3-8A15A0B833A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7" creationId="{4A4A226E-3196-1301-70D8-6BD862BB3BB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8" creationId="{A464A21D-B1CD-D3AA-1F36-03255A9BAD0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9" creationId="{2A6C7FF9-654B-7D48-B2BB-A1DE4357B44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6:01.088" v="17"/>
          <ac:picMkLst>
            <pc:docMk/>
            <pc:sldMk cId="466483557" sldId="263"/>
            <ac:picMk id="5" creationId="{BF1C7110-9407-DC37-2AC1-6DF260A3441E}"/>
          </ac:picMkLst>
        </pc:picChg>
      </pc:sldChg>
      <pc:sldMasterChg chg="del del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954265959" sldId="2147483711"/>
        </pc:sldMasterMkLst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411100" sldId="214748371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13661319" sldId="214748371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689447562" sldId="214748371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480985426" sldId="214748371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05088054" sldId="214748371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16400854" sldId="2147483717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081409244" sldId="2147483718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755766572" sldId="2147483719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088420204" sldId="2147483720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31568211" sldId="2147483721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553191059" sldId="214748372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27911751" sldId="214748372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866580" sldId="214748372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30736733" sldId="214748372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326302660" sldId="214748372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7991005" sldId="2147483727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2125188827" sldId="2147483728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510413956" sldId="214748372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677659548" sldId="214748373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30259315" sldId="214748373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867444874" sldId="214748373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277176555" sldId="214748373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737139801" sldId="214748373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526234535" sldId="214748373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80103632" sldId="214748373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180637993" sldId="214748373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251727048" sldId="214748373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61680780" sldId="2147483739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Nepřeloží se: operátor &gt; nelze použít na obecný T. Oprava: where T : IComparable&lt;T&gt; a a.CompareTo(b) &gt; 0. Po opravě vypíše a,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Vypíše 5, 10, 15 (tři řádky). Odebrání null nic nezmění. Kdyby druhé přiřazení bylo =, první lambda by se zahodila: vypíše 10,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(5, 3, 8, 9, 10 – dotaz je líný, 10 se započítá)</a:t>
            </a:r>
          </a:p>
          <a:p>
            <a:r>
              <a:t>10,9,8</a:t>
            </a:r>
          </a:p>
          <a:p>
            <a:r>
              <a:t>True</a:t>
            </a:r>
          </a:p>
          <a:p>
            <a:r>
              <a:t>20 (8 + 2 + 10)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záporné, číslo 7, prázdný text, text 4, nic, jiné (2.5 je double, ne int).</a:t>
            </a:r>
          </a:p>
          <a:p>
            <a:r>
              <a:t>Pořadí: kdyby int i bylo před int i when i &lt; 0, záporná větev by se nikdy nepoužila (kompilátor ohlásí chybu).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O(n·m), pro stejně velké seznamy O(n²). Rychlejší: HashSet&lt;int&gt; mnozina = new(b); return a.Any(mnozina.Contains); → O(n + 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Problémy:</a:t>
            </a:r>
          </a:p>
          <a:p>
            <a:r>
              <a:t>- veřejný field s se špatným názvem → private List&lt;Student&gt; studenti + metody</a:t>
            </a:r>
          </a:p>
          <a:p>
            <a:r>
              <a:t>- Upozorneni není event, volání bez ?. → NullReferenceException</a:t>
            </a:r>
          </a:p>
          <a:p>
            <a:r>
              <a:t>- hledání nejlepšího je O(n²) → OrderBy(...).First() nebo MinBy – O(n log n) / O(n)</a:t>
            </a:r>
          </a:p>
          <a:p>
            <a:r>
              <a:t>- Where(...).Count() &gt; 0 → Any(...)</a:t>
            </a:r>
          </a:p>
          <a:p>
            <a:r>
              <a:t>- magické číslo 120 → konstanta LimitAbsence</a:t>
            </a:r>
          </a:p>
          <a:p>
            <a:r>
              <a:t>- metoda dělá dvě věci – rozdělit na NajdiNejlepsiho a ZkontrolujAbsenci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1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3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3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3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2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8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Revize učiva – 3. ročník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PROGRAMOVÁNÍ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jsme letos probrali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14400" y="2560000"/>
            <a:ext cx="2478300" cy="169000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700">
                <a:solidFill>
                  <a:srgbClr val="FFFFFF"/>
                </a:solidFill>
              </a:rPr>
              <a:t>Generika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Jedna třída či metoda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pro libovolný typ – &lt;T&gt;, where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2700" y="2560000"/>
            <a:ext cx="2478300" cy="169000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700">
                <a:solidFill>
                  <a:srgbClr val="FFFFFF"/>
                </a:solidFill>
              </a:rPr>
              <a:t>Delegáti a události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Metoda jako hodnota,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event, +=, Func,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1000" y="2560000"/>
            <a:ext cx="2478300" cy="169000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700">
                <a:solidFill>
                  <a:srgbClr val="FFFFFF"/>
                </a:solidFill>
              </a:rPr>
              <a:t>Lambda a LINQ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x =&gt; …, Where, Select,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OrderBy, GroupBy, Any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9300" y="2560000"/>
            <a:ext cx="2478300" cy="169000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700">
                <a:solidFill>
                  <a:srgbClr val="FFFFFF"/>
                </a:solidFill>
              </a:rPr>
              <a:t>Pattern matching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is, switch expression,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vlastnosti, tuple, when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20000"/>
            <a:ext cx="2478300" cy="1690000"/>
          </a:xfrm>
          <a:prstGeom prst="roundRect">
            <a:avLst>
              <a:gd name="adj" fmla="val 6000"/>
            </a:avLst>
          </a:prstGeom>
          <a:solidFill>
            <a:srgbClr val="FE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700">
                <a:solidFill>
                  <a:srgbClr val="FFFFFF"/>
                </a:solidFill>
              </a:rPr>
              <a:t>Kvalita kódu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Code review, code smells,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refaktoring po malých krocích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2700" y="4420000"/>
            <a:ext cx="2478300" cy="1690000"/>
          </a:xfrm>
          <a:prstGeom prst="roundRect">
            <a:avLst>
              <a:gd name="adj" fmla="val 6000"/>
            </a:avLst>
          </a:prstGeom>
          <a:solidFill>
            <a:srgbClr val="0D1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700">
                <a:solidFill>
                  <a:srgbClr val="FFFFFF"/>
                </a:solidFill>
              </a:rPr>
              <a:t>Dekompozice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Vyjasnění, specifikace,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návrh, kostra, plátky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1000" y="4420000"/>
            <a:ext cx="2478300" cy="169000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700">
                <a:solidFill>
                  <a:srgbClr val="FFFFFF"/>
                </a:solidFill>
              </a:rPr>
              <a:t>Knihovny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Class Library, .dll,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public / internal, NuGet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99300" y="4420000"/>
            <a:ext cx="2478300" cy="169000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700">
                <a:solidFill>
                  <a:srgbClr val="FFFFFF"/>
                </a:solidFill>
              </a:rPr>
              <a:t>Složitost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O(1), O(log n), O(n),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O(n log n), O(n²)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Jak témata souvisí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2600000"/>
          <a:ext cx="10363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40"/>
                <a:gridCol w="4145280"/>
                <a:gridCol w="4145280"/>
              </a:tblGrid>
              <a:tr h="3886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Téma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Navazuje na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Využijete v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/>
                        <a:t>Generika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List&lt;T&gt;, Dictionary, IComparable&lt;T&gt;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Func&lt;T&gt;, knihovny, vlastní kolekce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/>
                        <a:t>Delegáti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události ve WFA (Click +=)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lambda, LINQ, oddělení logiky od UI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/>
                        <a:t>Lambda a LINQ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delegáti, generika, kolekce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analýza dat, čitelnější kód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/>
                        <a:t>Pattern matching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switch, polymorfismus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vyhodnocení dat, refaktoring podmínek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/>
                        <a:t>Code review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OOP, SOLID, metody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každý projekt, práce s AI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/>
                        <a:t>Dekompozice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metody, třídy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projekty, zadání pro AI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400"/>
                        <a:t>Big 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cykly, řazení, kolekce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výběr datové struktury, code review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 vypíše program?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Generika a omezení</a:t>
            </a:r>
          </a:p>
          <a:p>
            <a:pPr>
              <a:lnSpc>
                <a:spcPct val="110000"/>
              </a:lnSpc>
            </a:pPr>
            <a:r>
              <a:rPr sz="1600"/>
              <a:t>Přeloží se kód?</a:t>
            </a:r>
          </a:p>
          <a:p>
            <a:pPr>
              <a:lnSpc>
                <a:spcPct val="110000"/>
              </a:lnSpc>
            </a:pPr>
            <a:r>
              <a:rPr sz="1600"/>
              <a:t>Pokud ano, co vypíše?</a:t>
            </a:r>
          </a:p>
          <a:p>
            <a:pPr>
              <a:lnSpc>
                <a:spcPct val="110000"/>
              </a:lnSpc>
            </a:pPr>
            <a:r>
              <a:rPr sz="1600"/>
              <a:t>Pokud ne, proč a jak ho opravit?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static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Prvni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T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2B91AF"/>
                </a:solidFill>
                <a:latin typeface="Consolas"/>
              </a:rPr>
              <a:t>List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T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</a:t>
            </a:r>
            <a:r>
              <a:rPr sz="1500">
                <a:solidFill>
                  <a:srgbClr val="1E1E1E"/>
                </a:solidFill>
                <a:latin typeface="Consolas"/>
              </a:rPr>
              <a:t>[</a:t>
            </a:r>
            <a:r>
              <a:rPr sz="1500">
                <a:solidFill>
                  <a:srgbClr val="1E1E1E"/>
                </a:solidFill>
                <a:latin typeface="Consolas"/>
              </a:rPr>
              <a:t>0</a:t>
            </a:r>
            <a:r>
              <a:rPr sz="1500">
                <a:solidFill>
                  <a:srgbClr val="1E1E1E"/>
                </a:solidFill>
                <a:latin typeface="Consolas"/>
              </a:rPr>
              <a:t>]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static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Max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T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a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b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return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a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b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?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a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: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b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var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pismena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new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2B91AF"/>
                </a:solidFill>
                <a:latin typeface="Consolas"/>
              </a:rPr>
              <a:t>List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0000FF"/>
                </a:solidFill>
                <a:latin typeface="Consolas"/>
              </a:rPr>
              <a:t>string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{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"a"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"b"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}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2B91AF"/>
                </a:solidFill>
                <a:latin typeface="Consolas"/>
              </a:rPr>
              <a:t>Console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WriteLine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74531F"/>
                </a:solidFill>
                <a:latin typeface="Consolas"/>
              </a:rPr>
              <a:t>Prvni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pismena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2B91AF"/>
                </a:solidFill>
                <a:latin typeface="Consolas"/>
              </a:rPr>
              <a:t>Console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WriteLine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74531F"/>
                </a:solidFill>
                <a:latin typeface="Consolas"/>
              </a:rPr>
              <a:t>Max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3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7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 vypíše program?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Delegáti a multicast</a:t>
            </a:r>
          </a:p>
          <a:p>
            <a:pPr>
              <a:lnSpc>
                <a:spcPct val="110000"/>
              </a:lnSpc>
            </a:pPr>
            <a:r>
              <a:rPr sz="1600"/>
              <a:t>Kolik řádků se vypíše?</a:t>
            </a:r>
          </a:p>
          <a:p>
            <a:pPr>
              <a:lnSpc>
                <a:spcPct val="110000"/>
              </a:lnSpc>
            </a:pPr>
            <a:r>
              <a:rPr sz="1600"/>
              <a:t>Co by se změnilo, kdyby u druhého přiřazení bylo </a:t>
            </a:r>
            <a:r>
              <a:rPr sz="1600">
                <a:latin typeface="Consolas"/>
              </a:rPr>
              <a:t>=</a:t>
            </a:r>
            <a:r>
              <a:rPr sz="1600"/>
              <a:t>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Action</a:t>
            </a:r>
            <a:r>
              <a:rPr sz="1600">
                <a:solidFill>
                  <a:srgbClr val="1E1E1E"/>
                </a:solidFill>
                <a:latin typeface="Consolas"/>
              </a:rPr>
              <a:t>&lt;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akce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null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akce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akce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*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akce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*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3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akce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-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null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74531F"/>
                </a:solidFill>
                <a:latin typeface="Consolas"/>
              </a:rPr>
              <a:t>akce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5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 vypíše program?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LINQ</a:t>
            </a:r>
          </a:p>
          <a:p>
            <a:pPr>
              <a:lnSpc>
                <a:spcPct val="110000"/>
              </a:lnSpc>
            </a:pPr>
            <a:r>
              <a:rPr sz="1600"/>
              <a:t>Napište výsledek každého dotazu</a:t>
            </a:r>
          </a:p>
          <a:p>
            <a:pPr>
              <a:lnSpc>
                <a:spcPct val="110000"/>
              </a:lnSpc>
            </a:pPr>
            <a:r>
              <a:rPr sz="1600"/>
              <a:t>Kdy se vyhodnotí proměnná </a:t>
            </a:r>
            <a:r>
              <a:rPr sz="1600">
                <a:latin typeface="Consolas"/>
              </a:rPr>
              <a:t>dotaz</a:t>
            </a:r>
            <a:r>
              <a:rPr sz="1600"/>
              <a:t>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List</a:t>
            </a:r>
            <a:r>
              <a:rPr sz="1600">
                <a:solidFill>
                  <a:srgbClr val="1E1E1E"/>
                </a:solidFill>
                <a:latin typeface="Consolas"/>
              </a:rPr>
              <a:t>&lt;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new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5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3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8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9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var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dotaz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Where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c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Add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dotaz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Count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string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Join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A31515"/>
                </a:solidFill>
                <a:latin typeface="Consolas"/>
              </a:rPr>
              <a:t>","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OrderByDescending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Take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3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c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Any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9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c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Where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%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Sum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 vypíše program?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Pattern matching</a:t>
            </a:r>
          </a:p>
          <a:p>
            <a:pPr>
              <a:lnSpc>
                <a:spcPct val="110000"/>
              </a:lnSpc>
            </a:pPr>
            <a:r>
              <a:rPr sz="1600"/>
              <a:t>Výsledek pro každé volání</a:t>
            </a:r>
          </a:p>
          <a:p>
            <a:pPr>
              <a:lnSpc>
                <a:spcPct val="110000"/>
              </a:lnSpc>
            </a:pPr>
            <a:r>
              <a:rPr sz="1600"/>
              <a:t>Proč záleží na pořadí větví?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string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74531F"/>
                </a:solidFill>
                <a:latin typeface="Consolas"/>
              </a:rPr>
              <a:t>F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0000FF"/>
                </a:solidFill>
                <a:latin typeface="Consolas"/>
              </a:rPr>
              <a:t>object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o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o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switch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when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0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"záporné"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$</a:t>
            </a:r>
            <a:r>
              <a:rPr sz="1500">
                <a:solidFill>
                  <a:srgbClr val="A31515"/>
                </a:solidFill>
                <a:latin typeface="Consolas"/>
              </a:rPr>
              <a:t>"číslo {i}"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string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{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Length</a:t>
            </a:r>
            <a:r>
              <a:rPr sz="1500">
                <a:solidFill>
                  <a:srgbClr val="1E1E1E"/>
                </a:solidFill>
                <a:latin typeface="Consolas"/>
              </a:rPr>
              <a:t>: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0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}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"prázdný text"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string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s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$</a:t>
            </a:r>
            <a:r>
              <a:rPr sz="1500">
                <a:solidFill>
                  <a:srgbClr val="A31515"/>
                </a:solidFill>
                <a:latin typeface="Consolas"/>
              </a:rPr>
              <a:t>"text {s.Length}"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null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"nic"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_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"jiné"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}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74531F"/>
                </a:solidFill>
                <a:latin typeface="Consolas"/>
              </a:rPr>
              <a:t>F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-</a:t>
            </a:r>
            <a:r>
              <a:rPr sz="1500">
                <a:solidFill>
                  <a:srgbClr val="1E1E1E"/>
                </a:solidFill>
                <a:latin typeface="Consolas"/>
              </a:rPr>
              <a:t>4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74531F"/>
                </a:solidFill>
                <a:latin typeface="Consolas"/>
              </a:rPr>
              <a:t>F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7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74531F"/>
                </a:solidFill>
                <a:latin typeface="Consolas"/>
              </a:rPr>
              <a:t>F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A31515"/>
                </a:solidFill>
                <a:latin typeface="Consolas"/>
              </a:rPr>
              <a:t>""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74531F"/>
                </a:solidFill>
                <a:latin typeface="Consolas"/>
              </a:rPr>
              <a:t>F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A31515"/>
                </a:solidFill>
                <a:latin typeface="Consolas"/>
              </a:rPr>
              <a:t>"ahoj"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74531F"/>
                </a:solidFill>
                <a:latin typeface="Consolas"/>
              </a:rPr>
              <a:t>F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0000FF"/>
                </a:solidFill>
                <a:latin typeface="Consolas"/>
              </a:rPr>
              <a:t>null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74531F"/>
                </a:solidFill>
                <a:latin typeface="Consolas"/>
              </a:rPr>
              <a:t>F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2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5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Jaká je složitost?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Určete časovou složitost</a:t>
            </a:r>
          </a:p>
          <a:p>
            <a:pPr>
              <a:lnSpc>
                <a:spcPct val="110000"/>
              </a:lnSpc>
            </a:pPr>
            <a:r>
              <a:rPr sz="1600"/>
              <a:t>Navrhněte rychlejší řešení</a:t>
            </a:r>
          </a:p>
          <a:p>
            <a:pPr>
              <a:lnSpc>
                <a:spcPct val="110000"/>
              </a:lnSpc>
            </a:pPr>
            <a:r>
              <a:rPr sz="1600"/>
              <a:t>Jakou datovou strukturu zvolíte?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50">
                <a:solidFill>
                  <a:srgbClr val="0000FF"/>
                </a:solidFill>
                <a:latin typeface="Consolas"/>
              </a:rPr>
              <a:t>bool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74531F"/>
                </a:solidFill>
                <a:latin typeface="Consolas"/>
              </a:rPr>
              <a:t>MajiSpolecny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2B91AF"/>
                </a:solidFill>
                <a:latin typeface="Consolas"/>
              </a:rPr>
              <a:t>List</a:t>
            </a:r>
            <a:r>
              <a:rPr sz="1550">
                <a:solidFill>
                  <a:srgbClr val="1E1E1E"/>
                </a:solidFill>
                <a:latin typeface="Consolas"/>
              </a:rPr>
              <a:t>&lt;</a:t>
            </a:r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&gt;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a</a:t>
            </a:r>
            <a:r>
              <a:rPr sz="1550">
                <a:solidFill>
                  <a:srgbClr val="1E1E1E"/>
                </a:solidFill>
                <a:latin typeface="Consolas"/>
              </a:rPr>
              <a:t>,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2B91AF"/>
                </a:solidFill>
                <a:latin typeface="Consolas"/>
              </a:rPr>
              <a:t>List</a:t>
            </a:r>
            <a:r>
              <a:rPr sz="1550">
                <a:solidFill>
                  <a:srgbClr val="1E1E1E"/>
                </a:solidFill>
                <a:latin typeface="Consolas"/>
              </a:rPr>
              <a:t>&lt;</a:t>
            </a:r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&gt;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b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foreach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x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in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a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foreach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y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in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b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if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x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y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return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true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return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false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Velký code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Kód kombinuje témata celého roku</a:t>
            </a:r>
          </a:p>
          <a:p>
            <a:pPr>
              <a:lnSpc>
                <a:spcPct val="110000"/>
              </a:lnSpc>
            </a:pPr>
            <a:r>
              <a:rPr sz="1600"/>
              <a:t>Najděte co nejvíce problémů</a:t>
            </a:r>
          </a:p>
          <a:p>
            <a:pPr lvl="1">
              <a:lnSpc>
                <a:spcPct val="110000"/>
              </a:lnSpc>
            </a:pPr>
            <a:r>
              <a:rPr sz="1500"/>
              <a:t>návrh a zapouzdření</a:t>
            </a:r>
          </a:p>
          <a:p>
            <a:pPr lvl="1">
              <a:lnSpc>
                <a:spcPct val="110000"/>
              </a:lnSpc>
            </a:pPr>
            <a:r>
              <a:rPr sz="1500"/>
              <a:t>události</a:t>
            </a:r>
          </a:p>
          <a:p>
            <a:pPr lvl="1">
              <a:lnSpc>
                <a:spcPct val="110000"/>
              </a:lnSpc>
            </a:pPr>
            <a:r>
              <a:rPr sz="1500"/>
              <a:t>LINQ a složitost</a:t>
            </a:r>
          </a:p>
          <a:p>
            <a:pPr lvl="1">
              <a:lnSpc>
                <a:spcPct val="110000"/>
              </a:lnSpc>
            </a:pPr>
            <a:r>
              <a:rPr sz="1500"/>
              <a:t>čitelnost a magická čísla</a:t>
            </a:r>
          </a:p>
          <a:p>
            <a:pPr>
              <a:lnSpc>
                <a:spcPct val="110000"/>
              </a:lnSpc>
            </a:pPr>
            <a:r>
              <a:rPr sz="1600"/>
              <a:t>Navrhněte refaktorovanou verzi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250">
                <a:solidFill>
                  <a:srgbClr val="0000FF"/>
                </a:solidFill>
                <a:latin typeface="Consolas"/>
              </a:rPr>
              <a:t>public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class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Trida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public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List</a:t>
            </a:r>
            <a:r>
              <a:rPr sz="1250">
                <a:solidFill>
                  <a:srgbClr val="1E1E1E"/>
                </a:solidFill>
                <a:latin typeface="Consolas"/>
              </a:rPr>
              <a:t>&lt;</a:t>
            </a:r>
            <a:r>
              <a:rPr sz="1250">
                <a:solidFill>
                  <a:srgbClr val="2B91AF"/>
                </a:solidFill>
                <a:latin typeface="Consolas"/>
              </a:rPr>
              <a:t>Student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s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new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public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2B91AF"/>
                </a:solidFill>
                <a:latin typeface="Consolas"/>
              </a:rPr>
              <a:t>Action</a:t>
            </a:r>
            <a:r>
              <a:rPr sz="1250">
                <a:solidFill>
                  <a:srgbClr val="1E1E1E"/>
                </a:solidFill>
                <a:latin typeface="Consolas"/>
              </a:rPr>
              <a:t>&lt;</a:t>
            </a:r>
            <a:r>
              <a:rPr sz="1250">
                <a:solidFill>
                  <a:srgbClr val="0000FF"/>
                </a:solidFill>
                <a:latin typeface="Consolas"/>
              </a:rPr>
              <a:t>string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Upozorneni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public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void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74531F"/>
                </a:solidFill>
                <a:latin typeface="Consolas"/>
              </a:rPr>
              <a:t>Zkontroluj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foreach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0000FF"/>
                </a:solidFill>
                <a:latin typeface="Consolas"/>
              </a:rPr>
              <a:t>var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x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in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s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if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s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Where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y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y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Prumer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&lt;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x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Prumer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Count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0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74531F"/>
                </a:solidFill>
                <a:latin typeface="Consolas"/>
              </a:rPr>
              <a:t>Upozorneni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A31515"/>
                </a:solidFill>
                <a:latin typeface="Consolas"/>
              </a:rPr>
              <a:t>"Nej: "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+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x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Jmeno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if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s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Where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x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x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Absence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1</a:t>
            </a:r>
            <a:r>
              <a:rPr sz="1250">
                <a:solidFill>
                  <a:srgbClr val="1E1E1E"/>
                </a:solidFill>
                <a:latin typeface="Consolas"/>
              </a:rPr>
              <a:t>2</a:t>
            </a:r>
            <a:r>
              <a:rPr sz="1250">
                <a:solidFill>
                  <a:srgbClr val="1E1E1E"/>
                </a:solidFill>
                <a:latin typeface="Consolas"/>
              </a:rPr>
              <a:t>0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Count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0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74531F"/>
                </a:solidFill>
                <a:latin typeface="Consolas"/>
              </a:rPr>
              <a:t>Upozorneni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A31515"/>
                </a:solidFill>
                <a:latin typeface="Consolas"/>
              </a:rPr>
              <a:t>"Absence!"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byste měli umět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800"/>
              <a:t>Navrhnout a použít </a:t>
            </a:r>
            <a:r>
              <a:rPr b="1" sz="1800"/>
              <a:t>generickou třídu a metodu</a:t>
            </a:r>
            <a:r>
              <a:rPr sz="1800"/>
              <a:t> včetně omezení</a:t>
            </a:r>
          </a:p>
          <a:p>
            <a:pPr>
              <a:lnSpc>
                <a:spcPct val="110000"/>
              </a:lnSpc>
            </a:pPr>
            <a:r>
              <a:rPr sz="1800"/>
              <a:t>Vytvořit </a:t>
            </a:r>
            <a:r>
              <a:rPr b="1" sz="1800"/>
              <a:t>vlastní událost</a:t>
            </a:r>
            <a:r>
              <a:rPr sz="1800"/>
              <a:t> a oddělit logiku od UI</a:t>
            </a:r>
          </a:p>
          <a:p>
            <a:pPr>
              <a:lnSpc>
                <a:spcPct val="110000"/>
              </a:lnSpc>
            </a:pPr>
            <a:r>
              <a:rPr sz="1800"/>
              <a:t>Zapsat dotaz nad kolekcí pomocí </a:t>
            </a:r>
            <a:r>
              <a:rPr b="1" sz="1800"/>
              <a:t>LINQ</a:t>
            </a:r>
            <a:r>
              <a:rPr sz="1800"/>
              <a:t> a vysvětlit líné vyhodnocení</a:t>
            </a:r>
          </a:p>
          <a:p>
            <a:pPr>
              <a:lnSpc>
                <a:spcPct val="110000"/>
              </a:lnSpc>
            </a:pPr>
            <a:r>
              <a:rPr sz="1800"/>
              <a:t>Rozhodnout, kdy použít </a:t>
            </a:r>
            <a:r>
              <a:rPr b="1" sz="1800"/>
              <a:t>polymorfismus</a:t>
            </a:r>
            <a:r>
              <a:rPr sz="1800"/>
              <a:t> a kdy </a:t>
            </a:r>
            <a:r>
              <a:rPr b="1" sz="1800"/>
              <a:t>pattern matching</a:t>
            </a:r>
          </a:p>
          <a:p>
            <a:pPr>
              <a:lnSpc>
                <a:spcPct val="110000"/>
              </a:lnSpc>
            </a:pPr>
            <a:r>
              <a:rPr sz="1800"/>
              <a:t>Provést </a:t>
            </a:r>
            <a:r>
              <a:rPr b="1" sz="1800"/>
              <a:t>code review</a:t>
            </a:r>
            <a:r>
              <a:rPr sz="1800"/>
              <a:t> a navrhnout konkrétní refaktoring</a:t>
            </a:r>
          </a:p>
          <a:p>
            <a:pPr>
              <a:lnSpc>
                <a:spcPct val="110000"/>
              </a:lnSpc>
            </a:pPr>
            <a:r>
              <a:rPr sz="1800"/>
              <a:t>Rozložit </a:t>
            </a:r>
            <a:r>
              <a:rPr b="1" sz="1800"/>
              <a:t>nejasné zadání</a:t>
            </a:r>
            <a:r>
              <a:rPr sz="1800"/>
              <a:t> na specifikaci, návrh a kostru řešení</a:t>
            </a:r>
          </a:p>
          <a:p>
            <a:pPr>
              <a:lnSpc>
                <a:spcPct val="110000"/>
              </a:lnSpc>
            </a:pPr>
            <a:r>
              <a:rPr sz="1800"/>
              <a:t>Vytvořit a použít </a:t>
            </a:r>
            <a:r>
              <a:rPr b="1" sz="1800"/>
              <a:t>knihovnu</a:t>
            </a:r>
            <a:r>
              <a:rPr sz="1800"/>
              <a:t>, vybrat vhodný </a:t>
            </a:r>
            <a:r>
              <a:rPr b="1" sz="1800"/>
              <a:t>NuGet</a:t>
            </a:r>
            <a:r>
              <a:rPr sz="1800"/>
              <a:t> balíček</a:t>
            </a:r>
          </a:p>
          <a:p>
            <a:pPr>
              <a:lnSpc>
                <a:spcPct val="110000"/>
              </a:lnSpc>
            </a:pPr>
            <a:r>
              <a:rPr sz="1800"/>
              <a:t>Odhadnout </a:t>
            </a:r>
            <a:r>
              <a:rPr b="1" sz="1800"/>
              <a:t>složitost</a:t>
            </a:r>
            <a:r>
              <a:rPr sz="1800"/>
              <a:t> kódu a zvolit vhodnou datovou strukturu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171</Words>
  <Application>Microsoft Office PowerPoint</Application>
  <PresentationFormat>Širokoúhlá obrazovka</PresentationFormat>
  <Paragraphs>31</Paragraphs>
  <Slides>7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DashVTI</vt:lpstr>
      <vt:lpstr>Soubory a složky</vt:lpstr>
      <vt:lpstr>Stream</vt:lpstr>
      <vt:lpstr>StreamReader, StreamWriter</vt:lpstr>
      <vt:lpstr>Příklad čtení a zápisu do textového</vt:lpstr>
      <vt:lpstr>Neexistující soubor pro zápis</vt:lpstr>
      <vt:lpstr>File</vt:lpstr>
      <vt:lpstr>Directory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42</cp:revision>
  <dcterms:created xsi:type="dcterms:W3CDTF">2022-09-21T15:44:15Z</dcterms:created>
  <dcterms:modified xsi:type="dcterms:W3CDTF">2026-09-03T05:46:04Z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5200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