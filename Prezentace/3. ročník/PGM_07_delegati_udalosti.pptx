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1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_rels/presentation.xml.rels" ContentType="application/vnd.openxmlformats-package.relationshi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notesSlides/_rels/notesSlide12.xml.rels" ContentType="application/vnd.openxmlformats-package.relationships+xml"/>
  <Override PartName="/ppt/notesSlides/notesSlide1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notesMasterIdLst>
    <p:notesMasterId r:id="rId13"/>
  </p:notesMasterIdLst>
  <p:sldIdLst>
    <p:sldId id="256" r:id="rId14"/>
    <p:sldId id="257" r:id="rId15"/>
    <p:sldId id="258" r:id="rId16"/>
    <p:sldId id="259" r:id="rId17"/>
    <p:sldId id="260" r:id="rId18"/>
    <p:sldId id="261" r:id="rId19"/>
    <p:sldId id="262" r:id="rId20"/>
    <p:sldId id="263" r:id="rId21"/>
    <p:sldId id="264" r:id="rId22"/>
    <p:sldId id="265" r:id="rId23"/>
    <p:sldId id="266" r:id="rId24"/>
    <p:sldId id="267" r:id="rId25"/>
    <p:sldId id="268" r:id="rId26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notesMaster" Target="notesMasters/notesMaster1.xml"/><Relationship Id="rId14" Type="http://schemas.openxmlformats.org/officeDocument/2006/relationships/slide" Target="slides/slide1.xml"/><Relationship Id="rId15" Type="http://schemas.openxmlformats.org/officeDocument/2006/relationships/slide" Target="slides/slide2.xml"/><Relationship Id="rId16" Type="http://schemas.openxmlformats.org/officeDocument/2006/relationships/slide" Target="slides/slide3.xml"/><Relationship Id="rId17" Type="http://schemas.openxmlformats.org/officeDocument/2006/relationships/slide" Target="slides/slide4.xml"/><Relationship Id="rId18" Type="http://schemas.openxmlformats.org/officeDocument/2006/relationships/slide" Target="slides/slide5.xml"/><Relationship Id="rId19" Type="http://schemas.openxmlformats.org/officeDocument/2006/relationships/slide" Target="slides/slide6.xml"/><Relationship Id="rId20" Type="http://schemas.openxmlformats.org/officeDocument/2006/relationships/slide" Target="slides/slide7.xml"/><Relationship Id="rId21" Type="http://schemas.openxmlformats.org/officeDocument/2006/relationships/slide" Target="slides/slide8.xml"/><Relationship Id="rId22" Type="http://schemas.openxmlformats.org/officeDocument/2006/relationships/slide" Target="slides/slide9.xml"/><Relationship Id="rId23" Type="http://schemas.openxmlformats.org/officeDocument/2006/relationships/slide" Target="slides/slide10.xml"/><Relationship Id="rId24" Type="http://schemas.openxmlformats.org/officeDocument/2006/relationships/slide" Target="slides/slide11.xml"/><Relationship Id="rId25" Type="http://schemas.openxmlformats.org/officeDocument/2006/relationships/slide" Target="slides/slide12.xml"/><Relationship Id="rId26" Type="http://schemas.openxmlformats.org/officeDocument/2006/relationships/slide" Target="slides/slide13.xml"/><Relationship Id="rId2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Klikněte pro přesun snímku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Klikněte pro úpravu formátu komentářů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&lt;záhlaví&gt;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0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&lt;datum/čas&gt;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1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>
              <a:buNone/>
            </a:pPr>
            <a:r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&lt;zápatí&gt;</a:t>
            </a:r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2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cs-CZ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buNone/>
            </a:pPr>
            <a:fld id="{17C85619-47DD-4D5F-8C00-888408A18216}" type="slidenum">
              <a:rPr b="0" lang="cs-CZ" sz="14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4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15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Chyby: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chybí event → kdokoliv může událost vyvolat (hra.KonecHry(9999)) nebo přepsat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KonecHry(Skore) bez ?. → NullReferenceException, pokud se nikdo nepřihlásil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dvakrát = místo += → druhé přiřazení přepíše první, label se nikdy neaktualizuje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  <a:p>
            <a:pPr marL="216000" indent="0">
              <a:lnSpc>
                <a:spcPct val="100000"/>
              </a:lnSpc>
              <a:buNone/>
            </a:pPr>
            <a:r>
              <a:rPr b="0" lang="cs-CZ" sz="2000" spc="-1" strike="noStrike">
                <a:solidFill>
                  <a:srgbClr val="000000"/>
                </a:solidFill>
                <a:latin typeface="Arial"/>
              </a:rPr>
              <a:t>- oprava: public event Action&lt;int&gt; KonecHry; KonecHry?.Invoke(Skore); ve formuláři +=</a:t>
            </a:r>
            <a:endParaRPr b="0" lang="cs-CZ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 type="sldNum" idx="6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>
              <a:lnSpc>
                <a:spcPct val="100000"/>
              </a:lnSpc>
              <a:buNone/>
              <a:defRPr b="0" lang="cs-CZ" sz="12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</a:pPr>
            <a:fld id="{665D84C6-7437-4425-8805-2E1B637CF627}" type="slidenum">
              <a:rPr b="0" lang="cs-CZ" sz="1200" spc="-1" strike="noStrike">
                <a:solidFill>
                  <a:srgbClr val="000000"/>
                </a:solidFill>
                <a:latin typeface="Times New Roman"/>
              </a:rPr>
              <a:t>&lt;číslo&gt;</a:t>
            </a:fld>
            <a:endParaRPr b="0" lang="cs-CZ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cs-CZ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A88D793-E2DF-4A3A-874D-0A78D3F878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37D70DC-8BC0-4AC1-A599-1B9732FDAF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921CFBF3-1B17-4D66-8C5F-99DA26E2E07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EDE9461-36E2-4C5C-9C9F-B263789E9678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4313B2A5-D041-45A9-912D-CBA492A3FE6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914400" y="2559240"/>
            <a:ext cx="505692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6224400" y="2559240"/>
            <a:ext cx="5056920" cy="3382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lnSpc>
                <a:spcPct val="120000"/>
              </a:lnSpc>
              <a:spcBef>
                <a:spcPts val="1417"/>
              </a:spcBef>
              <a:buNone/>
            </a:pP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261A6791-A38C-4E27-91BC-2B51F11F3DA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64A5609E-0BF3-4913-B488-37061AA50C8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2D3BCF60-4F66-48A3-8886-1FFE7E9DEB4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D3C66E09-C993-4172-AD3B-E73BAD764EF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84E4E2BE-7F79-4228-8698-01E165AD115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6B6D2764-FE53-4C61-9DAB-763A3F0AAA8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cs-CZ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5935320" cy="2696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Master title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dt" idx="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ftr" idx="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sldNum" idx="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F8FA0BE-CA19-42C9-829B-B21F338F67FC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Master title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k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o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M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a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r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x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 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y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o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n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h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r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o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u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r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h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i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h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v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dt" idx="4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" name="PlaceHolder 4"/>
          <p:cNvSpPr>
            <a:spLocks noGrp="1"/>
          </p:cNvSpPr>
          <p:nvPr>
            <p:ph type="ftr" idx="5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" name="PlaceHolder 5"/>
          <p:cNvSpPr>
            <a:spLocks noGrp="1"/>
          </p:cNvSpPr>
          <p:nvPr>
            <p:ph type="sldNum" idx="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00FBE2BC-20BA-4E6D-AF15-5FE3AD77504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98000" y="1401120"/>
            <a:ext cx="215532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li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k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o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d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it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M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a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r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ti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tl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y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l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838080" y="1401120"/>
            <a:ext cx="8231760" cy="4775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DC6BDC0-11A0-4F58-8EE6-8D3B1A5D071A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ic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k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to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di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M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a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er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tit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le 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st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yl</a:t>
            </a: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E7C72C74-F0DF-4367-8C47-690CD86411DC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dt" idx="1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ftr" idx="14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sldNum" idx="15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DC2C71C-E0F6-45AA-9C9A-CA9CE1A6AC60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9144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6172200" y="2849400"/>
            <a:ext cx="5105160" cy="321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dt" idx="16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ftr" idx="17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sldNum" idx="1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D4E00FB9-2BDF-4577-A452-18B02A4AB574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912600" y="3006720"/>
            <a:ext cx="508464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 fontScale="93333"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6172200" y="3006720"/>
            <a:ext cx="5182920" cy="31824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49" name="PlaceHolder 6"/>
          <p:cNvSpPr>
            <a:spLocks noGrp="1"/>
          </p:cNvSpPr>
          <p:nvPr>
            <p:ph type="dt" idx="1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0" name="PlaceHolder 7"/>
          <p:cNvSpPr>
            <a:spLocks noGrp="1"/>
          </p:cNvSpPr>
          <p:nvPr>
            <p:ph type="ftr" idx="20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8"/>
          <p:cNvSpPr>
            <a:spLocks noGrp="1"/>
          </p:cNvSpPr>
          <p:nvPr>
            <p:ph type="sldNum" idx="21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E9A40A5-D9D6-490E-BB78-2CE5410064F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dt" idx="22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ftr" idx="23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sldNum" idx="2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ABDBDF5-55D9-4183-9931-743BA1A7387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14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9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0" name="PlaceHolder 1"/>
          <p:cNvSpPr>
            <a:spLocks noGrp="1"/>
          </p:cNvSpPr>
          <p:nvPr>
            <p:ph type="dt" idx="2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 type="ftr" idx="26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 type="sldNum" idx="27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34F16462-577B-4046-9B66-EE316F91DC9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228600" indent="-228600" defTabSz="914400">
              <a:lnSpc>
                <a:spcPct val="12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Grandview Display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Grandview Display"/>
            </a:endParaRPr>
          </a:p>
          <a:p>
            <a:pPr lvl="2" marL="731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lvl="3" marL="1051560" indent="-28584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lvl="4" marL="1298520" indent="-228600" defTabSz="914400">
              <a:lnSpc>
                <a:spcPct val="12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dt" idx="28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ftr" idx="29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9" name="PlaceHolder 6"/>
          <p:cNvSpPr>
            <a:spLocks noGrp="1"/>
          </p:cNvSpPr>
          <p:nvPr>
            <p:ph type="sldNum" idx="3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C191DD6-47D1-4EC9-A3DA-C46B4F752DD3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" name="Straight Connector 6"/>
          <p:cNvCxnSpPr/>
          <p:nvPr/>
        </p:nvCxnSpPr>
        <p:spPr>
          <a:xfrm>
            <a:off x="990360" y="1030680"/>
            <a:ext cx="979200" cy="360"/>
          </a:xfrm>
          <a:prstGeom prst="straightConnector1">
            <a:avLst/>
          </a:prstGeom>
          <a:ln w="76200">
            <a:solidFill>
              <a:srgbClr val="1973eb"/>
            </a:solidFill>
          </a:ln>
        </p:spPr>
      </p:cxnSp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Click to edit Master title style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lnSpc>
                <a:spcPct val="12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Klikněte pro úpravu formátu textu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1" marL="864000" indent="-324000">
              <a:lnSpc>
                <a:spcPct val="12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Druhá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2" marL="1296000" indent="-288000">
              <a:lnSpc>
                <a:spcPct val="12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Třetí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3" marL="1728000" indent="-216000">
              <a:lnSpc>
                <a:spcPct val="12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Čtvrtá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4" marL="2160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Pátá úroveň osnovy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5" marL="2592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Šestá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  <a:p>
            <a:pPr lvl="6" marL="3024000" indent="-216000">
              <a:lnSpc>
                <a:spcPct val="12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Sedmá úroveň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912600" y="2934720"/>
            <a:ext cx="3859200" cy="2934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Click to edit Master text styles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 type="dt" idx="3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&lt;datum/čas&gt;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 type="ftr" idx="32"/>
          </p:nvPr>
        </p:nvSpPr>
        <p:spPr>
          <a:xfrm>
            <a:off x="6767640" y="6356520"/>
            <a:ext cx="40399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ctr">
              <a:buNone/>
            </a:pPr>
            <a:r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&lt;zápatí&gt;</a:t>
            </a:r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 type="sldNum" idx="33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B2E08629-54F8-4E3F-A513-3D5DEFA480C6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8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912600" y="1709640"/>
            <a:ext cx="9214560" cy="3159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800" spc="-1" strike="noStrike">
                <a:solidFill>
                  <a:schemeClr val="dk1"/>
                </a:solidFill>
                <a:latin typeface="Grandview Display"/>
              </a:rPr>
              <a:t>Delegáti a vlastní události</a:t>
            </a:r>
            <a:endParaRPr b="0" lang="en-US" sz="4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912600" y="5018400"/>
            <a:ext cx="7906680" cy="1073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Grandview Display"/>
              </a:rPr>
              <a:t>PROGRAMOVÁNÍ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 type="dt" idx="3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41C35117-093F-47A4-9F40-0C07812648B1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 type="sldNum" idx="3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F43AB03D-8BFA-4885-BBEB-F2E1BC20FF8F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912600" y="1463040"/>
            <a:ext cx="3859200" cy="1471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3200" spc="-1" strike="noStrike">
                <a:solidFill>
                  <a:schemeClr val="dk1"/>
                </a:solidFill>
                <a:latin typeface="Grandview Display"/>
              </a:rPr>
              <a:t>Události, které už znáte</a:t>
            </a:r>
            <a:endParaRPr b="0" lang="en-US" sz="32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5183280" y="987480"/>
            <a:ext cx="6171840" cy="4873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Ve WFA se k událostem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přihlašujeme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: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button1.Click += button1_Click;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textBox1.TextChanged += ...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Zatím jsme ale nikdy neřešili: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co přesně dělá operátor </a:t>
            </a:r>
            <a:r>
              <a:rPr b="0" lang="en-US" sz="1500" spc="-1" strike="noStrike">
                <a:solidFill>
                  <a:schemeClr val="dk1"/>
                </a:solidFill>
                <a:latin typeface="Consolas"/>
              </a:rPr>
              <a:t>+=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jak vytvořit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vlastní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událost, třeba KonecHry?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Odpověď na obojí jsou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delegáti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Cíl: oddělit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logiku aplikace</a:t>
            </a:r>
            <a:r>
              <a:rPr b="0" lang="en-US" sz="1700" spc="-1" strike="noStrike">
                <a:solidFill>
                  <a:schemeClr val="dk1"/>
                </a:solidFill>
                <a:latin typeface="Grandview Display"/>
              </a:rPr>
              <a:t> od </a:t>
            </a:r>
            <a:r>
              <a:rPr b="1" lang="en-US" sz="1700" spc="-1" strike="noStrike">
                <a:solidFill>
                  <a:schemeClr val="dk1"/>
                </a:solidFill>
                <a:latin typeface="Grandview Display"/>
              </a:rPr>
              <a:t>uživatelského rozhraní</a:t>
            </a:r>
            <a:endParaRPr b="0" lang="en-US" sz="17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 type="dt" idx="3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F4CB75EF-98AB-4592-8B67-D876752FF61B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 type="sldNum" idx="4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6DCD229B-30B0-4B8F-9584-22F9481F451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Delegát – typ pro metody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2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Proměnná obvykle drží číslo, text, objekt…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Delegát drží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odkaz na metodu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Deklarace určuje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signaturu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jaké parametry metoda přijímá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jaký typ vrací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Vejde se jakákoliv metoda se stejnou signaturou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Metodu pak zavoláme přes proměnnou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3" name="PlaceHolder 3"/>
          <p:cNvSpPr>
            <a:spLocks noGrp="1"/>
          </p:cNvSpPr>
          <p:nvPr>
            <p:ph type="dt" idx="4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E46D3805-DF93-4672-9039-7DF8210B0AB5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4" name="PlaceHolder 4"/>
          <p:cNvSpPr>
            <a:spLocks noGrp="1"/>
          </p:cNvSpPr>
          <p:nvPr>
            <p:ph type="sldNum" idx="4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20B05B2F-D61A-4014-8BAA-46C885ABCB77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5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delegate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Operace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a,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b);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static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Secti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a,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b) =&gt; a + b;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static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Vynasob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a,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b) =&gt; a * b;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Operace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op = Secti;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op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(3, 4));   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7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op = Vynasob;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op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(3, 4));   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12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Metoda jako parametr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Delegát umožní předat metodu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jako argument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Volaná metoda neví, jaký výpočet provede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o tom rozhoduje volající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Předání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chování jako dat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Využití: řazení podle kritéria, filtrování, zpětná volání (callback)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Princip, na kterém stojí LINQ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98" name="PlaceHolder 3"/>
          <p:cNvSpPr>
            <a:spLocks noGrp="1"/>
          </p:cNvSpPr>
          <p:nvPr>
            <p:ph type="dt" idx="4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515E7EA9-3BEC-44B4-B57D-16FB81446052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9" name="PlaceHolder 4"/>
          <p:cNvSpPr>
            <a:spLocks noGrp="1"/>
          </p:cNvSpPr>
          <p:nvPr>
            <p:ph type="sldNum" idx="4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A5C8B229-A8DB-42E4-ABD9-B690379DB396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0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static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Zpracuj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a,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b,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Operace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operace)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vysledek = 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operace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(a, b);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($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"Výsledek: {vysledek}"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Zpracuj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(5, 3, Secti);   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Výsledek: 8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Zpracuj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(5, 3, Vynasob);   </a:t>
            </a: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Výsledek: 15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912600" y="1371600"/>
            <a:ext cx="10442520" cy="939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Func a Action – vestavění delegáti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912600" y="2311200"/>
            <a:ext cx="508464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Action&lt;…&gt;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172200" y="2311200"/>
            <a:ext cx="5182920" cy="6951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914400">
              <a:lnSpc>
                <a:spcPct val="120000"/>
              </a:lnSpc>
              <a:spcBef>
                <a:spcPts val="1001"/>
              </a:spcBef>
              <a:buNone/>
              <a:tabLst>
                <a:tab algn="l" pos="0"/>
              </a:tabLst>
            </a:pPr>
            <a:r>
              <a:rPr b="1" lang="en-US" sz="1800" spc="299" strike="noStrike" cap="all">
                <a:solidFill>
                  <a:schemeClr val="dk1"/>
                </a:solidFill>
                <a:latin typeface="Grandview Display"/>
              </a:rPr>
              <a:t>Func&lt;…, TResult&gt;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dt" idx="4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FB65DBA0-C94D-4A84-A951-964DC97C283A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5" name="PlaceHolder 5"/>
          <p:cNvSpPr>
            <a:spLocks noGrp="1"/>
          </p:cNvSpPr>
          <p:nvPr>
            <p:ph type="sldNum" idx="4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5EFD019E-81F9-41F6-8EC4-B1D7BAA40111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6" name="TextBox 14"/>
          <p:cNvSpPr/>
          <p:nvPr/>
        </p:nvSpPr>
        <p:spPr>
          <a:xfrm>
            <a:off x="912600" y="3080160"/>
            <a:ext cx="508464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Metoda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nic nevrací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(void)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TextBox 15"/>
          <p:cNvSpPr/>
          <p:nvPr/>
        </p:nvSpPr>
        <p:spPr>
          <a:xfrm>
            <a:off x="6172200" y="3080160"/>
            <a:ext cx="5182920" cy="228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Metoda </a:t>
            </a:r>
            <a:r>
              <a:rPr b="1" lang="en-US" sz="1500" spc="-1" strike="noStrike">
                <a:solidFill>
                  <a:schemeClr val="dk1"/>
                </a:solidFill>
                <a:latin typeface="Grandview Display"/>
              </a:rPr>
              <a:t>něco vrací</a:t>
            </a: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 – poslední typ je návratový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Kód"/>
          <p:cNvSpPr/>
          <p:nvPr/>
        </p:nvSpPr>
        <p:spPr>
          <a:xfrm>
            <a:off x="912600" y="3750120"/>
            <a:ext cx="508464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Action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5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&gt; vypis = 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.WriteLine;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vypis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500" spc="-1" strike="noStrike">
                <a:solidFill>
                  <a:srgbClr val="a31515"/>
                </a:solidFill>
                <a:latin typeface="Consolas"/>
              </a:rPr>
              <a:t>"Ahoj!"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Action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5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5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&gt; soucet =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(a, b) =&gt; </a:t>
            </a:r>
            <a:r>
              <a:rPr b="0" lang="en-US" sz="15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(a + b);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500" spc="-1" strike="noStrike">
                <a:solidFill>
                  <a:srgbClr val="74531f"/>
                </a:solidFill>
                <a:latin typeface="Consolas"/>
              </a:rPr>
              <a:t>soucet</a:t>
            </a:r>
            <a:r>
              <a:rPr b="0" lang="en-US" sz="1500" spc="-1" strike="noStrike">
                <a:solidFill>
                  <a:srgbClr val="1e1e1e"/>
                </a:solidFill>
                <a:latin typeface="Consolas"/>
              </a:rPr>
              <a:t>(2, 3);         </a:t>
            </a:r>
            <a:r>
              <a:rPr b="0" lang="en-US" sz="1500" spc="-1" strike="noStrike">
                <a:solidFill>
                  <a:srgbClr val="008000"/>
                </a:solidFill>
                <a:latin typeface="Consolas"/>
              </a:rPr>
              <a:t>// 5</a:t>
            </a:r>
            <a:endParaRPr b="0" lang="cs-CZ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Kód"/>
          <p:cNvSpPr/>
          <p:nvPr/>
        </p:nvSpPr>
        <p:spPr>
          <a:xfrm>
            <a:off x="6172200" y="3750120"/>
            <a:ext cx="5182920" cy="239976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Func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 operace = Secti;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operace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(3, 4));  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7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Func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, </a:t>
            </a:r>
            <a:r>
              <a:rPr b="0" lang="en-US" sz="160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&gt; delka =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s =&gt; s.Length;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74531f"/>
                </a:solidFill>
                <a:latin typeface="Consolas"/>
              </a:rPr>
              <a:t>delka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600" spc="-1" strike="noStrike">
                <a:solidFill>
                  <a:srgbClr val="a31515"/>
                </a:solidFill>
                <a:latin typeface="Consolas"/>
              </a:rPr>
              <a:t>"abc"</a:t>
            </a:r>
            <a:r>
              <a:rPr b="0" lang="en-US" sz="1600" spc="-1" strike="noStrike">
                <a:solidFill>
                  <a:srgbClr val="1e1e1e"/>
                </a:solidFill>
                <a:latin typeface="Consolas"/>
              </a:rPr>
              <a:t>));   </a:t>
            </a:r>
            <a:r>
              <a:rPr b="0" lang="en-US" sz="1600" spc="-1" strike="noStrike">
                <a:solidFill>
                  <a:srgbClr val="008000"/>
                </a:solidFill>
                <a:latin typeface="Consolas"/>
              </a:rPr>
              <a:t>// 3</a:t>
            </a:r>
            <a:endParaRPr b="0" lang="cs-CZ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Multicast – proč += a ne =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Delegát může ukazovat na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více metod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najednou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+=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metodu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přidá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,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-=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odebere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=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by všechny předchozí metody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přepsal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Metody se volají v pořadí přidání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Přesně tohle se děje u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button1.Click += …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Click je delegát typu EventHandler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dt" idx="4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45353354-119B-4A35-B4FF-EAB13BE1E434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sldNum" idx="4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A6BC850B-4B4C-4725-BA4C-4F9E2A2030A4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4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Action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string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&gt; log =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null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log += zprava =&gt;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($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"[LOG] {zprava}"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log += zprava =&gt;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File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AppendAllText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"log.txt"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, zprava + 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"\n"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log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"Aplikace spuštěna."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8000"/>
                </a:solidFill>
                <a:latin typeface="Consolas"/>
              </a:rPr>
              <a:t>// zavolá obě metody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Vydavatel a odběratelé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16" name="PlaceHolder 2"/>
          <p:cNvSpPr>
            <a:spLocks noGrp="1"/>
          </p:cNvSpPr>
          <p:nvPr>
            <p:ph type="dt" idx="4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84D657FC-3329-41C2-97B7-03199BAA0FCE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7" name="PlaceHolder 3"/>
          <p:cNvSpPr>
            <a:spLocks noGrp="1"/>
          </p:cNvSpPr>
          <p:nvPr>
            <p:ph type="sldNum" idx="5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4748899B-A113-4D4D-B279-A8E80BB36992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8" name="Rounded Rectangle 14"/>
          <p:cNvSpPr/>
          <p:nvPr/>
        </p:nvSpPr>
        <p:spPr>
          <a:xfrm>
            <a:off x="914400" y="3150000"/>
            <a:ext cx="2999520" cy="1599480"/>
          </a:xfrm>
          <a:prstGeom prst="roundRect">
            <a:avLst>
              <a:gd name="adj" fmla="val 6000"/>
            </a:avLst>
          </a:prstGeom>
          <a:solidFill>
            <a:srgbClr val="197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ffff"/>
                </a:solidFill>
                <a:latin typeface="Grandview Display"/>
              </a:rPr>
              <a:t>Teplomer</a:t>
            </a:r>
            <a:endParaRPr b="0" lang="cs-CZ" sz="20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Grandview Display"/>
              </a:rPr>
              <a:t>vydavatel (publisher)</a:t>
            </a:r>
            <a:endParaRPr b="0" lang="cs-CZ" sz="15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500" spc="-1" strike="noStrike">
                <a:solidFill>
                  <a:srgbClr val="ffffff"/>
                </a:solidFill>
                <a:latin typeface="Grandview Display"/>
              </a:rPr>
              <a:t>vyvolá událost Prekroceno</a:t>
            </a:r>
            <a:endParaRPr b="0" lang="cs-CZ" sz="15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ounded Rectangle 15"/>
          <p:cNvSpPr/>
          <p:nvPr/>
        </p:nvSpPr>
        <p:spPr>
          <a:xfrm>
            <a:off x="7300080" y="2599920"/>
            <a:ext cx="3977280" cy="819720"/>
          </a:xfrm>
          <a:prstGeom prst="roundRect">
            <a:avLst>
              <a:gd name="adj" fmla="val 6000"/>
            </a:avLst>
          </a:prstGeom>
          <a:solidFill>
            <a:srgbClr val="25c8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Grandview Display"/>
              </a:rPr>
              <a:t>Výpis na obrazovku</a:t>
            </a:r>
            <a:endParaRPr b="0" lang="cs-CZ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Grandview Display"/>
              </a:rPr>
              <a:t>odběratel (+=)</a:t>
            </a:r>
            <a:endParaRPr b="0" lang="cs-CZ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0" name="Connector 16"/>
          <p:cNvCxnSpPr/>
          <p:nvPr/>
        </p:nvCxnSpPr>
        <p:spPr>
          <a:xfrm flipV="1">
            <a:off x="3994200" y="3009960"/>
            <a:ext cx="3225960" cy="940320"/>
          </a:xfrm>
          <a:prstGeom prst="straightConnector1">
            <a:avLst/>
          </a:prstGeom>
          <a:ln w="28575">
            <a:solidFill>
              <a:srgbClr val="0d1c3b"/>
            </a:solidFill>
            <a:tailEnd len="med" type="triangle" w="med"/>
          </a:ln>
        </p:spPr>
      </p:cxnSp>
      <p:sp>
        <p:nvSpPr>
          <p:cNvPr id="121" name="Rounded Rectangle 17"/>
          <p:cNvSpPr/>
          <p:nvPr/>
        </p:nvSpPr>
        <p:spPr>
          <a:xfrm>
            <a:off x="7300080" y="3600000"/>
            <a:ext cx="3977280" cy="819720"/>
          </a:xfrm>
          <a:prstGeom prst="roundRect">
            <a:avLst>
              <a:gd name="adj" fmla="val 6000"/>
            </a:avLst>
          </a:prstGeom>
          <a:solidFill>
            <a:srgbClr val="bf8e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Grandview Display"/>
              </a:rPr>
              <a:t>Zápis do logu</a:t>
            </a:r>
            <a:endParaRPr b="0" lang="cs-CZ" sz="17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Grandview Display"/>
              </a:rPr>
              <a:t>odběratel (+=)</a:t>
            </a:r>
            <a:endParaRPr b="0" lang="cs-CZ" sz="13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122" name="Connector 18"/>
          <p:cNvCxnSpPr/>
          <p:nvPr/>
        </p:nvCxnSpPr>
        <p:spPr>
          <a:xfrm>
            <a:off x="3994200" y="3949920"/>
            <a:ext cx="3225960" cy="60120"/>
          </a:xfrm>
          <a:prstGeom prst="straightConnector1">
            <a:avLst/>
          </a:prstGeom>
          <a:ln w="28575">
            <a:solidFill>
              <a:srgbClr val="0d1c3b"/>
            </a:solidFill>
            <a:tailEnd len="med" type="triangle" w="med"/>
          </a:ln>
        </p:spPr>
      </p:cxnSp>
      <p:sp>
        <p:nvSpPr>
          <p:cNvPr id="123" name="Rounded Rectangle 19"/>
          <p:cNvSpPr/>
          <p:nvPr/>
        </p:nvSpPr>
        <p:spPr>
          <a:xfrm>
            <a:off x="7300080" y="4600080"/>
            <a:ext cx="3977280" cy="819720"/>
          </a:xfrm>
          <a:prstGeom prst="roundRect">
            <a:avLst>
              <a:gd name="adj" fmla="val 6000"/>
            </a:avLst>
          </a:prstGeom>
          <a:solidFill>
            <a:srgbClr val="fe73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182880" rIns="182880" tIns="182880" bIns="182880" anchor="t">
            <a:no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Grandview Display"/>
              </a:rPr>
              <a:t>Spuštění alarmu</a:t>
            </a:r>
            <a:endParaRPr b="0" lang="cs-CZ" sz="17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601"/>
              </a:spcBef>
            </a:pPr>
            <a:r>
              <a:rPr b="0" lang="en-US" sz="1300" spc="-1" strike="noStrike">
                <a:solidFill>
                  <a:srgbClr val="ffffff"/>
                </a:solidFill>
                <a:latin typeface="Grandview Display"/>
              </a:rPr>
              <a:t>odběratel (+=)</a:t>
            </a:r>
            <a:endParaRPr b="0" lang="cs-CZ" sz="1300" spc="-1" strike="noStrike">
              <a:solidFill>
                <a:srgbClr val="ffffff"/>
              </a:solidFill>
              <a:latin typeface="Arial"/>
            </a:endParaRPr>
          </a:p>
        </p:txBody>
      </p:sp>
      <p:cxnSp>
        <p:nvCxnSpPr>
          <p:cNvPr id="124" name="Connector 20"/>
          <p:cNvCxnSpPr/>
          <p:nvPr/>
        </p:nvCxnSpPr>
        <p:spPr>
          <a:xfrm>
            <a:off x="3994200" y="3949920"/>
            <a:ext cx="3225960" cy="1060200"/>
          </a:xfrm>
          <a:prstGeom prst="straightConnector1">
            <a:avLst/>
          </a:prstGeom>
          <a:ln w="28575">
            <a:solidFill>
              <a:srgbClr val="0d1c3b"/>
            </a:solidFill>
            <a:tailEnd len="med" type="triangle" w="med"/>
          </a:ln>
        </p:spPr>
      </p:cxnSp>
      <p:sp>
        <p:nvSpPr>
          <p:cNvPr id="125" name="TextBox 21"/>
          <p:cNvSpPr/>
          <p:nvPr/>
        </p:nvSpPr>
        <p:spPr>
          <a:xfrm>
            <a:off x="4200120" y="2549880"/>
            <a:ext cx="2899800" cy="27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d1c3b"/>
                </a:solidFill>
                <a:latin typeface="Grandview Display"/>
              </a:rPr>
              <a:t>event</a:t>
            </a:r>
            <a:endParaRPr b="0" lang="cs-CZ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TextBox 22"/>
          <p:cNvSpPr/>
          <p:nvPr/>
        </p:nvSpPr>
        <p:spPr>
          <a:xfrm>
            <a:off x="914400" y="5000040"/>
            <a:ext cx="2999520" cy="4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400" spc="-1" strike="noStrike">
                <a:solidFill>
                  <a:schemeClr val="dk1"/>
                </a:solidFill>
                <a:latin typeface="Grandview Display"/>
              </a:rPr>
              <a:t>Vydavatel neví, kdo poslouchá – jen oznámí, že se něco stalo</a:t>
            </a:r>
            <a:endParaRPr b="0" lang="cs-CZ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Vlastní událost – event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8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Klíčové slovo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event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chrání delegáta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Zvenčí lze jen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+=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a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-=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nelze událost přepsat ani vyvolat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Vyvolat ji smí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jen vlastní třída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?.Invoke()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vyvolá, jen pokud někdo poslouchá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bez posluchačů je událost null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29" name="PlaceHolder 3"/>
          <p:cNvSpPr>
            <a:spLocks noGrp="1"/>
          </p:cNvSpPr>
          <p:nvPr>
            <p:ph type="dt" idx="5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026491FA-86F9-43BB-AEBD-FD60833F8F40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4"/>
          <p:cNvSpPr>
            <a:spLocks noGrp="1"/>
          </p:cNvSpPr>
          <p:nvPr>
            <p:ph type="sldNum" idx="5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CDE8C4AB-5681-4634-9699-D1D0646D4DD5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1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Teplomer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event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Action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&gt; Prekroceno;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Hranice {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; } = 30;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Nastav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t)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if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(t &gt; Hranice)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    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Prekroceno?.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Invoke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(t);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Teplomer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tep = </a:t>
            </a:r>
            <a:r>
              <a:rPr b="0" lang="en-US" sz="13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Teplomer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tep.Prekroceno += t =&gt;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3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($</a:t>
            </a:r>
            <a:r>
              <a:rPr b="0" lang="en-US" sz="1350" spc="-1" strike="noStrike">
                <a:solidFill>
                  <a:srgbClr val="a31515"/>
                </a:solidFill>
                <a:latin typeface="Consolas"/>
              </a:rPr>
              <a:t>"Pozor: {t} °C"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tep.</a:t>
            </a:r>
            <a:r>
              <a:rPr b="0" lang="en-US" sz="1350" spc="-1" strike="noStrike">
                <a:solidFill>
                  <a:srgbClr val="74531f"/>
                </a:solidFill>
                <a:latin typeface="Consolas"/>
              </a:rPr>
              <a:t>Nastav</a:t>
            </a:r>
            <a:r>
              <a:rPr b="0" lang="en-US" sz="1350" spc="-1" strike="noStrike">
                <a:solidFill>
                  <a:srgbClr val="1e1e1e"/>
                </a:solidFill>
                <a:latin typeface="Consolas"/>
              </a:rPr>
              <a:t>(35);</a:t>
            </a:r>
            <a:endParaRPr b="0" lang="cs-CZ" sz="13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Delegát vs. event – co smí kód zvenčí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dt" idx="53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C180EDAB-CAC2-46A9-860D-D8620360AB4E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sldNum" idx="54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5AA7696E-FE05-43B8-B3B4-A155794A73CA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graphicFrame>
        <p:nvGraphicFramePr>
          <p:cNvPr id="135" name="Table 14"/>
          <p:cNvGraphicFramePr/>
          <p:nvPr/>
        </p:nvGraphicFramePr>
        <p:xfrm>
          <a:off x="914400" y="2599920"/>
          <a:ext cx="10362960" cy="2852640"/>
        </p:xfrm>
        <a:graphic>
          <a:graphicData uri="http://schemas.openxmlformats.org/drawingml/2006/table">
            <a:tbl>
              <a:tblPr/>
              <a:tblGrid>
                <a:gridCol w="3730680"/>
                <a:gridCol w="3315960"/>
                <a:gridCol w="3315960"/>
              </a:tblGrid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Operace zvenčí třídy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public delegát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1" lang="en-US" sz="1700" spc="-1" strike="noStrike">
                          <a:solidFill>
                            <a:srgbClr val="ffffff"/>
                          </a:solidFill>
                          <a:latin typeface="Grandview Display"/>
                        </a:rPr>
                        <a:t>public event</a:t>
                      </a:r>
                      <a:endParaRPr b="0" lang="cs-CZ" sz="17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1973eb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obj.Udalost += metoda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obj.Udalost -= metoda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obj.Udalost = metoda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 – přepíše ostatní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 – chyba kompilace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obj.Udalost(...)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 – kdokoliv ji vyvolá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 – jen vlastní třída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4f5f8"/>
                    </a:solidFill>
                  </a:tcPr>
                </a:tc>
              </a:tr>
              <a:tr h="475200"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obj.Udalost = null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ano – smaže posluchače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defTabSz="914400">
                        <a:lnSpc>
                          <a:spcPct val="100000"/>
                        </a:lnSpc>
                      </a:pPr>
                      <a:r>
                        <a:rPr b="0" lang="en-US" sz="1700" spc="-1" strike="noStrike">
                          <a:solidFill>
                            <a:srgbClr val="000000"/>
                          </a:solidFill>
                          <a:latin typeface="Grandview Display"/>
                        </a:rPr>
                        <a:t>ne</a:t>
                      </a:r>
                      <a:endParaRPr b="0" lang="cs-CZ" sz="1700" spc="-1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Konvence: EventHandler&lt;T&gt;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WinForms události mají tvar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(object sender, EventArgs e)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sender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který objekt událost vyvolal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e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doplňující data události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Vlastní data: třída odvozená od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EventArgs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EventHandler&lt;T&gt;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– vestavěný generický delegát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Konvenci dodržujte, pokud událost používá více lidí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dt" idx="55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968A9C68-0748-4426-A4FD-B838971DE50D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sldNum" idx="56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5EB26638-0EE9-407E-9D69-803BBD330A40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0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TeplotaEventArgs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: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EventArgs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double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Teplota {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init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008000"/>
                </a:solidFill>
                <a:latin typeface="Consolas"/>
              </a:rPr>
              <a:t>// v třídě Teplomer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event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EventHandler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TeplotaEventArgs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&gt;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Prekroceno;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Prekroceno?.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Invoke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this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,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0000ff"/>
                </a:solidFill>
                <a:latin typeface="Consolas"/>
              </a:rPr>
              <a:t>new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TeplotaEventArgs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{ Teplota = t });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008000"/>
                </a:solidFill>
                <a:latin typeface="Consolas"/>
              </a:rPr>
              <a:t>// odběratel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tep.Prekroceno += (sender, e) =&gt;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45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45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450" spc="-1" strike="noStrike">
                <a:solidFill>
                  <a:srgbClr val="1e1e1e"/>
                </a:solidFill>
                <a:latin typeface="Consolas"/>
              </a:rPr>
              <a:t>(e.Teplota);</a:t>
            </a:r>
            <a:endParaRPr b="0" lang="cs-CZ" sz="14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Odhlášení z události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2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Vydavatel drží odkaz na všechny odběratele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Dokud je přihlášen, </a:t>
            </a:r>
            <a:r>
              <a:rPr b="1" lang="en-US" sz="1600" spc="-1" strike="noStrike">
                <a:solidFill>
                  <a:schemeClr val="dk1"/>
                </a:solidFill>
                <a:latin typeface="Grandview Display"/>
              </a:rPr>
              <a:t>Garbage collector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ho neuvolní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i když už objekt nikdo jiný nepoužívá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Důsledek: únik paměti a „duchové“ reagující na události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Kdo se přihlásí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+=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, ten se i odhlásí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-=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Lambdu zapsanou přímo v </a:t>
            </a:r>
            <a:r>
              <a:rPr b="0" lang="en-US" sz="1600" spc="-1" strike="noStrike">
                <a:solidFill>
                  <a:schemeClr val="dk1"/>
                </a:solidFill>
                <a:latin typeface="Consolas"/>
              </a:rPr>
              <a:t>+=</a:t>
            </a: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 už odhlásit nejde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3" name="PlaceHolder 3"/>
          <p:cNvSpPr>
            <a:spLocks noGrp="1"/>
          </p:cNvSpPr>
          <p:nvPr>
            <p:ph type="dt" idx="57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CEF1B390-84A8-439F-9D78-F3ACB9E2669B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4" name="PlaceHolder 4"/>
          <p:cNvSpPr>
            <a:spLocks noGrp="1"/>
          </p:cNvSpPr>
          <p:nvPr>
            <p:ph type="sldNum" idx="58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2A7DFD83-7473-4B9D-846F-1EF692E244BA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5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Panel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Teplomer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tep;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Panel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Teplomer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t)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tep = t;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tep.Prekroceno += Zobraz;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74531f"/>
                </a:solidFill>
                <a:latin typeface="Consolas"/>
              </a:rPr>
              <a:t>Zobraz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object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s,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TeplotaEventArgs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e)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=&gt; </a:t>
            </a:r>
            <a:r>
              <a:rPr b="0" lang="en-US" sz="1200" spc="-1" strike="noStrike">
                <a:solidFill>
                  <a:srgbClr val="2b91af"/>
                </a:solidFill>
                <a:latin typeface="Consolas"/>
              </a:rPr>
              <a:t>Console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00" spc="-1" strike="noStrike">
                <a:solidFill>
                  <a:srgbClr val="74531f"/>
                </a:solidFill>
                <a:latin typeface="Consolas"/>
              </a:rPr>
              <a:t>WriteLine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(e.Teplota);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00" spc="-1" strike="noStrike">
                <a:solidFill>
                  <a:srgbClr val="74531f"/>
                </a:solidFill>
                <a:latin typeface="Consolas"/>
              </a:rPr>
              <a:t>Zavri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tep.Prekroceno -= Zobraz;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Code review – co je špatně?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/>
          </p:nvPr>
        </p:nvSpPr>
        <p:spPr>
          <a:xfrm>
            <a:off x="914400" y="2649960"/>
            <a:ext cx="4699800" cy="3549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Logiku hry napsal AI asistent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Formulář se přihlásí k události KonecHry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600" spc="-1" strike="noStrike">
                <a:solidFill>
                  <a:schemeClr val="dk1"/>
                </a:solidFill>
                <a:latin typeface="Grandview Display"/>
              </a:rPr>
              <a:t>Najděte problémy:</a:t>
            </a:r>
            <a:endParaRPr b="0" lang="en-US" sz="16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může někdo zvenčí událost zneužít?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co když se nikdo nepřihlásí?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  <a:p>
            <a:pPr lvl="1" marL="493920" indent="-228600" defTabSz="914400">
              <a:lnSpc>
                <a:spcPct val="110000"/>
              </a:lnSpc>
              <a:spcBef>
                <a:spcPts val="499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1500" spc="-1" strike="noStrike">
                <a:solidFill>
                  <a:schemeClr val="dk1"/>
                </a:solidFill>
                <a:latin typeface="Grandview Display"/>
              </a:rPr>
              <a:t>proč formulář nedostane obě zprávy?</a:t>
            </a:r>
            <a:endParaRPr b="0" lang="en-US" sz="15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dt" idx="59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7B1E389C-C3F6-4074-A50F-0766C57ACE7F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sldNum" idx="60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027B155F-CFDE-458B-93C0-10878A809EDA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0" name="Kód"/>
          <p:cNvSpPr/>
          <p:nvPr/>
        </p:nvSpPr>
        <p:spPr>
          <a:xfrm>
            <a:off x="5799960" y="2649960"/>
            <a:ext cx="5477400" cy="3549600"/>
          </a:xfrm>
          <a:prstGeom prst="roundRect">
            <a:avLst>
              <a:gd name="adj" fmla="val 4000"/>
            </a:avLst>
          </a:prstGeom>
          <a:solidFill>
            <a:srgbClr val="f4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wrap="none" lIns="164520" rIns="164520" tIns="164520" bIns="164520" anchor="ctr">
            <a:noAutofit/>
          </a:bodyPr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class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Hra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Action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&lt;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&gt; KonecHry;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int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Skore {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get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private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set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 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public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0000ff"/>
                </a:solidFill>
                <a:latin typeface="Consolas"/>
              </a:rPr>
              <a:t>void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Prohra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()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{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    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KonecHry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(Skore);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   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}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ve formuláři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hra.KonecHry = s =&gt; labelSkore.Text = $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"{s}"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hra.KonecHry = s =&gt; </a:t>
            </a:r>
            <a:r>
              <a:rPr b="0" lang="en-US" sz="1250" spc="-1" strike="noStrike">
                <a:solidFill>
                  <a:srgbClr val="2b91af"/>
                </a:solidFill>
                <a:latin typeface="Consolas"/>
              </a:rPr>
              <a:t>MessageBox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Show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</a:t>
            </a:r>
            <a:r>
              <a:rPr b="0" lang="en-US" sz="1250" spc="-1" strike="noStrike">
                <a:solidFill>
                  <a:srgbClr val="a31515"/>
                </a:solidFill>
                <a:latin typeface="Consolas"/>
              </a:rPr>
              <a:t>"Konec!"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 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008000"/>
                </a:solidFill>
                <a:latin typeface="Consolas"/>
              </a:rPr>
              <a:t>// jinde v programu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  <a:p>
            <a:pPr defTabSz="457200">
              <a:lnSpc>
                <a:spcPct val="100000"/>
              </a:lnSpc>
            </a:pP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hra.</a:t>
            </a:r>
            <a:r>
              <a:rPr b="0" lang="en-US" sz="1250" spc="-1" strike="noStrike">
                <a:solidFill>
                  <a:srgbClr val="74531f"/>
                </a:solidFill>
                <a:latin typeface="Consolas"/>
              </a:rPr>
              <a:t>KonecHry</a:t>
            </a:r>
            <a:r>
              <a:rPr b="0" lang="en-US" sz="1250" spc="-1" strike="noStrike">
                <a:solidFill>
                  <a:srgbClr val="1e1e1e"/>
                </a:solidFill>
                <a:latin typeface="Consolas"/>
              </a:rPr>
              <a:t>(9999);</a:t>
            </a:r>
            <a:endParaRPr b="0" lang="cs-CZ" sz="12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PlaceHolder 1"/>
          <p:cNvSpPr>
            <a:spLocks noGrp="1"/>
          </p:cNvSpPr>
          <p:nvPr>
            <p:ph type="title"/>
          </p:nvPr>
        </p:nvSpPr>
        <p:spPr>
          <a:xfrm>
            <a:off x="914400" y="1371600"/>
            <a:ext cx="10362960" cy="1187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914400">
              <a:lnSpc>
                <a:spcPct val="100000"/>
              </a:lnSpc>
              <a:buNone/>
            </a:pPr>
            <a:r>
              <a:rPr b="0" lang="en-US" sz="4000" spc="-1" strike="noStrike">
                <a:solidFill>
                  <a:schemeClr val="dk1"/>
                </a:solidFill>
                <a:latin typeface="Grandview Display"/>
              </a:rPr>
              <a:t>Praxe – oddělení logiky od UI</a:t>
            </a:r>
            <a:endParaRPr b="0" lang="en-US" sz="4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2" name="PlaceHolder 2"/>
          <p:cNvSpPr>
            <a:spLocks noGrp="1"/>
          </p:cNvSpPr>
          <p:nvPr>
            <p:ph/>
          </p:nvPr>
        </p:nvSpPr>
        <p:spPr>
          <a:xfrm>
            <a:off x="914400" y="2559240"/>
            <a:ext cx="10362960" cy="3382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Přepracujte svou WFA hru z grafiky (míček, pálka…)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marL="493920" indent="-22860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veškerá herní logika do samostatné třídy Hra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marL="493920" indent="-22860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Hra nesmí znát formulář ani žádnou komponentu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Hra vyvolává události: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marL="493920" indent="-228600" defTabSz="914400">
              <a:lnSpc>
                <a:spcPct val="110000"/>
              </a:lnSpc>
              <a:spcBef>
                <a:spcPts val="499"/>
              </a:spcBef>
              <a:buNone/>
              <a:tabLst>
                <a:tab algn="l" pos="0"/>
              </a:tabLst>
            </a:pPr>
            <a:r>
              <a:rPr b="0" lang="en-US" sz="1800" spc="-1" strike="noStrike">
                <a:solidFill>
                  <a:schemeClr val="dk1"/>
                </a:solidFill>
                <a:latin typeface="Grandview Display"/>
              </a:rPr>
              <a:t>SkoreZmeneno, ZivotZtracen, KonecHry</a:t>
            </a:r>
            <a:endParaRPr b="0" lang="en-US" sz="18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Formulář se přihlásí a jen aktualizuje UI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  <a:p>
            <a:pPr marL="228600" indent="-228600" defTabSz="914400">
              <a:lnSpc>
                <a:spcPct val="110000"/>
              </a:lnSpc>
              <a:spcBef>
                <a:spcPts val="1001"/>
              </a:spcBef>
              <a:buClr>
                <a:srgbClr val="000000"/>
              </a:buClr>
              <a:buSzPct val="87000"/>
              <a:buFont typeface="Arial"/>
              <a:buChar char="•"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/>
                </a:solidFill>
                <a:latin typeface="Grandview Display"/>
              </a:rPr>
              <a:t>Bonus: stejnou třídu Hra použijte i v konzolové verzi</a:t>
            </a:r>
            <a:endParaRPr b="0" lang="en-US" sz="2000" spc="-1" strike="noStrike">
              <a:solidFill>
                <a:schemeClr val="dk1"/>
              </a:solidFill>
              <a:latin typeface="Grandview Display"/>
            </a:endParaRPr>
          </a:p>
        </p:txBody>
      </p:sp>
      <p:sp>
        <p:nvSpPr>
          <p:cNvPr id="153" name="PlaceHolder 3"/>
          <p:cNvSpPr>
            <a:spLocks noGrp="1"/>
          </p:cNvSpPr>
          <p:nvPr>
            <p:ph type="dt" idx="61"/>
          </p:nvPr>
        </p:nvSpPr>
        <p:spPr>
          <a:xfrm>
            <a:off x="912600" y="6356520"/>
            <a:ext cx="274284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defTabSz="457200">
              <a:lnSpc>
                <a:spcPct val="100000"/>
              </a:lnSpc>
              <a:spcAft>
                <a:spcPts val="601"/>
              </a:spcAft>
              <a:buNone/>
            </a:pPr>
            <a:fld id="{56E7CFD8-E89D-4220-8DEE-A7409EFF538D}" type="datetime1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10/02/2026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4" name="PlaceHolder 4"/>
          <p:cNvSpPr>
            <a:spLocks noGrp="1"/>
          </p:cNvSpPr>
          <p:nvPr>
            <p:ph type="sldNum" idx="62"/>
          </p:nvPr>
        </p:nvSpPr>
        <p:spPr>
          <a:xfrm>
            <a:off x="10807920" y="6356520"/>
            <a:ext cx="7225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spcAft>
                <a:spcPts val="601"/>
              </a:spcAft>
              <a:buNone/>
              <a:defRPr b="1" lang="en-US" sz="900" spc="299" strike="noStrike" cap="all">
                <a:solidFill>
                  <a:schemeClr val="dk1"/>
                </a:solidFill>
                <a:latin typeface="Grandview Display"/>
              </a:defRPr>
            </a:lvl1pPr>
          </a:lstStyle>
          <a:p>
            <a:pPr indent="0" algn="r" defTabSz="457200">
              <a:lnSpc>
                <a:spcPct val="100000"/>
              </a:lnSpc>
              <a:spcAft>
                <a:spcPts val="601"/>
              </a:spcAft>
              <a:buNone/>
            </a:pPr>
            <a:fld id="{01636910-6F82-4CBB-BC3C-E50E14FE1485}" type="slidenum">
              <a:rPr b="1" lang="en-US" sz="900" spc="299" strike="noStrike" cap="all">
                <a:solidFill>
                  <a:schemeClr val="dk1"/>
                </a:solidFill>
                <a:latin typeface="Grandview Display"/>
              </a:rPr>
              <a:t>&lt;číslo&gt;</a:t>
            </a:fld>
            <a:endParaRPr b="0" lang="cs-CZ" sz="9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DashVTI">
  <a:themeElements>
    <a:clrScheme name="DashVTI">
      <a:dk1>
        <a:srgbClr val="000000"/>
      </a:dk1>
      <a:lt1>
        <a:srgbClr val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 pitchFamily="0" charset="1"/>
        <a:ea typeface=""/>
        <a:cs typeface=""/>
      </a:majorFont>
      <a:minorFont>
        <a:latin typeface="Grandview Display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551E01F061E674F96D9948F82E90CC0" ma:contentTypeVersion="4" ma:contentTypeDescription="Vytvoří nový dokument" ma:contentTypeScope="" ma:versionID="0ed929cbc1eb582767fc023707286eaf">
  <xsd:schema xmlns:xsd="http://www.w3.org/2001/XMLSchema" xmlns:xs="http://www.w3.org/2001/XMLSchema" xmlns:p="http://schemas.microsoft.com/office/2006/metadata/properties" xmlns:ns2="5f0cc4f6-0c3c-4ea8-92ec-990817b169a4" targetNamespace="http://schemas.microsoft.com/office/2006/metadata/properties" ma:root="true" ma:fieldsID="dc4185c9b68f4bb432064f2de35ca5b8" ns2:_="">
    <xsd:import namespace="5f0cc4f6-0c3c-4ea8-92ec-990817b169a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f0cc4f6-0c3c-4ea8-92ec-990817b169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03DA256-BEF3-4703-AFA0-C69E0571B414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503566E-0711-4326-999B-C5E7A9DBF8E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24F53EF-9926-4E19-812B-E852BC969F57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451</TotalTime>
  <Application>LibreOffice/24.2.7.2$Linux_X86_64 LibreOffice_project/420$Build-2</Application>
  <AppVersion>15.0000</AppVersion>
  <Words>171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2022-09-21T15:44:15Z</dcterms:created>
  <dc:creator>Sládeček David</dc:creator>
  <dc:description/>
  <dc:language>cs-CZ</dc:language>
  <cp:lastModifiedBy>David Sládeček</cp:lastModifiedBy>
  <dcterms:modified xsi:type="dcterms:W3CDTF">2026-10-02T13:59:18Z</dcterms:modified>
  <cp:revision>43</cp:revision>
  <dc:subject/>
  <dc:title>Programování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mplianceAssetId">
    <vt:lpwstr/>
  </property>
  <property fmtid="{D5CDD505-2E9C-101B-9397-08002B2CF9AE}" pid="3" name="ContentTypeId">
    <vt:lpwstr>0x0101001551E01F061E674F96D9948F82E90CC0</vt:lpwstr>
  </property>
  <property fmtid="{D5CDD505-2E9C-101B-9397-08002B2CF9AE}" pid="4" name="Notes">
    <vt:i4>1</vt:i4>
  </property>
  <property fmtid="{D5CDD505-2E9C-101B-9397-08002B2CF9AE}" pid="5" name="Order">
    <vt:r8>5200</vt:r8>
  </property>
  <property fmtid="{D5CDD505-2E9C-101B-9397-08002B2CF9AE}" pid="6" name="PresentationFormat">
    <vt:lpwstr>Širokoúhlá obrazovka</vt:lpwstr>
  </property>
  <property fmtid="{D5CDD505-2E9C-101B-9397-08002B2CF9AE}" pid="7" name="Slides">
    <vt:i4>7</vt:i4>
  </property>
  <property fmtid="{D5CDD505-2E9C-101B-9397-08002B2CF9AE}" pid="8" name="TemplateUrl">
    <vt:lpwstr/>
  </property>
  <property fmtid="{D5CDD505-2E9C-101B-9397-08002B2CF9AE}" pid="9" name="TriggerFlowInfo">
    <vt:lpwstr/>
  </property>
  <property fmtid="{D5CDD505-2E9C-101B-9397-08002B2CF9AE}" pid="10" name="_ExtendedDescription">
    <vt:lpwstr/>
  </property>
  <property fmtid="{D5CDD505-2E9C-101B-9397-08002B2CF9AE}" pid="11" name="_SharedFileIndex">
    <vt:lpwstr/>
  </property>
  <property fmtid="{D5CDD505-2E9C-101B-9397-08002B2CF9AE}" pid="12" name="_SourceUrl">
    <vt:lpwstr/>
  </property>
  <property fmtid="{D5CDD505-2E9C-101B-9397-08002B2CF9AE}" pid="13" name="xd_ProgID">
    <vt:lpwstr/>
  </property>
  <property fmtid="{D5CDD505-2E9C-101B-9397-08002B2CF9AE}" pid="14" name="xd_Signature">
    <vt:bool>0</vt:bool>
  </property>
</Properties>
</file>