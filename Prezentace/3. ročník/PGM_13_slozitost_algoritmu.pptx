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12"/>
  </p:notesMasterIdLst>
  <p:sldIdLst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09-03T05:44:59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00000000-0000-0000-0000-000000000000}"/>
    <pc:docChg chg="mod modSld addMainMaster delMainMaster">
      <pc:chgData name="Sládeček David" userId="S::sladecek@hradebni.cz::474d93f0-3a32-49cc-b837-47806091b590" providerId="AD" clId="Web-{00000000-0000-0000-0000-000000000000}" dt="2026-09-03T05:46:01.088" v="17"/>
      <pc:docMkLst>
        <pc:docMk/>
      </pc:docMkLst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4:55.555" v="13" actId="20577"/>
        <pc:sldMkLst>
          <pc:docMk/>
          <pc:sldMk cId="1179415898" sldId="256"/>
        </pc:sldMkLst>
        <pc:spChg chg="mod ord">
          <ac:chgData name="Sládeček David" userId="S::sladecek@hradebni.cz::474d93f0-3a32-49cc-b837-47806091b590" providerId="AD" clId="Web-{00000000-0000-0000-0000-000000000000}" dt="2026-09-03T05:44:46.039" v="10" actId="20577"/>
          <ac:spMkLst>
            <pc:docMk/>
            <pc:sldMk cId="1179415898" sldId="256"/>
            <ac:spMk id="2" creationId="{37C90CD6-0E54-5071-9182-36048610B614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55.555" v="13" actId="20577"/>
          <ac:spMkLst>
            <pc:docMk/>
            <pc:sldMk cId="1179415898" sldId="256"/>
            <ac:spMk id="3" creationId="{EE364F67-BE5F-AA7F-9525-0F7D636F30F1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8" creationId="{85AE27A1-125B-7955-BB01-DB47E1984921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9" creationId="{C0782607-67EF-47AC-96DF-A7DE2A282CCB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0" creationId="{090B1A9B-4205-8525-E5AA-27B99868A41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1" creationId="{65351FED-1024-4E4A-BE3B-371ABFCDF67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2" creationId="{2B584676-79BC-4E35-6927-8126B364614D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3" creationId="{6692CD4C-1BDD-4687-BFFE-33F1462F855E}"/>
          </ac:spMkLst>
        </pc:spChg>
        <pc:picChg chg="del">
          <ac:chgData name="Sládeček David" userId="S::sladecek@hradebni.cz::474d93f0-3a32-49cc-b837-47806091b590" providerId="AD" clId="Web-{00000000-0000-0000-0000-000000000000}" dt="2026-09-03T05:44:31.741" v="1"/>
          <ac:picMkLst>
            <pc:docMk/>
            <pc:sldMk cId="1179415898" sldId="256"/>
            <ac:picMk id="5" creationId="{DF8F8E36-46E3-C140-472F-2A2C04AC366E}"/>
          </ac:picMkLst>
        </pc:pic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31.931" v="14"/>
        <pc:sldMkLst>
          <pc:docMk/>
          <pc:sldMk cId="1193411076" sldId="257"/>
        </pc:sldMkLst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2" creationId="{C2ABE8DD-861D-6DE5-4EB8-111F9340CB2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3" creationId="{65972E93-DAC9-E513-56E0-FAE4C410CF5A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8" creationId="{B04C8FDB-7636-E099-933A-56FA7B97D75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0" creationId="{D695048C-4ED8-1785-CE5A-487FCF825C4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2" creationId="{67D57CBD-615F-100D-50B2-90B3CAFEB46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4" creationId="{16149381-361D-52A0-14E9-6E4EB5378B3B}"/>
          </ac:spMkLst>
        </pc:sp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42.978" v="15"/>
        <pc:sldMkLst>
          <pc:docMk/>
          <pc:sldMk cId="3505840516" sldId="258"/>
        </pc:sldMkLst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2" creationId="{AB386235-FE3A-529E-ABE4-2D0F0B9610CE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3" creationId="{232C0A67-6AAD-4B74-66BE-EE8315B5FD2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1" creationId="{C4915C41-4C4D-22DA-6C1D-8EDCD60CBD6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3" creationId="{70C36DC6-11A5-C29B-C763-7C78570966D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5" creationId="{E622008F-6F8C-F456-F22A-BD8F931FB1F8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42.978" v="15"/>
          <ac:picMkLst>
            <pc:docMk/>
            <pc:sldMk cId="3505840516" sldId="258"/>
            <ac:picMk id="1026" creationId="{B200EB5D-7C8D-FFC8-A35F-45486B972532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196183517" sldId="259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2" creationId="{CC085EB1-21A1-CD43-A142-E14178B802F8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4" creationId="{F5FE7AC0-A3B1-E3C0-FBD1-32FCB56D6E9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6" creationId="{50EDE671-98A9-5358-733F-213EF1E92BAD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9" creationId="{3648A306-1FEE-D803-2355-BF6400B690C5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11" creationId="{2DA7B9AA-1866-F0CF-B410-4AC99794489B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946532546" sldId="261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2" creationId="{3E495D63-421F-19F8-9DDA-3496A16EE21A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4" creationId="{10C756C9-0A46-08F9-4580-4EBB5A356F4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6" creationId="{20518221-AF82-FBC4-9E4A-D0692794CDC2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9" creationId="{0B85BDB5-7257-A0A1-E77A-D60E437849AB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11" creationId="{BB6D7327-302B-509A-422C-D85A5C7DEA80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5:54.619" v="16"/>
        <pc:sldMkLst>
          <pc:docMk/>
          <pc:sldMk cId="1985706453" sldId="262"/>
        </pc:sldMkLst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2" creationId="{97C71524-CE29-7204-814A-2C171F5C7AA0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3" creationId="{FCE06F1C-D258-274F-C40F-A7826AB59DB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7" creationId="{8B9CD985-E840-BEAC-7B97-8E147416AE8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8" creationId="{F4ACA565-9F73-792B-C518-BC1899CB5307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9" creationId="{C5C07FE7-A99F-A56B-27A0-8B9C7EECD56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54.619" v="16"/>
          <ac:picMkLst>
            <pc:docMk/>
            <pc:sldMk cId="1985706453" sldId="262"/>
            <ac:picMk id="5" creationId="{D171B47B-9E9F-AB8E-C232-952551B6B406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6:01.088" v="17"/>
        <pc:sldMkLst>
          <pc:docMk/>
          <pc:sldMk cId="466483557" sldId="263"/>
        </pc:sldMkLst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2" creationId="{C9B8D8AD-726C-7AB6-573B-2C2C8B0A62DF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3" creationId="{1B96F939-8674-C729-00B3-8A15A0B833A3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7" creationId="{4A4A226E-3196-1301-70D8-6BD862BB3BB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8" creationId="{A464A21D-B1CD-D3AA-1F36-03255A9BAD0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9" creationId="{2A6C7FF9-654B-7D48-B2BB-A1DE4357B44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6:01.088" v="17"/>
          <ac:picMkLst>
            <pc:docMk/>
            <pc:sldMk cId="466483557" sldId="263"/>
            <ac:picMk id="5" creationId="{BF1C7110-9407-DC37-2AC1-6DF260A3441E}"/>
          </ac:picMkLst>
        </pc:picChg>
      </pc:sldChg>
      <pc:sldMasterChg chg="del del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954265959" sldId="2147483711"/>
        </pc:sldMasterMkLst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411100" sldId="214748371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13661319" sldId="214748371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689447562" sldId="214748371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480985426" sldId="214748371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05088054" sldId="214748371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16400854" sldId="2147483717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081409244" sldId="2147483718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755766572" sldId="2147483719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088420204" sldId="2147483720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31568211" sldId="2147483721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553191059" sldId="214748372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27911751" sldId="214748372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866580" sldId="214748372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30736733" sldId="214748372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326302660" sldId="214748372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7991005" sldId="2147483727"/>
          </pc:sldLayoutMkLst>
        </pc:sldLayoutChg>
      </pc:sldMasterChg>
      <pc:sldMasterChg chg="add addSldLayout mod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2125188827" sldId="2147483728"/>
        </pc:sldMasterMkLst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510413956" sldId="2147483729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677659548" sldId="2147483730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30259315" sldId="2147483731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867444874" sldId="2147483732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277176555" sldId="2147483733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737139801" sldId="2147483734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526234535" sldId="2147483735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80103632" sldId="2147483736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180637993" sldId="2147483737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251727048" sldId="2147483738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61680780" sldId="2147483739"/>
          </pc:sldLayoutMkLst>
        </pc:sldLayout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O(1)</c:v>
                </c:pt>
              </c:strCache>
            </c:strRef>
          </c:tx>
          <c:spPr>
            <a:ln w="34925">
              <a:solidFill>
                <a:srgbClr val="0D1C3B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O(log n)</c:v>
                </c:pt>
              </c:strCache>
            </c:strRef>
          </c:tx>
          <c:spPr>
            <a:ln w="34925">
              <a:solidFill>
                <a:srgbClr val="25C8A2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0.0</c:v>
                </c:pt>
                <c:pt idx="1">
                  <c:v>1.0</c:v>
                </c:pt>
                <c:pt idx="2">
                  <c:v>1.58</c:v>
                </c:pt>
                <c:pt idx="3">
                  <c:v>2.0</c:v>
                </c:pt>
                <c:pt idx="4">
                  <c:v>2.32</c:v>
                </c:pt>
                <c:pt idx="5">
                  <c:v>2.58</c:v>
                </c:pt>
                <c:pt idx="6">
                  <c:v>2.81</c:v>
                </c:pt>
                <c:pt idx="7">
                  <c:v>3.0</c:v>
                </c:pt>
                <c:pt idx="8">
                  <c:v>3.17</c:v>
                </c:pt>
                <c:pt idx="9">
                  <c:v>3.32</c:v>
                </c:pt>
                <c:pt idx="10">
                  <c:v>3.46</c:v>
                </c:pt>
                <c:pt idx="11">
                  <c:v>3.58</c:v>
                </c:pt>
                <c:pt idx="12">
                  <c:v>3.7</c:v>
                </c:pt>
                <c:pt idx="13">
                  <c:v>3.81</c:v>
                </c:pt>
                <c:pt idx="14">
                  <c:v>3.91</c:v>
                </c:pt>
                <c:pt idx="15">
                  <c:v>4.0</c:v>
                </c:pt>
                <c:pt idx="16">
                  <c:v>4.09</c:v>
                </c:pt>
                <c:pt idx="17">
                  <c:v>4.17</c:v>
                </c:pt>
                <c:pt idx="18">
                  <c:v>4.25</c:v>
                </c:pt>
                <c:pt idx="19">
                  <c:v>4.32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O(n)</c:v>
                </c:pt>
              </c:strCache>
            </c:strRef>
          </c:tx>
          <c:spPr>
            <a:ln w="34925">
              <a:solidFill>
                <a:srgbClr val="1973EB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val>
          <c:smooth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O(n log n)</c:v>
                </c:pt>
              </c:strCache>
            </c:strRef>
          </c:tx>
          <c:spPr>
            <a:ln w="34925">
              <a:solidFill>
                <a:srgbClr val="BF8ED1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0.0</c:v>
                </c:pt>
                <c:pt idx="1">
                  <c:v>2.0</c:v>
                </c:pt>
                <c:pt idx="2">
                  <c:v>4.75</c:v>
                </c:pt>
                <c:pt idx="3">
                  <c:v>8.0</c:v>
                </c:pt>
                <c:pt idx="4">
                  <c:v>11.61</c:v>
                </c:pt>
                <c:pt idx="5">
                  <c:v>15.51</c:v>
                </c:pt>
                <c:pt idx="6">
                  <c:v>19.65</c:v>
                </c:pt>
                <c:pt idx="7">
                  <c:v>24.0</c:v>
                </c:pt>
                <c:pt idx="8">
                  <c:v>28.53</c:v>
                </c:pt>
                <c:pt idx="9">
                  <c:v>33.22</c:v>
                </c:pt>
                <c:pt idx="10">
                  <c:v>38.05</c:v>
                </c:pt>
                <c:pt idx="11">
                  <c:v>43.02</c:v>
                </c:pt>
                <c:pt idx="12">
                  <c:v>48.11</c:v>
                </c:pt>
                <c:pt idx="13">
                  <c:v>53.3</c:v>
                </c:pt>
                <c:pt idx="14">
                  <c:v>58.6</c:v>
                </c:pt>
                <c:pt idx="15">
                  <c:v>64.0</c:v>
                </c:pt>
                <c:pt idx="16">
                  <c:v>69.49</c:v>
                </c:pt>
                <c:pt idx="17">
                  <c:v>75.06</c:v>
                </c:pt>
                <c:pt idx="18">
                  <c:v>80.71</c:v>
                </c:pt>
                <c:pt idx="19">
                  <c:v>86.44</c:v>
                </c:pt>
              </c:numCache>
            </c:numRef>
          </c:val>
          <c:smooth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O(n²)</c:v>
                </c:pt>
              </c:strCache>
            </c:strRef>
          </c:tx>
          <c:spPr>
            <a:ln w="34925">
              <a:solidFill>
                <a:srgbClr val="FE733C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  <c:pt idx="8">
                  <c:v>81</c:v>
                </c:pt>
                <c:pt idx="9">
                  <c:v>100</c:v>
                </c:pt>
                <c:pt idx="10">
                  <c:v>121</c:v>
                </c:pt>
                <c:pt idx="11">
                  <c:v>144</c:v>
                </c:pt>
                <c:pt idx="12">
                  <c:v>169</c:v>
                </c:pt>
                <c:pt idx="13">
                  <c:v>196</c:v>
                </c:pt>
                <c:pt idx="14">
                  <c:v>225</c:v>
                </c:pt>
                <c:pt idx="15">
                  <c:v>256</c:v>
                </c:pt>
                <c:pt idx="16">
                  <c:v>289</c:v>
                </c:pt>
                <c:pt idx="17">
                  <c:v>324</c:v>
                </c:pt>
                <c:pt idx="18">
                  <c:v>361</c:v>
                </c:pt>
                <c:pt idx="19">
                  <c:v>400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/>
                  <a:t>velikost vstupu 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.0"/>
        </c:scaling>
        <c:delete val="0"/>
        <c:axPos val="l"/>
        <c:majorGridlines>
          <c:spPr>
            <a:ln>
              <a:solidFill>
                <a:srgbClr val="E2E4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počet operací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CBD7E-8EC4-40D0-831C-FC6BF586B823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19CD6-A7A2-478E-9294-6B57494289C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3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 průměrně / amortizovaně – v nejhorším případě může být operace pomalejší (např. zvětšení vnitřního pole, kolize hashů).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A: O(n) – n/2 kroků, konstanta se ignoruje</a:t>
            </a:r>
          </a:p>
          <a:p>
            <a:r>
              <a:t>B: O(n) – vnitřní cyklus má pevně 10 kroků</a:t>
            </a:r>
          </a:p>
          <a:p>
            <a:r>
              <a:t>C: O(log n) – i se zdvojnásobuje</a:t>
            </a:r>
          </a:p>
          <a:p>
            <a:r>
              <a:t>D: O(n·m), pro stejně velké seznamy O(n²) – nejpomalejší; zrychlení: b převést na HashSet&lt;int&gt; → O(n)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13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5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4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17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3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3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3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2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07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8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Složitost algoritmů (Big 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PROGRAMOVÁNÍ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Proč řešit složitost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700"/>
              <a:t>Dva algoritmy řeší stejný problém</a:t>
            </a:r>
          </a:p>
          <a:p>
            <a:pPr lvl="1">
              <a:lnSpc>
                <a:spcPct val="110000"/>
              </a:lnSpc>
            </a:pPr>
            <a:r>
              <a:rPr sz="1500"/>
              <a:t>jeden zvládne milion prvků za sekundu, druhý za hodinu</a:t>
            </a:r>
          </a:p>
          <a:p>
            <a:pPr>
              <a:lnSpc>
                <a:spcPct val="110000"/>
              </a:lnSpc>
            </a:pPr>
            <a:r>
              <a:rPr sz="1700"/>
              <a:t>Měření času závisí na počítači, jazyku, zatížení…</a:t>
            </a:r>
          </a:p>
          <a:p>
            <a:pPr>
              <a:lnSpc>
                <a:spcPct val="110000"/>
              </a:lnSpc>
            </a:pPr>
            <a:r>
              <a:rPr sz="1700"/>
              <a:t>Složitost popisuje, </a:t>
            </a:r>
            <a:r>
              <a:rPr b="1" sz="1700"/>
              <a:t>jak roste počet operací</a:t>
            </a:r>
            <a:r>
              <a:rPr sz="1700"/>
              <a:t> s velikostí vstupu </a:t>
            </a:r>
            <a:r>
              <a:rPr sz="1700">
                <a:latin typeface="Consolas"/>
              </a:rPr>
              <a:t>n</a:t>
            </a:r>
          </a:p>
          <a:p>
            <a:pPr>
              <a:lnSpc>
                <a:spcPct val="110000"/>
              </a:lnSpc>
            </a:pPr>
            <a:r>
              <a:rPr sz="1700"/>
              <a:t>Zajímá nás:</a:t>
            </a:r>
          </a:p>
          <a:p>
            <a:pPr lvl="1">
              <a:lnSpc>
                <a:spcPct val="110000"/>
              </a:lnSpc>
            </a:pPr>
            <a:r>
              <a:rPr b="1" sz="1500"/>
              <a:t>nejhorší případ</a:t>
            </a:r>
          </a:p>
          <a:p>
            <a:pPr lvl="1">
              <a:lnSpc>
                <a:spcPct val="110000"/>
              </a:lnSpc>
            </a:pPr>
            <a:r>
              <a:rPr sz="1500"/>
              <a:t>chování pro </a:t>
            </a:r>
            <a:r>
              <a:rPr b="1" sz="1500"/>
              <a:t>velká n</a:t>
            </a:r>
          </a:p>
          <a:p>
            <a:pPr>
              <a:lnSpc>
                <a:spcPct val="110000"/>
              </a:lnSpc>
            </a:pPr>
            <a:r>
              <a:rPr sz="1700"/>
              <a:t>Časová i </a:t>
            </a:r>
            <a:r>
              <a:rPr b="1" sz="1700"/>
              <a:t>paměťová</a:t>
            </a:r>
            <a:r>
              <a:rPr sz="1700"/>
              <a:t> složitost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Lineární vs. binární vyhledávání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Lineární hledání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Binární hledání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12628" y="3080000"/>
            <a:ext cx="5084947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O(n) – projde prvky jeden po druhém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80000"/>
            <a:ext cx="5183188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O(log n) – půlí interval, pole musí být seřazené</a:t>
            </a:r>
          </a:p>
        </p:txBody>
      </p:sp>
      <p:sp>
        <p:nvSpPr>
          <p:cNvPr id="17" name="Kód"/>
          <p:cNvSpPr/>
          <p:nvPr/>
        </p:nvSpPr>
        <p:spPr>
          <a:xfrm>
            <a:off x="912628" y="3750000"/>
            <a:ext cx="5084947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74531F"/>
                </a:solidFill>
                <a:latin typeface="Consolas"/>
              </a:rPr>
              <a:t>Najdi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[</a:t>
            </a:r>
            <a:r>
              <a:rPr sz="1500">
                <a:solidFill>
                  <a:srgbClr val="1E1E1E"/>
                </a:solidFill>
                <a:latin typeface="Consolas"/>
              </a:rPr>
              <a:t>]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pole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hledany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for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i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0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i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pole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Length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i</a:t>
            </a:r>
            <a:r>
              <a:rPr sz="1500">
                <a:solidFill>
                  <a:srgbClr val="1E1E1E"/>
                </a:solidFill>
                <a:latin typeface="Consolas"/>
              </a:rPr>
              <a:t>+</a:t>
            </a:r>
            <a:r>
              <a:rPr sz="1500">
                <a:solidFill>
                  <a:srgbClr val="1E1E1E"/>
                </a:solidFill>
                <a:latin typeface="Consolas"/>
              </a:rPr>
              <a:t>+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if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pole</a:t>
            </a:r>
            <a:r>
              <a:rPr sz="1500">
                <a:solidFill>
                  <a:srgbClr val="1E1E1E"/>
                </a:solidFill>
                <a:latin typeface="Consolas"/>
              </a:rPr>
              <a:t>[</a:t>
            </a:r>
            <a:r>
              <a:rPr sz="1500">
                <a:solidFill>
                  <a:srgbClr val="1E1E1E"/>
                </a:solidFill>
                <a:latin typeface="Consolas"/>
              </a:rPr>
              <a:t>i</a:t>
            </a:r>
            <a:r>
              <a:rPr sz="1500">
                <a:solidFill>
                  <a:srgbClr val="1E1E1E"/>
                </a:solidFill>
                <a:latin typeface="Consolas"/>
              </a:rPr>
              <a:t>]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hledany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return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i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return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-</a:t>
            </a:r>
            <a:r>
              <a:rPr sz="1500">
                <a:solidFill>
                  <a:srgbClr val="1E1E1E"/>
                </a:solidFill>
                <a:latin typeface="Consolas"/>
              </a:rPr>
              <a:t>1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500">
                <a:solidFill>
                  <a:srgbClr val="008000"/>
                </a:solidFill>
                <a:latin typeface="Consolas"/>
              </a:rPr>
              <a:t>// 1 000 000 prvků → až 1 000 000 kroků</a:t>
            </a:r>
          </a:p>
        </p:txBody>
      </p:sp>
      <p:sp>
        <p:nvSpPr>
          <p:cNvPr id="18" name="Kód"/>
          <p:cNvSpPr/>
          <p:nvPr/>
        </p:nvSpPr>
        <p:spPr>
          <a:xfrm>
            <a:off x="6172200" y="3750000"/>
            <a:ext cx="5183188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50">
                <a:solidFill>
                  <a:srgbClr val="0000FF"/>
                </a:solidFill>
                <a:latin typeface="Consolas"/>
              </a:rPr>
              <a:t>int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l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0</a:t>
            </a:r>
            <a:r>
              <a:rPr sz="1550">
                <a:solidFill>
                  <a:srgbClr val="1E1E1E"/>
                </a:solidFill>
                <a:latin typeface="Consolas"/>
              </a:rPr>
              <a:t>,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p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pole</a:t>
            </a:r>
            <a:r>
              <a:rPr sz="1550">
                <a:solidFill>
                  <a:srgbClr val="1E1E1E"/>
                </a:solidFill>
                <a:latin typeface="Consolas"/>
              </a:rPr>
              <a:t>.</a:t>
            </a:r>
            <a:r>
              <a:rPr sz="1550">
                <a:solidFill>
                  <a:srgbClr val="1E1E1E"/>
                </a:solidFill>
                <a:latin typeface="Consolas"/>
              </a:rPr>
              <a:t>Length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-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1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50">
                <a:solidFill>
                  <a:srgbClr val="0000FF"/>
                </a:solidFill>
                <a:latin typeface="Consolas"/>
              </a:rPr>
              <a:t>while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1E1E1E"/>
                </a:solidFill>
                <a:latin typeface="Consolas"/>
              </a:rPr>
              <a:t>l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&lt;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p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int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s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1E1E1E"/>
                </a:solidFill>
                <a:latin typeface="Consolas"/>
              </a:rPr>
              <a:t>l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+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p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/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2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if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1E1E1E"/>
                </a:solidFill>
                <a:latin typeface="Consolas"/>
              </a:rPr>
              <a:t>pole</a:t>
            </a:r>
            <a:r>
              <a:rPr sz="1550">
                <a:solidFill>
                  <a:srgbClr val="1E1E1E"/>
                </a:solidFill>
                <a:latin typeface="Consolas"/>
              </a:rPr>
              <a:t>[</a:t>
            </a:r>
            <a:r>
              <a:rPr sz="1550">
                <a:solidFill>
                  <a:srgbClr val="1E1E1E"/>
                </a:solidFill>
                <a:latin typeface="Consolas"/>
              </a:rPr>
              <a:t>s</a:t>
            </a:r>
            <a:r>
              <a:rPr sz="1550">
                <a:solidFill>
                  <a:srgbClr val="1E1E1E"/>
                </a:solidFill>
                <a:latin typeface="Consolas"/>
              </a:rPr>
              <a:t>]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hledany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return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s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if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1E1E1E"/>
                </a:solidFill>
                <a:latin typeface="Consolas"/>
              </a:rPr>
              <a:t>pole</a:t>
            </a:r>
            <a:r>
              <a:rPr sz="1550">
                <a:solidFill>
                  <a:srgbClr val="1E1E1E"/>
                </a:solidFill>
                <a:latin typeface="Consolas"/>
              </a:rPr>
              <a:t>[</a:t>
            </a:r>
            <a:r>
              <a:rPr sz="1550">
                <a:solidFill>
                  <a:srgbClr val="1E1E1E"/>
                </a:solidFill>
                <a:latin typeface="Consolas"/>
              </a:rPr>
              <a:t>s</a:t>
            </a:r>
            <a:r>
              <a:rPr sz="1550">
                <a:solidFill>
                  <a:srgbClr val="1E1E1E"/>
                </a:solidFill>
                <a:latin typeface="Consolas"/>
              </a:rPr>
              <a:t>]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&lt;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hledany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l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s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+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1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else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p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s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-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1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550">
                <a:solidFill>
                  <a:srgbClr val="008000"/>
                </a:solidFill>
                <a:latin typeface="Consolas"/>
              </a:rPr>
              <a:t>// 1 000 000 prvků → nejvýše 20 kroků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Porovnání složitostí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2600000"/>
          <a:ext cx="10363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848"/>
                <a:gridCol w="2072640"/>
                <a:gridCol w="1243584"/>
                <a:gridCol w="1450848"/>
                <a:gridCol w="1761744"/>
                <a:gridCol w="2383536"/>
              </a:tblGrid>
              <a:tr h="4572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Složitost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Název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n = 10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n = 100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n = 1 000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n = 1 000 000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O(1)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konstantní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O(log n)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logaritmická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3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7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10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20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O(n)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lineární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1 000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1 000 000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O(n log n)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linearitmická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30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700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10 000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20 000 000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O(n²)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kvadratická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10 000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1 000 000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10¹²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O(2ⁿ)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exponenciální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1 024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10³⁰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–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–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Jak rostou jednotlivé složitosti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914400" y="2500000"/>
          <a:ext cx="10363200" cy="3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O(1) a O(n)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b="1" sz="1600"/>
              <a:t>O(1)</a:t>
            </a:r>
            <a:r>
              <a:rPr sz="1600"/>
              <a:t> – počet operací nezávisí na n</a:t>
            </a:r>
          </a:p>
          <a:p>
            <a:pPr lvl="1">
              <a:lnSpc>
                <a:spcPct val="110000"/>
              </a:lnSpc>
            </a:pPr>
            <a:r>
              <a:rPr sz="1500"/>
              <a:t>přístup přes index, vložení na konec seznamu</a:t>
            </a:r>
          </a:p>
          <a:p>
            <a:pPr>
              <a:lnSpc>
                <a:spcPct val="110000"/>
              </a:lnSpc>
            </a:pPr>
            <a:r>
              <a:rPr b="1" sz="1600"/>
              <a:t>O(n)</a:t>
            </a:r>
            <a:r>
              <a:rPr sz="1600"/>
              <a:t> – každý prvek zpracujeme jednou</a:t>
            </a:r>
          </a:p>
          <a:p>
            <a:pPr lvl="1">
              <a:lnSpc>
                <a:spcPct val="110000"/>
              </a:lnSpc>
            </a:pPr>
            <a:r>
              <a:rPr sz="1500"/>
              <a:t>součet, hledání maxima, lineární hledání</a:t>
            </a:r>
          </a:p>
          <a:p>
            <a:pPr>
              <a:lnSpc>
                <a:spcPct val="110000"/>
              </a:lnSpc>
            </a:pPr>
            <a:r>
              <a:rPr sz="1600"/>
              <a:t>Konstanty ignorujeme: O(2n) = O(n)</a:t>
            </a:r>
          </a:p>
          <a:p>
            <a:pPr>
              <a:lnSpc>
                <a:spcPct val="110000"/>
              </a:lnSpc>
            </a:pPr>
            <a:r>
              <a:rPr sz="1600"/>
              <a:t>Nižší členy ignorujeme: O(n + 5) = O(n)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8000"/>
                </a:solidFill>
                <a:latin typeface="Consolas"/>
              </a:rPr>
              <a:t>// O(1)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prvni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pole</a:t>
            </a:r>
            <a:r>
              <a:rPr sz="1600">
                <a:solidFill>
                  <a:srgbClr val="1E1E1E"/>
                </a:solidFill>
                <a:latin typeface="Consolas"/>
              </a:rPr>
              <a:t>[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]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posledni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pole</a:t>
            </a:r>
            <a:r>
              <a:rPr sz="1600">
                <a:solidFill>
                  <a:srgbClr val="1E1E1E"/>
                </a:solidFill>
                <a:latin typeface="Consolas"/>
              </a:rPr>
              <a:t>[</a:t>
            </a:r>
            <a:r>
              <a:rPr sz="1600">
                <a:solidFill>
                  <a:srgbClr val="1E1E1E"/>
                </a:solidFill>
                <a:latin typeface="Consolas"/>
              </a:rPr>
              <a:t>pole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Length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-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]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8000"/>
                </a:solidFill>
                <a:latin typeface="Consolas"/>
              </a:rPr>
              <a:t>// O(n)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soucet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foreach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pole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soucet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+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8000"/>
                </a:solidFill>
                <a:latin typeface="Consolas"/>
              </a:rPr>
              <a:t>// stále O(n) – dva průchody = 2n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max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pole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Max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min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pole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Min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O(n²) a O(log 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b="1" sz="1600"/>
              <a:t>O(n²)</a:t>
            </a:r>
            <a:r>
              <a:rPr sz="1600"/>
              <a:t> – cyklus v cyklu přes stejná data</a:t>
            </a:r>
          </a:p>
          <a:p>
            <a:pPr lvl="1">
              <a:lnSpc>
                <a:spcPct val="110000"/>
              </a:lnSpc>
            </a:pPr>
            <a:r>
              <a:rPr sz="1500"/>
              <a:t>porovnání každého s každým, bubble sort</a:t>
            </a:r>
          </a:p>
          <a:p>
            <a:pPr lvl="1">
              <a:lnSpc>
                <a:spcPct val="110000"/>
              </a:lnSpc>
            </a:pPr>
            <a:r>
              <a:rPr sz="1500"/>
              <a:t>10× víc dat = 100× víc času</a:t>
            </a:r>
          </a:p>
          <a:p>
            <a:pPr>
              <a:lnSpc>
                <a:spcPct val="110000"/>
              </a:lnSpc>
            </a:pPr>
            <a:r>
              <a:rPr b="1" sz="1600"/>
              <a:t>O(log n)</a:t>
            </a:r>
            <a:r>
              <a:rPr sz="1600"/>
              <a:t> – každým krokem se vstup půlí</a:t>
            </a:r>
          </a:p>
          <a:p>
            <a:pPr lvl="1">
              <a:lnSpc>
                <a:spcPct val="110000"/>
              </a:lnSpc>
            </a:pPr>
            <a:r>
              <a:rPr sz="1500"/>
              <a:t>binární vyhledávání, vyhledávací strom</a:t>
            </a:r>
          </a:p>
          <a:p>
            <a:pPr lvl="1">
              <a:lnSpc>
                <a:spcPct val="110000"/>
              </a:lnSpc>
            </a:pPr>
            <a:r>
              <a:rPr sz="1500"/>
              <a:t>milion prvků → 20 kroků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00">
                <a:solidFill>
                  <a:srgbClr val="008000"/>
                </a:solidFill>
                <a:latin typeface="Consolas"/>
              </a:rPr>
              <a:t>// O(n²) – existují duplicity?</a:t>
            </a:r>
          </a:p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for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i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0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i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pole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Length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i</a:t>
            </a:r>
            <a:r>
              <a:rPr sz="1500">
                <a:solidFill>
                  <a:srgbClr val="1E1E1E"/>
                </a:solidFill>
                <a:latin typeface="Consolas"/>
              </a:rPr>
              <a:t>+</a:t>
            </a:r>
            <a:r>
              <a:rPr sz="1500">
                <a:solidFill>
                  <a:srgbClr val="1E1E1E"/>
                </a:solidFill>
                <a:latin typeface="Consolas"/>
              </a:rPr>
              <a:t>+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for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j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i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+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1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j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pole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Length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j</a:t>
            </a:r>
            <a:r>
              <a:rPr sz="1500">
                <a:solidFill>
                  <a:srgbClr val="1E1E1E"/>
                </a:solidFill>
                <a:latin typeface="Consolas"/>
              </a:rPr>
              <a:t>+</a:t>
            </a:r>
            <a:r>
              <a:rPr sz="1500">
                <a:solidFill>
                  <a:srgbClr val="1E1E1E"/>
                </a:solidFill>
                <a:latin typeface="Consolas"/>
              </a:rPr>
              <a:t>+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if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pole</a:t>
            </a:r>
            <a:r>
              <a:rPr sz="1500">
                <a:solidFill>
                  <a:srgbClr val="1E1E1E"/>
                </a:solidFill>
                <a:latin typeface="Consolas"/>
              </a:rPr>
              <a:t>[</a:t>
            </a:r>
            <a:r>
              <a:rPr sz="1500">
                <a:solidFill>
                  <a:srgbClr val="1E1E1E"/>
                </a:solidFill>
                <a:latin typeface="Consolas"/>
              </a:rPr>
              <a:t>i</a:t>
            </a:r>
            <a:r>
              <a:rPr sz="1500">
                <a:solidFill>
                  <a:srgbClr val="1E1E1E"/>
                </a:solidFill>
                <a:latin typeface="Consolas"/>
              </a:rPr>
              <a:t>]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pole</a:t>
            </a:r>
            <a:r>
              <a:rPr sz="1500">
                <a:solidFill>
                  <a:srgbClr val="1E1E1E"/>
                </a:solidFill>
                <a:latin typeface="Consolas"/>
              </a:rPr>
              <a:t>[</a:t>
            </a:r>
            <a:r>
              <a:rPr sz="1500">
                <a:solidFill>
                  <a:srgbClr val="1E1E1E"/>
                </a:solidFill>
                <a:latin typeface="Consolas"/>
              </a:rPr>
              <a:t>j</a:t>
            </a:r>
            <a:r>
              <a:rPr sz="1500">
                <a:solidFill>
                  <a:srgbClr val="1E1E1E"/>
                </a:solidFill>
                <a:latin typeface="Consolas"/>
              </a:rPr>
              <a:t>]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return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true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008000"/>
                </a:solidFill>
                <a:latin typeface="Consolas"/>
              </a:rPr>
              <a:t>// O(log n) – kolikrát lze n půlit?</a:t>
            </a:r>
          </a:p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kroky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0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while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n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1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n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/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2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kroky</a:t>
            </a:r>
            <a:r>
              <a:rPr sz="1500">
                <a:solidFill>
                  <a:srgbClr val="1E1E1E"/>
                </a:solidFill>
                <a:latin typeface="Consolas"/>
              </a:rPr>
              <a:t>+</a:t>
            </a:r>
            <a:r>
              <a:rPr sz="1500">
                <a:solidFill>
                  <a:srgbClr val="1E1E1E"/>
                </a:solidFill>
                <a:latin typeface="Consolas"/>
              </a:rPr>
              <a:t>+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Jak odhadnout složitost vlastního kódu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900"/>
              <a:t>Žádný cyklus, přímý přístup → </a:t>
            </a:r>
            <a:r>
              <a:rPr b="1" sz="1900"/>
              <a:t>O(1)</a:t>
            </a:r>
          </a:p>
          <a:p>
            <a:pPr>
              <a:lnSpc>
                <a:spcPct val="110000"/>
              </a:lnSpc>
            </a:pPr>
            <a:r>
              <a:rPr sz="1900"/>
              <a:t>Jeden cyklus přes n prvků → </a:t>
            </a:r>
            <a:r>
              <a:rPr b="1" sz="1900"/>
              <a:t>O(n)</a:t>
            </a:r>
          </a:p>
          <a:p>
            <a:pPr>
              <a:lnSpc>
                <a:spcPct val="110000"/>
              </a:lnSpc>
            </a:pPr>
            <a:r>
              <a:rPr sz="1900"/>
              <a:t>Cyklus v cyklu (oba přes n) → </a:t>
            </a:r>
            <a:r>
              <a:rPr b="1" sz="1900"/>
              <a:t>O(n²)</a:t>
            </a:r>
          </a:p>
          <a:p>
            <a:pPr>
              <a:lnSpc>
                <a:spcPct val="110000"/>
              </a:lnSpc>
            </a:pPr>
            <a:r>
              <a:rPr sz="1900"/>
              <a:t>Každý krok půlí vstup → </a:t>
            </a:r>
            <a:r>
              <a:rPr b="1" sz="1900"/>
              <a:t>O(log n)</a:t>
            </a:r>
          </a:p>
          <a:p>
            <a:pPr>
              <a:lnSpc>
                <a:spcPct val="110000"/>
              </a:lnSpc>
            </a:pPr>
            <a:r>
              <a:rPr sz="1900"/>
              <a:t>Cyklus přes n a uvnitř O(log n) → </a:t>
            </a:r>
            <a:r>
              <a:rPr b="1" sz="1900"/>
              <a:t>O(n log n)</a:t>
            </a:r>
          </a:p>
          <a:p>
            <a:pPr>
              <a:lnSpc>
                <a:spcPct val="110000"/>
              </a:lnSpc>
            </a:pPr>
            <a:r>
              <a:rPr sz="1900"/>
              <a:t>Po sobě jdoucí části se </a:t>
            </a:r>
            <a:r>
              <a:rPr b="1" sz="1900"/>
              <a:t>sčítají</a:t>
            </a:r>
            <a:r>
              <a:rPr sz="1900"/>
              <a:t>, vybereme nejhorší</a:t>
            </a:r>
          </a:p>
          <a:p>
            <a:pPr lvl="1">
              <a:lnSpc>
                <a:spcPct val="110000"/>
              </a:lnSpc>
              <a:buNone/>
            </a:pPr>
            <a:r>
              <a:rPr sz="1700"/>
              <a:t>O(n) + O(n²) = O(n²)</a:t>
            </a:r>
          </a:p>
          <a:p>
            <a:pPr>
              <a:lnSpc>
                <a:spcPct val="110000"/>
              </a:lnSpc>
            </a:pPr>
            <a:r>
              <a:rPr sz="1900"/>
              <a:t>Pozor na </a:t>
            </a:r>
            <a:r>
              <a:rPr b="1" sz="1900"/>
              <a:t>skryté cykly</a:t>
            </a:r>
            <a:r>
              <a:rPr sz="1900"/>
              <a:t> v metodách knihoven</a:t>
            </a:r>
          </a:p>
          <a:p>
            <a:pPr lvl="1">
              <a:lnSpc>
                <a:spcPct val="110000"/>
              </a:lnSpc>
              <a:buNone/>
            </a:pPr>
            <a:r>
              <a:rPr sz="1700"/>
              <a:t>Contains, IndexOf, Remove, LINQ…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Složitost operací kolekcí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2600000"/>
          <a:ext cx="103632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3488"/>
                <a:gridCol w="2072640"/>
                <a:gridCol w="2694432"/>
                <a:gridCol w="2072640"/>
              </a:tblGrid>
              <a:tr h="475488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Operace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List&lt;T&gt;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HashSet&lt;T&gt; / Dictionary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seřazené pole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přístup přes index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O(1)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–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O(1)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přidání na konec / Add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O(1)*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O(1)*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O(n)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odebrání prvku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O(n)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O(1)*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O(n)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hledání (Contains)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O(n)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O(1)*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O(log n)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/>
                        <a:t>seřazení (Sort)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O(n log n)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–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–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Skrytá složitost v kódu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Seznam List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Množina HashSet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12628" y="3080000"/>
            <a:ext cx="5084947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O(n²) – Contains v Listu je sám o sobě cyklus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80000"/>
            <a:ext cx="5183188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O(n) – HashSet hledá v průměru v O(1)</a:t>
            </a:r>
          </a:p>
        </p:txBody>
      </p:sp>
      <p:sp>
        <p:nvSpPr>
          <p:cNvPr id="17" name="Kód"/>
          <p:cNvSpPr/>
          <p:nvPr/>
        </p:nvSpPr>
        <p:spPr>
          <a:xfrm>
            <a:off x="912628" y="3750000"/>
            <a:ext cx="5084947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var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videno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new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List</a:t>
            </a:r>
            <a:r>
              <a:rPr sz="1600">
                <a:solidFill>
                  <a:srgbClr val="1E1E1E"/>
                </a:solidFill>
                <a:latin typeface="Consolas"/>
              </a:rPr>
              <a:t>&lt;</a:t>
            </a:r>
            <a:r>
              <a:rPr sz="1600">
                <a:solidFill>
                  <a:srgbClr val="0000FF"/>
                </a:solidFill>
                <a:latin typeface="Consolas"/>
              </a:rPr>
              <a:t>string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foreach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string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jmena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videno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Contains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videno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Add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  <p:sp>
        <p:nvSpPr>
          <p:cNvPr id="18" name="Kód"/>
          <p:cNvSpPr/>
          <p:nvPr/>
        </p:nvSpPr>
        <p:spPr>
          <a:xfrm>
            <a:off x="6172200" y="3750000"/>
            <a:ext cx="5183188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var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videno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new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HashSet</a:t>
            </a:r>
            <a:r>
              <a:rPr sz="1600">
                <a:solidFill>
                  <a:srgbClr val="1E1E1E"/>
                </a:solidFill>
                <a:latin typeface="Consolas"/>
              </a:rPr>
              <a:t>&lt;</a:t>
            </a:r>
            <a:r>
              <a:rPr sz="1600">
                <a:solidFill>
                  <a:srgbClr val="0000FF"/>
                </a:solidFill>
                <a:latin typeface="Consolas"/>
              </a:rPr>
              <a:t>string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foreach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string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jmena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!</a:t>
            </a:r>
            <a:r>
              <a:rPr sz="1600">
                <a:solidFill>
                  <a:srgbClr val="1E1E1E"/>
                </a:solidFill>
                <a:latin typeface="Consolas"/>
              </a:rPr>
              <a:t>videno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Add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jmeno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Paměťová složitost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Kolik paměti algoritmus potřebuje </a:t>
            </a:r>
            <a:r>
              <a:rPr b="1" sz="1600"/>
              <a:t>navíc</a:t>
            </a:r>
          </a:p>
          <a:p>
            <a:pPr lvl="1">
              <a:lnSpc>
                <a:spcPct val="110000"/>
              </a:lnSpc>
            </a:pPr>
            <a:r>
              <a:rPr sz="1500"/>
              <a:t>mimo vstupní data</a:t>
            </a:r>
          </a:p>
          <a:p>
            <a:pPr>
              <a:lnSpc>
                <a:spcPct val="110000"/>
              </a:lnSpc>
            </a:pPr>
            <a:r>
              <a:rPr b="1" sz="1600"/>
              <a:t>O(1)</a:t>
            </a:r>
            <a:r>
              <a:rPr sz="1600"/>
              <a:t> – jen několik proměnných</a:t>
            </a:r>
          </a:p>
          <a:p>
            <a:pPr>
              <a:lnSpc>
                <a:spcPct val="110000"/>
              </a:lnSpc>
            </a:pPr>
            <a:r>
              <a:rPr b="1" sz="1600"/>
              <a:t>O(n)</a:t>
            </a:r>
            <a:r>
              <a:rPr sz="1600"/>
              <a:t> – kopie dat, pomocné pole, seznam</a:t>
            </a:r>
          </a:p>
          <a:p>
            <a:pPr>
              <a:lnSpc>
                <a:spcPct val="110000"/>
              </a:lnSpc>
            </a:pPr>
            <a:r>
              <a:rPr sz="1600"/>
              <a:t>Rekurze spotřebovává zásobník volání</a:t>
            </a:r>
          </a:p>
          <a:p>
            <a:pPr lvl="1">
              <a:lnSpc>
                <a:spcPct val="110000"/>
              </a:lnSpc>
            </a:pPr>
            <a:r>
              <a:rPr sz="1500"/>
              <a:t>hloubka n → paměť O(n)</a:t>
            </a:r>
          </a:p>
          <a:p>
            <a:pPr>
              <a:lnSpc>
                <a:spcPct val="110000"/>
              </a:lnSpc>
            </a:pPr>
            <a:r>
              <a:rPr sz="1600"/>
              <a:t>Často volíme kompromis: více paměti = méně času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8000"/>
                </a:solidFill>
                <a:latin typeface="Consolas"/>
              </a:rPr>
              <a:t>// O(1) paměť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max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pole</a:t>
            </a:r>
            <a:r>
              <a:rPr sz="1600">
                <a:solidFill>
                  <a:srgbClr val="1E1E1E"/>
                </a:solidFill>
                <a:latin typeface="Consolas"/>
              </a:rPr>
              <a:t>[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]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foreach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pole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max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max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8000"/>
                </a:solidFill>
                <a:latin typeface="Consolas"/>
              </a:rPr>
              <a:t>// O(n) paměť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[</a:t>
            </a:r>
            <a:r>
              <a:rPr sz="1600">
                <a:solidFill>
                  <a:srgbClr val="1E1E1E"/>
                </a:solidFill>
                <a:latin typeface="Consolas"/>
              </a:rPr>
              <a:t>]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kopie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new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[</a:t>
            </a:r>
            <a:r>
              <a:rPr sz="1600">
                <a:solidFill>
                  <a:srgbClr val="1E1E1E"/>
                </a:solidFill>
                <a:latin typeface="Consolas"/>
              </a:rPr>
              <a:t>pole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Length</a:t>
            </a:r>
            <a:r>
              <a:rPr sz="1600">
                <a:solidFill>
                  <a:srgbClr val="1E1E1E"/>
                </a:solidFill>
                <a:latin typeface="Consolas"/>
              </a:rPr>
              <a:t>]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2B91AF"/>
                </a:solidFill>
                <a:latin typeface="Consolas"/>
              </a:rPr>
              <a:t>Array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Copy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pole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kopie</a:t>
            </a:r>
            <a:r>
              <a:rPr sz="1600">
                <a:solidFill>
                  <a:srgbClr val="1E1E1E"/>
                </a:solidFill>
                <a:latin typeface="Consolas"/>
              </a:rPr>
              <a:t>,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pole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Length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2B91AF"/>
                </a:solidFill>
                <a:latin typeface="Consolas"/>
              </a:rPr>
              <a:t>Array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Sort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kopie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8000"/>
                </a:solidFill>
                <a:latin typeface="Consolas"/>
              </a:rPr>
              <a:t>// O(n) paměť – zásobník volání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Soucet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n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?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: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+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Soucet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-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Procvičování – určete složitost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Určete časovou složitost každého úseku</a:t>
            </a:r>
          </a:p>
          <a:p>
            <a:pPr>
              <a:lnSpc>
                <a:spcPct val="110000"/>
              </a:lnSpc>
            </a:pPr>
            <a:r>
              <a:rPr sz="1600"/>
              <a:t>Zdůvodněte odpověď</a:t>
            </a:r>
          </a:p>
          <a:p>
            <a:pPr>
              <a:lnSpc>
                <a:spcPct val="110000"/>
              </a:lnSpc>
            </a:pPr>
            <a:r>
              <a:rPr sz="1600"/>
              <a:t>Který úsek je nejpomalejší pro n = 1 000 000?</a:t>
            </a:r>
          </a:p>
          <a:p>
            <a:pPr>
              <a:lnSpc>
                <a:spcPct val="110000"/>
              </a:lnSpc>
            </a:pPr>
            <a:r>
              <a:rPr sz="1600"/>
              <a:t>Dá se některý zrychlit?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350">
                <a:solidFill>
                  <a:srgbClr val="008000"/>
                </a:solidFill>
                <a:latin typeface="Consolas"/>
              </a:rPr>
              <a:t>// A</a:t>
            </a:r>
          </a:p>
          <a:p>
            <a:pPr algn="l"/>
            <a:r>
              <a:rPr sz="1350">
                <a:solidFill>
                  <a:srgbClr val="0000FF"/>
                </a:solidFill>
                <a:latin typeface="Consolas"/>
              </a:rPr>
              <a:t>for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0000FF"/>
                </a:solidFill>
                <a:latin typeface="Consolas"/>
              </a:rPr>
              <a:t>int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i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i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&lt;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n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i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+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2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2B91AF"/>
                </a:solidFill>
                <a:latin typeface="Consolas"/>
              </a:rPr>
              <a:t>Console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74531F"/>
                </a:solidFill>
                <a:latin typeface="Consolas"/>
              </a:rPr>
              <a:t>WriteLine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i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350">
                <a:solidFill>
                  <a:srgbClr val="008000"/>
                </a:solidFill>
                <a:latin typeface="Consolas"/>
              </a:rPr>
              <a:t>// B</a:t>
            </a:r>
          </a:p>
          <a:p>
            <a:pPr algn="l"/>
            <a:r>
              <a:rPr sz="1350">
                <a:solidFill>
                  <a:srgbClr val="0000FF"/>
                </a:solidFill>
                <a:latin typeface="Consolas"/>
              </a:rPr>
              <a:t>for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0000FF"/>
                </a:solidFill>
                <a:latin typeface="Consolas"/>
              </a:rPr>
              <a:t>int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i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i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&lt;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n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i</a:t>
            </a:r>
            <a:r>
              <a:rPr sz="1350">
                <a:solidFill>
                  <a:srgbClr val="1E1E1E"/>
                </a:solidFill>
                <a:latin typeface="Consolas"/>
              </a:rPr>
              <a:t>+</a:t>
            </a:r>
            <a:r>
              <a:rPr sz="1350">
                <a:solidFill>
                  <a:srgbClr val="1E1E1E"/>
                </a:solidFill>
                <a:latin typeface="Consolas"/>
              </a:rPr>
              <a:t>+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for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0000FF"/>
                </a:solidFill>
                <a:latin typeface="Consolas"/>
              </a:rPr>
              <a:t>int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j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j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&lt;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1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j</a:t>
            </a:r>
            <a:r>
              <a:rPr sz="1350">
                <a:solidFill>
                  <a:srgbClr val="1E1E1E"/>
                </a:solidFill>
                <a:latin typeface="Consolas"/>
              </a:rPr>
              <a:t>+</a:t>
            </a:r>
            <a:r>
              <a:rPr sz="1350">
                <a:solidFill>
                  <a:srgbClr val="1E1E1E"/>
                </a:solidFill>
                <a:latin typeface="Consolas"/>
              </a:rPr>
              <a:t>+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soucet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+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i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*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j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350">
                <a:solidFill>
                  <a:srgbClr val="008000"/>
                </a:solidFill>
                <a:latin typeface="Consolas"/>
              </a:rPr>
              <a:t>// C</a:t>
            </a:r>
          </a:p>
          <a:p>
            <a:pPr algn="l"/>
            <a:r>
              <a:rPr sz="1350">
                <a:solidFill>
                  <a:srgbClr val="0000FF"/>
                </a:solidFill>
                <a:latin typeface="Consolas"/>
              </a:rPr>
              <a:t>for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0000FF"/>
                </a:solidFill>
                <a:latin typeface="Consolas"/>
              </a:rPr>
              <a:t>int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i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1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i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&lt;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n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i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*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2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2B91AF"/>
                </a:solidFill>
                <a:latin typeface="Consolas"/>
              </a:rPr>
              <a:t>Console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74531F"/>
                </a:solidFill>
                <a:latin typeface="Consolas"/>
              </a:rPr>
              <a:t>WriteLine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i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350">
                <a:solidFill>
                  <a:srgbClr val="008000"/>
                </a:solidFill>
                <a:latin typeface="Consolas"/>
              </a:rPr>
              <a:t>// D – a, b jsou List&lt;int&gt;</a:t>
            </a:r>
          </a:p>
          <a:p>
            <a:pPr algn="l"/>
            <a:r>
              <a:rPr sz="1350">
                <a:solidFill>
                  <a:srgbClr val="0000FF"/>
                </a:solidFill>
                <a:latin typeface="Consolas"/>
              </a:rPr>
              <a:t>foreach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0000FF"/>
                </a:solidFill>
                <a:latin typeface="Consolas"/>
              </a:rPr>
              <a:t>int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x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in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a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if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b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74531F"/>
                </a:solidFill>
                <a:latin typeface="Consolas"/>
              </a:rPr>
              <a:t>Contains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x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pocet</a:t>
            </a:r>
            <a:r>
              <a:rPr sz="1350">
                <a:solidFill>
                  <a:srgbClr val="1E1E1E"/>
                </a:solidFill>
                <a:latin typeface="Consolas"/>
              </a:rPr>
              <a:t>+</a:t>
            </a:r>
            <a:r>
              <a:rPr sz="1350">
                <a:solidFill>
                  <a:srgbClr val="1E1E1E"/>
                </a:solidFill>
                <a:latin typeface="Consolas"/>
              </a:rPr>
              <a:t>+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Praxe – měření rychlosti algoritmů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2000"/>
              <a:t>Změřte skutečný čas algoritmů pomocí třídy Stopwatch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lineární vs. binární vyhledávání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bubble sort vs. Array.Sort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hledání duplicit přes List vs. HashSet</a:t>
            </a:r>
          </a:p>
          <a:p>
            <a:pPr>
              <a:lnSpc>
                <a:spcPct val="110000"/>
              </a:lnSpc>
            </a:pPr>
            <a:r>
              <a:rPr sz="2000"/>
              <a:t>Velikosti vstupu: 1 000, 10 000, 100 000, 1 000 000</a:t>
            </a:r>
          </a:p>
          <a:p>
            <a:pPr>
              <a:lnSpc>
                <a:spcPct val="110000"/>
              </a:lnSpc>
            </a:pPr>
            <a:r>
              <a:rPr sz="2000"/>
              <a:t>Výsledky vyneste do grafu (Excel nebo WFA)</a:t>
            </a:r>
          </a:p>
          <a:p>
            <a:pPr>
              <a:lnSpc>
                <a:spcPct val="110000"/>
              </a:lnSpc>
            </a:pPr>
            <a:r>
              <a:rPr sz="2000"/>
              <a:t>Odpovídá naměřený růst teoretické složitosti? Proč ne vždy přesně?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DA256-BEF3-4703-AFA0-C69E0571B4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03566E-0711-4326-999B-C5E7A9DBF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F53EF-9926-4E19-812B-E852BC969F57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Words>171</Words>
  <Application>Microsoft Office PowerPoint</Application>
  <PresentationFormat>Širokoúhlá obrazovka</PresentationFormat>
  <Paragraphs>31</Paragraphs>
  <Slides>7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DashVTI</vt:lpstr>
      <vt:lpstr>Soubory a složky</vt:lpstr>
      <vt:lpstr>Stream</vt:lpstr>
      <vt:lpstr>StreamReader, StreamWriter</vt:lpstr>
      <vt:lpstr>Příklad čtení a zápisu do textového</vt:lpstr>
      <vt:lpstr>Neexistující soubor pro zápis</vt:lpstr>
      <vt:lpstr>File</vt:lpstr>
      <vt:lpstr>Directory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42</cp:revision>
  <dcterms:created xsi:type="dcterms:W3CDTF">2022-09-21T15:44:15Z</dcterms:created>
  <dcterms:modified xsi:type="dcterms:W3CDTF">2026-09-03T05:46:04Z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0x0101001551E01F061E674F96D9948F82E90CC0</vt:lpwstr>
  </property>
  <property fmtid="{D5CDD505-2E9C-101B-9397-08002B2CF9AE}" pid="3" name="Order">
    <vt:r8>5200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