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Klikněte pro přesun snímku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32754BA-B17B-4945-9541-091AA3C87879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Chyby: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chybí where T : IComparable&lt;T&gt; → CompareTo se nepřeloží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veřejný field List – kdokoliv ho přepíše nebo vymaže; lépe private + metody Pridej / VratVse (kopie)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prázdný seznam → Polozky[0] vyhodí ArgumentOutOfRangeException; ošetřit vlastní výjimkou s jasnou zprávou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Prvni() vrací object – ztrácí se smysl generik, má vracet T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BAFCAC-425C-45BE-A9A2-24FB22E11296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1B6F37-F429-4ECB-A2FE-A9CF9CEAA3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099179-0F56-4873-892D-8744A5E80E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83F0F18-9865-4B4F-94DC-213AF3C310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E646F05-505F-49B5-A298-2163AC96C1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3FE7664-C089-4F0F-8D0F-00D2EA5703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914400" y="2559240"/>
            <a:ext cx="505692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24400" y="2559240"/>
            <a:ext cx="505692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6685925-6F9E-47B9-B4BC-9FE11664EE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64318A3-D56B-4C83-8835-56A2A5A408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815E0EC-1369-4AC2-9310-C9F43CDE44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7D3522E-1087-4FCD-8EB5-C552470F85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2FF0324-AA58-410D-BBA0-4FA363CFC6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CE9F328-6A39-4716-9B60-5BE06A5E22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5935320" cy="269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edit Master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4932C8-0412-4EFC-B696-03E947F9F75C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edit Master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k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o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d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M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a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r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x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y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o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n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d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v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h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i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r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o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u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r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h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v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i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h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v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F3A882-D118-4AE9-9848-9FC6A347862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98000" y="1401120"/>
            <a:ext cx="2155320" cy="477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li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k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o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d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it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M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a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r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ti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tl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y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401120"/>
            <a:ext cx="8231760" cy="477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A5D1DC-884E-4238-BE1B-E1590EDEFEB1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21F4D8-CACA-4E32-A8C5-896AC4815C73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2600" y="1709640"/>
            <a:ext cx="921456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912600" y="5018400"/>
            <a:ext cx="7906680" cy="107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236C0B-C253-4B71-B3E9-DFE9C7CA37EB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9144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0A6AD8-C7CB-4636-8334-83C3D5370F2C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333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912600" y="3006720"/>
            <a:ext cx="5084640" cy="31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333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3006720"/>
            <a:ext cx="5182920" cy="31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0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1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AE7FF4-E811-4741-82A5-E68F54BE1F24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2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3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A3D289-ECDA-494C-805C-3027950602BD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Klikněte pro úpravu formátu textu osnovy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Druhá úroveň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Třetí úroveň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Čtvrtá úroveň osnovy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Pátá úroveň osnovy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Šestá úroveň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Sedmá úroveň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109A4F-D482-49B1-8273-C4DA3BE59C18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912600" y="2934720"/>
            <a:ext cx="3859200" cy="29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3A292E-10D3-42D2-853C-937EAE3A491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Klikněte pro úpravu formátu textu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Druhá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Třetí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Čtvrtá úroveň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Pátá úroveň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Šestá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Sedmá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912600" y="2934720"/>
            <a:ext cx="3859200" cy="29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6059FD-A2A6-4CBA-825B-BE4F70B57A95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12600" y="1709640"/>
            <a:ext cx="921456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Grandview Display"/>
              </a:rPr>
              <a:t>Generika</a:t>
            </a:r>
            <a:endParaRPr b="0" lang="en-US" sz="4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12600" y="5018400"/>
            <a:ext cx="7906680" cy="107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Grandview Display"/>
              </a:rPr>
              <a:t>PROGRAMOVÁNÍ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3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AABB8895-6381-42BA-B600-D6FC99DE359A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3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F157053F-EA70-463C-BEC3-9EF5190BF84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Problém: stejný kód pro různé typy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Zásobník pro </a:t>
            </a:r>
            <a:r>
              <a:rPr b="0" lang="en-US" sz="1700" spc="-1" strike="noStrike">
                <a:solidFill>
                  <a:schemeClr val="dk1"/>
                </a:solidFill>
                <a:latin typeface="Consolas"/>
              </a:rPr>
              <a:t>int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 → </a:t>
            </a:r>
            <a:r>
              <a:rPr b="0" lang="en-US" sz="1700" spc="-1" strike="noStrike">
                <a:solidFill>
                  <a:schemeClr val="dk1"/>
                </a:solidFill>
                <a:latin typeface="Consolas"/>
              </a:rPr>
              <a:t>IntZasobnik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Zásobník pro </a:t>
            </a:r>
            <a:r>
              <a:rPr b="0" lang="en-US" sz="1700" spc="-1" strike="noStrike">
                <a:solidFill>
                  <a:schemeClr val="dk1"/>
                </a:solidFill>
                <a:latin typeface="Consolas"/>
              </a:rPr>
              <a:t>string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 → zkopírujeme a přepíšeme typ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Zásobník pro </a:t>
            </a:r>
            <a:r>
              <a:rPr b="0" lang="en-US" sz="1700" spc="-1" strike="noStrike">
                <a:solidFill>
                  <a:schemeClr val="dk1"/>
                </a:solidFill>
                <a:latin typeface="Consolas"/>
              </a:rPr>
              <a:t>Student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 → zase kopie…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Kód se liší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jen datovým typem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 – porušení DRY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Řešení přes </a:t>
            </a:r>
            <a:r>
              <a:rPr b="0" lang="en-US" sz="1700" spc="-1" strike="noStrike">
                <a:solidFill>
                  <a:schemeClr val="dk1"/>
                </a:solidFill>
                <a:latin typeface="Consolas"/>
              </a:rPr>
              <a:t>object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?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funguje pro cokoliv, ale ztrácíme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typovou bezpečnost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nutné ruční přetypování při čtení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u hodnotových typů navíc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boxing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Řešení: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generika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 – typ doplníme až při použití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3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A8809886-E85F-4EB2-8457-083843EB87B2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sldNum" idx="4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EFF28094-ED4A-4A7A-8D65-CA9F8DD8987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object vs. generika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Zásobník přes object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Generický zásobník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4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75AEBAD1-87A9-4B1A-927F-BD88A3A96525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4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5F8B6BAF-7BFF-44A4-ACBE-D71EAB805692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912600" y="3080160"/>
            <a:ext cx="5084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Kompilátor nic nezkontroluje, chyba až za běhu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15"/>
          <p:cNvSpPr/>
          <p:nvPr/>
        </p:nvSpPr>
        <p:spPr>
          <a:xfrm>
            <a:off x="6172200" y="3080160"/>
            <a:ext cx="5182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Chybný typ odhalí už kompilátor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Kód"/>
          <p:cNvSpPr/>
          <p:nvPr/>
        </p:nvSpPr>
        <p:spPr>
          <a:xfrm>
            <a:off x="912600" y="3750120"/>
            <a:ext cx="508464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ObjectovyZasobnik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z =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ObjectovyZasobnik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z.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Push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(42);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z.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Push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a31515"/>
                </a:solidFill>
                <a:latin typeface="Consolas"/>
              </a:rPr>
              <a:t>"text"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);        </a:t>
            </a: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projde bez varování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c = (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)z.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Pop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();  </a:t>
            </a: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InvalidCastException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Kód"/>
          <p:cNvSpPr/>
          <p:nvPr/>
        </p:nvSpPr>
        <p:spPr>
          <a:xfrm>
            <a:off x="6172200" y="3750120"/>
            <a:ext cx="518292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Zasobnik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&gt; z =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Zasobnik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&gt;();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z.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Push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(42);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z.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Push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400" spc="-1" strike="noStrike">
                <a:solidFill>
                  <a:srgbClr val="a31515"/>
                </a:solidFill>
                <a:latin typeface="Consolas"/>
              </a:rPr>
              <a:t>"text"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);        </a:t>
            </a:r>
            <a:r>
              <a:rPr b="0" lang="en-US" sz="1400" spc="-1" strike="noStrike">
                <a:solidFill>
                  <a:srgbClr val="008000"/>
                </a:solidFill>
                <a:latin typeface="Consolas"/>
              </a:rPr>
              <a:t>// chyba při kompilaci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c = z.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Pop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();       </a:t>
            </a:r>
            <a:r>
              <a:rPr b="0" lang="en-US" sz="1400" spc="-1" strike="noStrike">
                <a:solidFill>
                  <a:srgbClr val="008000"/>
                </a:solidFill>
                <a:latin typeface="Consolas"/>
              </a:rPr>
              <a:t>// bez přetypování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Generická třída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&lt;T&gt;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za názvem třídy =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typový parametr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 je zástupný symbol za konkrétní typ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Uvnitř třídy používáme T jako běžný typ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u atributů, parametrů i návratových hodnot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Konkrétní typ se dosadí při vytvoření instance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Jedna třída, libovolně mnoho typů – bez kopírování kódu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4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A715097B-6F0E-4A2E-8254-E281771892AC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4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D2A1F134-07CA-45B9-8D84-CE3FBDDB266B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Zasobnik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&lt;T&gt;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&lt;T&gt; data =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&lt;T&gt;();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Push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(T item) =&gt; data.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Add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(item);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T 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Pop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()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T posledni = data[data.Count - 1];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data.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RemoveAt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(data.Count - 1);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return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posledni;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Count =&gt; data.Count;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Generika, která už znáte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S generiky pracujete od 1. ročníku: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List&lt;T&gt;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,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Dictionary&lt;TKey, TValue&gt;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Queue&lt;T&gt;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,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Stack&lt;T&gt;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,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HashSet&lt;T&gt;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IComparable&lt;T&gt;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z OOP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Dosud jste je jen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používali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Teď umíte takovou třídu i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napsat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Zasobnik&lt;int&gt;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a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List&lt;int&gt;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= stejný princip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4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A880DE0D-625A-4E8F-A6F6-CC2BF7E7BD6D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sldNum" idx="4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1E0A2AE7-F3FD-4C0A-8391-D93E172AD0C4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 jmena =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&gt;();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Dictionary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 body =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Dictionary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&gt;();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Zasobnik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 cisla =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Zasobnik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&gt;();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cisla.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Push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(5);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cisla.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Push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(10);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vrchol = cisla.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Pop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();    </a:t>
            </a: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10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Zasobnik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Student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 fronta =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Zasobnik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Student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&gt;();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Generická metoda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Generická může být i jen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jedna metoda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&lt;T&gt;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se píše mezi název metody a závorky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Kompilátor typ obvykle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odvodí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z argumentů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Max(5, 10)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→ T je int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Bez omezení kompilátor o T nic neví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proto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where T : IComparable&lt;T&gt;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4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656DDF2C-4EBA-4305-8912-840C874155F0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sldNum" idx="4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36074CEB-9F3A-429B-9435-4EDE82069431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static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T Max&lt;T&gt;(T a, T b)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where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T :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IComparable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&lt;T&gt;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return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a.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CompareTo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(b) &gt; 0 ? a : b;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Max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(5, 10));          </a:t>
            </a: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10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Max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a31515"/>
                </a:solidFill>
                <a:latin typeface="Consolas"/>
              </a:rPr>
              <a:t>"Ahoj"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, </a:t>
            </a:r>
            <a:r>
              <a:rPr b="0" lang="en-US" sz="1350" spc="-1" strike="noStrike">
                <a:solidFill>
                  <a:srgbClr val="a31515"/>
                </a:solidFill>
                <a:latin typeface="Consolas"/>
              </a:rPr>
              <a:t>"Zdar"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));  </a:t>
            </a: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Zdar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(Max&lt;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&gt;(2, 3.5)); </a:t>
            </a: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3.5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Omezení typového parametru (where)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dt" idx="4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76632732-40F5-4381-98B6-46874EE96000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5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C235064E-E372-4B8C-8B28-DB2CD276EEE2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8" name="Table 14"/>
          <p:cNvGraphicFramePr/>
          <p:nvPr/>
        </p:nvGraphicFramePr>
        <p:xfrm>
          <a:off x="914400" y="2599920"/>
          <a:ext cx="10362960" cy="3071880"/>
        </p:xfrm>
        <a:graphic>
          <a:graphicData uri="http://schemas.openxmlformats.org/drawingml/2006/table">
            <a:tbl>
              <a:tblPr/>
              <a:tblGrid>
                <a:gridCol w="4352400"/>
                <a:gridCol w="6010560"/>
              </a:tblGrid>
              <a:tr h="4388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Omezení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Co zajišťuje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</a:tr>
              <a:tr h="4388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where T : IComparable&lt;T&gt;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 umí porovnání přes CompareTo()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8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where T : class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 musí být referenční typ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388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where T : struct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 musí být hodnotový typ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8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where T : new()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 musí mít bezparametrický konstruktor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388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where T : NazevRozhrani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 musí implementovat dané rozhraní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8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where T : NazevTridy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 musí být daná třída nebo její potomek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Více typových parametrů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Parametry oddělujeme čárkou – jako u Dictionary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Mohou, ale nemusí být stejného typu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Konvence pojmenování: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T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jeden parametr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TKey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,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TValue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,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TResult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výstižný název s předponou T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Omezení lze zadat pro každý parametr zvlášť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dt" idx="5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D2114665-22E7-4F64-90C2-37411CDADF51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sldNum" idx="5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4F236F82-A7BE-47B1-B573-93E1990C3CC5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Dvojice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&lt;T1, T2&gt;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T1 Prvni {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T2 Druhy {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Dvojice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 zaznam =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Dvojice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Prvni = 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</a:rPr>
              <a:t>"Kamil"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,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Druhy = 17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};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Proč generika, a ne object?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dt" idx="5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C60AE510-7FFF-4619-9D27-F4AAB0C5A533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5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A7BF102B-BBFB-485F-B36B-EB64CBC160DB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27" name="Table 14"/>
          <p:cNvGraphicFramePr/>
          <p:nvPr/>
        </p:nvGraphicFramePr>
        <p:xfrm>
          <a:off x="914400" y="2599920"/>
          <a:ext cx="10362960" cy="2514600"/>
        </p:xfrm>
        <a:graphic>
          <a:graphicData uri="http://schemas.openxmlformats.org/drawingml/2006/table">
            <a:tbl>
              <a:tblPr/>
              <a:tblGrid>
                <a:gridCol w="3108960"/>
                <a:gridCol w="3627000"/>
                <a:gridCol w="362700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Grandview Display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object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Generika (T)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Typová bezpečnost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kontrola až za běhu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kontrola při kompilaci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Přetypování při čtení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nutné: (int)hodnota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není potřeba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Boxing hodnotových typů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 – paměť i čas navíc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Čitelnost signatury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není jasné, co se čeká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Zasobnik&lt;Student&gt; je jasný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Code review – co je špatně?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Generické úložiště navrhl AI asistent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Najděte problémy: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Přeloží se metoda Nejvetsi()?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Je dodrženo zapouzdření?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Co se stane u prázdného úložiště?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Proč je Prvni() podezřelá?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Navrhněte opravenou verzi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dt" idx="5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205E0B42-5F63-4280-A40F-1075CEA6007E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sldNum" idx="5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C19A5068-B3DB-4C2C-A7D8-17E5C440ED2D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Uloziste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&lt;T&gt;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&lt;T&gt; Polozky =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&lt;T&gt;();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T </a:t>
            </a:r>
            <a:r>
              <a:rPr b="0" lang="en-US" sz="1450" spc="-1" strike="noStrike">
                <a:solidFill>
                  <a:srgbClr val="74531f"/>
                </a:solidFill>
                <a:latin typeface="Consolas"/>
              </a:rPr>
              <a:t>Nejvetsi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()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T max = Polozky[0];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foreach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(T p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in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Polozky)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    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(p.</a:t>
            </a:r>
            <a:r>
              <a:rPr b="0" lang="en-US" sz="1450" spc="-1" strike="noStrike">
                <a:solidFill>
                  <a:srgbClr val="74531f"/>
                </a:solidFill>
                <a:latin typeface="Consolas"/>
              </a:rPr>
              <a:t>CompareTo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(max) &gt; 0)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            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max = p;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return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max;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74531f"/>
                </a:solidFill>
                <a:latin typeface="Consolas"/>
              </a:rPr>
              <a:t>Prvni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() =&gt; Polozky[0];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Praxe – projektová úloha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Generický žebříček pro vaši hru nebo aplikaci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marL="493920" indent="-22860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Třída Zebricek&lt;T&gt; where T : IComparable&lt;T&gt;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marL="493920" indent="-22860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Pridej(T polozka), Top(int n), Pozice(T polozka)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marL="493920" indent="-22860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Žebříček drží nejvýše N položek, nejhorší vypadává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Použijte ho alespoň pro dva různé typy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marL="493920" indent="-22860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např. Hrac podle skóre a Cas podle délky kola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Ověřte okrajové případy: prázdný žebříček, shodné hodnoty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AI jako konzultant – použití zdokumentujte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5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E0D338C8-BDC0-4118-BEB3-C5FD62F79B7F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5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D8F6E315-0959-41E9-BD30-025B7D6E9F9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442</TotalTime>
  <Application>LibreOffice/24.2.7.2$Linux_X86_64 LibreOffice_project/420$Build-2</Application>
  <AppVersion>15.0000</AppVersion>
  <Words>171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2022-09-21T15:44:15Z</dcterms:created>
  <dc:creator>Sládeček David</dc:creator>
  <dc:description/>
  <dc:language>cs-CZ</dc:language>
  <cp:lastModifiedBy>David Sládeček</cp:lastModifiedBy>
  <dcterms:modified xsi:type="dcterms:W3CDTF">2026-10-02T13:48:08Z</dcterms:modified>
  <cp:revision>43</cp:revision>
  <dc:subject/>
  <dc:title>Programování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0x0101001551E01F061E674F96D9948F82E90CC0</vt:lpwstr>
  </property>
  <property fmtid="{D5CDD505-2E9C-101B-9397-08002B2CF9AE}" pid="4" name="Notes">
    <vt:i4>1</vt:i4>
  </property>
  <property fmtid="{D5CDD505-2E9C-101B-9397-08002B2CF9AE}" pid="5" name="Order">
    <vt:r8>5200</vt:r8>
  </property>
  <property fmtid="{D5CDD505-2E9C-101B-9397-08002B2CF9AE}" pid="6" name="PresentationFormat">
    <vt:lpwstr>Širokoúhlá obrazovka</vt:lpwstr>
  </property>
  <property fmtid="{D5CDD505-2E9C-101B-9397-08002B2CF9AE}" pid="7" name="Slides">
    <vt:i4>7</vt:i4>
  </property>
  <property fmtid="{D5CDD505-2E9C-101B-9397-08002B2CF9AE}" pid="8" name="TemplateUrl">
    <vt:lpwstr/>
  </property>
  <property fmtid="{D5CDD505-2E9C-101B-9397-08002B2CF9AE}" pid="9" name="TriggerFlowInfo">
    <vt:lpwstr/>
  </property>
  <property fmtid="{D5CDD505-2E9C-101B-9397-08002B2CF9AE}" pid="10" name="_ExtendedDescription">
    <vt:lpwstr/>
  </property>
  <property fmtid="{D5CDD505-2E9C-101B-9397-08002B2CF9AE}" pid="11" name="_SharedFileIndex">
    <vt:lpwstr/>
  </property>
  <property fmtid="{D5CDD505-2E9C-101B-9397-08002B2CF9AE}" pid="12" name="_SourceUrl">
    <vt:lpwstr/>
  </property>
  <property fmtid="{D5CDD505-2E9C-101B-9397-08002B2CF9AE}" pid="13" name="xd_ProgID">
    <vt:lpwstr/>
  </property>
  <property fmtid="{D5CDD505-2E9C-101B-9397-08002B2CF9AE}" pid="14" name="xd_Signature">
    <vt:bool>0</vt:bool>
  </property>
</Properties>
</file>