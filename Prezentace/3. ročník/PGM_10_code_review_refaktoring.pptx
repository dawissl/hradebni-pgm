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8" r:id="rId4"/>
  </p:sldMasterIdLst>
  <p:notesMasterIdLst>
    <p:notesMasterId r:id="rId12"/>
  </p:notesMasterIdLst>
  <p:sldIdLst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5" dt="2026-09-03T05:44:59.0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8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microsoft.com/office/2016/11/relationships/changesInfo" Target="changesInfos/changesInfo1.xml"/><Relationship Id="rId18" Type="http://schemas.microsoft.com/office/2015/10/relationships/revisionInfo" Target="revisionInfo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ládeček David" userId="S::sladecek@hradebni.cz::474d93f0-3a32-49cc-b837-47806091b590" providerId="AD" clId="Web-{00000000-0000-0000-0000-000000000000}"/>
    <pc:docChg chg="mod modSld addMainMaster delMainMaster">
      <pc:chgData name="Sládeček David" userId="S::sladecek@hradebni.cz::474d93f0-3a32-49cc-b837-47806091b590" providerId="AD" clId="Web-{00000000-0000-0000-0000-000000000000}" dt="2026-09-03T05:46:01.088" v="17"/>
      <pc:docMkLst>
        <pc:docMk/>
      </pc:docMkLst>
      <pc:sldChg chg="addSp delSp modSp mod setBg modClrScheme delDesignElem chgLayout">
        <pc:chgData name="Sládeček David" userId="S::sladecek@hradebni.cz::474d93f0-3a32-49cc-b837-47806091b590" providerId="AD" clId="Web-{00000000-0000-0000-0000-000000000000}" dt="2026-09-03T05:44:55.555" v="13" actId="20577"/>
        <pc:sldMkLst>
          <pc:docMk/>
          <pc:sldMk cId="1179415898" sldId="256"/>
        </pc:sldMkLst>
        <pc:spChg chg="mod ord">
          <ac:chgData name="Sládeček David" userId="S::sladecek@hradebni.cz::474d93f0-3a32-49cc-b837-47806091b590" providerId="AD" clId="Web-{00000000-0000-0000-0000-000000000000}" dt="2026-09-03T05:44:46.039" v="10" actId="20577"/>
          <ac:spMkLst>
            <pc:docMk/>
            <pc:sldMk cId="1179415898" sldId="256"/>
            <ac:spMk id="2" creationId="{37C90CD6-0E54-5071-9182-36048610B614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4:55.555" v="13" actId="20577"/>
          <ac:spMkLst>
            <pc:docMk/>
            <pc:sldMk cId="1179415898" sldId="256"/>
            <ac:spMk id="3" creationId="{EE364F67-BE5F-AA7F-9525-0F7D636F30F1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4:37.226" v="2"/>
          <ac:spMkLst>
            <pc:docMk/>
            <pc:sldMk cId="1179415898" sldId="256"/>
            <ac:spMk id="8" creationId="{85AE27A1-125B-7955-BB01-DB47E1984921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1179415898" sldId="256"/>
            <ac:spMk id="9" creationId="{C0782607-67EF-47AC-96DF-A7DE2A282CCB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4:37.226" v="2"/>
          <ac:spMkLst>
            <pc:docMk/>
            <pc:sldMk cId="1179415898" sldId="256"/>
            <ac:spMk id="10" creationId="{090B1A9B-4205-8525-E5AA-27B99868A41B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1179415898" sldId="256"/>
            <ac:spMk id="11" creationId="{65351FED-1024-4E4A-BE3B-371ABFCDF670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4:37.226" v="2"/>
          <ac:spMkLst>
            <pc:docMk/>
            <pc:sldMk cId="1179415898" sldId="256"/>
            <ac:spMk id="12" creationId="{2B584676-79BC-4E35-6927-8126B364614D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1179415898" sldId="256"/>
            <ac:spMk id="13" creationId="{6692CD4C-1BDD-4687-BFFE-33F1462F855E}"/>
          </ac:spMkLst>
        </pc:spChg>
        <pc:picChg chg="del">
          <ac:chgData name="Sládeček David" userId="S::sladecek@hradebni.cz::474d93f0-3a32-49cc-b837-47806091b590" providerId="AD" clId="Web-{00000000-0000-0000-0000-000000000000}" dt="2026-09-03T05:44:31.741" v="1"/>
          <ac:picMkLst>
            <pc:docMk/>
            <pc:sldMk cId="1179415898" sldId="256"/>
            <ac:picMk id="5" creationId="{DF8F8E36-46E3-C140-472F-2A2C04AC366E}"/>
          </ac:picMkLst>
        </pc:picChg>
      </pc:sldChg>
      <pc:sldChg chg="addSp modSp mod modClrScheme chgLayout">
        <pc:chgData name="Sládeček David" userId="S::sladecek@hradebni.cz::474d93f0-3a32-49cc-b837-47806091b590" providerId="AD" clId="Web-{00000000-0000-0000-0000-000000000000}" dt="2026-09-03T05:45:31.931" v="14"/>
        <pc:sldMkLst>
          <pc:docMk/>
          <pc:sldMk cId="1193411076" sldId="257"/>
        </pc:sldMkLst>
        <pc:spChg chg="mod ord">
          <ac:chgData name="Sládeček David" userId="S::sladecek@hradebni.cz::474d93f0-3a32-49cc-b837-47806091b590" providerId="AD" clId="Web-{00000000-0000-0000-0000-000000000000}" dt="2026-09-03T05:45:31.931" v="14"/>
          <ac:spMkLst>
            <pc:docMk/>
            <pc:sldMk cId="1193411076" sldId="257"/>
            <ac:spMk id="2" creationId="{C2ABE8DD-861D-6DE5-4EB8-111F9340CB2B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5:31.931" v="14"/>
          <ac:spMkLst>
            <pc:docMk/>
            <pc:sldMk cId="1193411076" sldId="257"/>
            <ac:spMk id="3" creationId="{65972E93-DAC9-E513-56E0-FAE4C410CF5A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31.931" v="14"/>
          <ac:spMkLst>
            <pc:docMk/>
            <pc:sldMk cId="1193411076" sldId="257"/>
            <ac:spMk id="8" creationId="{B04C8FDB-7636-E099-933A-56FA7B97D758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31.931" v="14"/>
          <ac:spMkLst>
            <pc:docMk/>
            <pc:sldMk cId="1193411076" sldId="257"/>
            <ac:spMk id="10" creationId="{D695048C-4ED8-1785-CE5A-487FCF825C45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31.931" v="14"/>
          <ac:spMkLst>
            <pc:docMk/>
            <pc:sldMk cId="1193411076" sldId="257"/>
            <ac:spMk id="12" creationId="{67D57CBD-615F-100D-50B2-90B3CAFEB464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31.931" v="14"/>
          <ac:spMkLst>
            <pc:docMk/>
            <pc:sldMk cId="1193411076" sldId="257"/>
            <ac:spMk id="14" creationId="{16149381-361D-52A0-14E9-6E4EB5378B3B}"/>
          </ac:spMkLst>
        </pc:spChg>
      </pc:sldChg>
      <pc:sldChg chg="addSp modSp mod modClrScheme chgLayout">
        <pc:chgData name="Sládeček David" userId="S::sladecek@hradebni.cz::474d93f0-3a32-49cc-b837-47806091b590" providerId="AD" clId="Web-{00000000-0000-0000-0000-000000000000}" dt="2026-09-03T05:45:42.978" v="15"/>
        <pc:sldMkLst>
          <pc:docMk/>
          <pc:sldMk cId="3505840516" sldId="258"/>
        </pc:sldMkLst>
        <pc:spChg chg="mod ord">
          <ac:chgData name="Sládeček David" userId="S::sladecek@hradebni.cz::474d93f0-3a32-49cc-b837-47806091b590" providerId="AD" clId="Web-{00000000-0000-0000-0000-000000000000}" dt="2026-09-03T05:45:42.978" v="15"/>
          <ac:spMkLst>
            <pc:docMk/>
            <pc:sldMk cId="3505840516" sldId="258"/>
            <ac:spMk id="2" creationId="{AB386235-FE3A-529E-ABE4-2D0F0B9610CE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5:42.978" v="15"/>
          <ac:spMkLst>
            <pc:docMk/>
            <pc:sldMk cId="3505840516" sldId="258"/>
            <ac:spMk id="3" creationId="{232C0A67-6AAD-4B74-66BE-EE8315B5FD24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42.978" v="15"/>
          <ac:spMkLst>
            <pc:docMk/>
            <pc:sldMk cId="3505840516" sldId="258"/>
            <ac:spMk id="1031" creationId="{C4915C41-4C4D-22DA-6C1D-8EDCD60CBD6F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42.978" v="15"/>
          <ac:spMkLst>
            <pc:docMk/>
            <pc:sldMk cId="3505840516" sldId="258"/>
            <ac:spMk id="1033" creationId="{70C36DC6-11A5-C29B-C763-7C78570966D0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42.978" v="15"/>
          <ac:spMkLst>
            <pc:docMk/>
            <pc:sldMk cId="3505840516" sldId="258"/>
            <ac:spMk id="1035" creationId="{E622008F-6F8C-F456-F22A-BD8F931FB1F8}"/>
          </ac:spMkLst>
        </pc:spChg>
        <pc:picChg chg="mod">
          <ac:chgData name="Sládeček David" userId="S::sladecek@hradebni.cz::474d93f0-3a32-49cc-b837-47806091b590" providerId="AD" clId="Web-{00000000-0000-0000-0000-000000000000}" dt="2026-09-03T05:45:42.978" v="15"/>
          <ac:picMkLst>
            <pc:docMk/>
            <pc:sldMk cId="3505840516" sldId="258"/>
            <ac:picMk id="1026" creationId="{B200EB5D-7C8D-FFC8-A35F-45486B972532}"/>
          </ac:picMkLst>
        </pc:picChg>
      </pc:sldChg>
      <pc:sldChg chg="modSp mod modClrScheme chgLayout">
        <pc:chgData name="Sládeček David" userId="S::sladecek@hradebni.cz::474d93f0-3a32-49cc-b837-47806091b590" providerId="AD" clId="Web-{00000000-0000-0000-0000-000000000000}" dt="2026-09-03T05:44:24.397" v="0"/>
        <pc:sldMkLst>
          <pc:docMk/>
          <pc:sldMk cId="196183517" sldId="259"/>
        </pc:sldMkLst>
        <pc:spChg chg="mod ord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196183517" sldId="259"/>
            <ac:spMk id="2" creationId="{CC085EB1-21A1-CD43-A142-E14178B802F8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196183517" sldId="259"/>
            <ac:spMk id="4" creationId="{F5FE7AC0-A3B1-E3C0-FBD1-32FCB56D6E93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196183517" sldId="259"/>
            <ac:spMk id="6" creationId="{50EDE671-98A9-5358-733F-213EF1E92BAD}"/>
          </ac:spMkLst>
        </pc:spChg>
        <pc:picChg chg="mod ord">
          <ac:chgData name="Sládeček David" userId="S::sladecek@hradebni.cz::474d93f0-3a32-49cc-b837-47806091b590" providerId="AD" clId="Web-{00000000-0000-0000-0000-000000000000}" dt="2026-09-03T05:44:24.397" v="0"/>
          <ac:picMkLst>
            <pc:docMk/>
            <pc:sldMk cId="196183517" sldId="259"/>
            <ac:picMk id="9" creationId="{3648A306-1FEE-D803-2355-BF6400B690C5}"/>
          </ac:picMkLst>
        </pc:picChg>
        <pc:picChg chg="mod ord">
          <ac:chgData name="Sládeček David" userId="S::sladecek@hradebni.cz::474d93f0-3a32-49cc-b837-47806091b590" providerId="AD" clId="Web-{00000000-0000-0000-0000-000000000000}" dt="2026-09-03T05:44:24.397" v="0"/>
          <ac:picMkLst>
            <pc:docMk/>
            <pc:sldMk cId="196183517" sldId="259"/>
            <ac:picMk id="11" creationId="{2DA7B9AA-1866-F0CF-B410-4AC99794489B}"/>
          </ac:picMkLst>
        </pc:picChg>
      </pc:sldChg>
      <pc:sldChg chg="modSp mod modClrScheme chgLayout">
        <pc:chgData name="Sládeček David" userId="S::sladecek@hradebni.cz::474d93f0-3a32-49cc-b837-47806091b590" providerId="AD" clId="Web-{00000000-0000-0000-0000-000000000000}" dt="2026-09-03T05:44:24.397" v="0"/>
        <pc:sldMkLst>
          <pc:docMk/>
          <pc:sldMk cId="946532546" sldId="261"/>
        </pc:sldMkLst>
        <pc:spChg chg="mod ord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946532546" sldId="261"/>
            <ac:spMk id="2" creationId="{3E495D63-421F-19F8-9DDA-3496A16EE21A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946532546" sldId="261"/>
            <ac:spMk id="4" creationId="{10C756C9-0A46-08F9-4580-4EBB5A356F4B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946532546" sldId="261"/>
            <ac:spMk id="6" creationId="{20518221-AF82-FBC4-9E4A-D0692794CDC2}"/>
          </ac:spMkLst>
        </pc:spChg>
        <pc:picChg chg="mod ord">
          <ac:chgData name="Sládeček David" userId="S::sladecek@hradebni.cz::474d93f0-3a32-49cc-b837-47806091b590" providerId="AD" clId="Web-{00000000-0000-0000-0000-000000000000}" dt="2026-09-03T05:44:24.397" v="0"/>
          <ac:picMkLst>
            <pc:docMk/>
            <pc:sldMk cId="946532546" sldId="261"/>
            <ac:picMk id="9" creationId="{0B85BDB5-7257-A0A1-E77A-D60E437849AB}"/>
          </ac:picMkLst>
        </pc:picChg>
        <pc:picChg chg="mod ord">
          <ac:chgData name="Sládeček David" userId="S::sladecek@hradebni.cz::474d93f0-3a32-49cc-b837-47806091b590" providerId="AD" clId="Web-{00000000-0000-0000-0000-000000000000}" dt="2026-09-03T05:44:24.397" v="0"/>
          <ac:picMkLst>
            <pc:docMk/>
            <pc:sldMk cId="946532546" sldId="261"/>
            <ac:picMk id="11" creationId="{BB6D7327-302B-509A-422C-D85A5C7DEA80}"/>
          </ac:picMkLst>
        </pc:picChg>
      </pc:sldChg>
      <pc:sldChg chg="addSp delSp modSp mod setBg modClrScheme delDesignElem chgLayout">
        <pc:chgData name="Sládeček David" userId="S::sladecek@hradebni.cz::474d93f0-3a32-49cc-b837-47806091b590" providerId="AD" clId="Web-{00000000-0000-0000-0000-000000000000}" dt="2026-09-03T05:45:54.619" v="16"/>
        <pc:sldMkLst>
          <pc:docMk/>
          <pc:sldMk cId="1985706453" sldId="262"/>
        </pc:sldMkLst>
        <pc:spChg chg="mod ord">
          <ac:chgData name="Sládeček David" userId="S::sladecek@hradebni.cz::474d93f0-3a32-49cc-b837-47806091b590" providerId="AD" clId="Web-{00000000-0000-0000-0000-000000000000}" dt="2026-09-03T05:45:54.619" v="16"/>
          <ac:spMkLst>
            <pc:docMk/>
            <pc:sldMk cId="1985706453" sldId="262"/>
            <ac:spMk id="2" creationId="{97C71524-CE29-7204-814A-2C171F5C7AA0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5:54.619" v="16"/>
          <ac:spMkLst>
            <pc:docMk/>
            <pc:sldMk cId="1985706453" sldId="262"/>
            <ac:spMk id="3" creationId="{FCE06F1C-D258-274F-C40F-A7826AB59DB8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54.619" v="16"/>
          <ac:spMkLst>
            <pc:docMk/>
            <pc:sldMk cId="1985706453" sldId="262"/>
            <ac:spMk id="7" creationId="{8B9CD985-E840-BEAC-7B97-8E147416AE84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54.619" v="16"/>
          <ac:spMkLst>
            <pc:docMk/>
            <pc:sldMk cId="1985706453" sldId="262"/>
            <ac:spMk id="8" creationId="{F4ACA565-9F73-792B-C518-BC1899CB5307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54.619" v="16"/>
          <ac:spMkLst>
            <pc:docMk/>
            <pc:sldMk cId="1985706453" sldId="262"/>
            <ac:spMk id="9" creationId="{C5C07FE7-A99F-A56B-27A0-8B9C7EECD560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1985706453" sldId="262"/>
            <ac:spMk id="10" creationId="{FBFE3618-8387-4153-870E-99EA1B9784F5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1985706453" sldId="262"/>
            <ac:spMk id="12" creationId="{BB99A42A-5548-4BB8-9115-A05821C360AB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1985706453" sldId="262"/>
            <ac:spMk id="14" creationId="{D49441E5-946F-46B3-BDD2-BAD088532367}"/>
          </ac:spMkLst>
        </pc:spChg>
        <pc:picChg chg="mod">
          <ac:chgData name="Sládeček David" userId="S::sladecek@hradebni.cz::474d93f0-3a32-49cc-b837-47806091b590" providerId="AD" clId="Web-{00000000-0000-0000-0000-000000000000}" dt="2026-09-03T05:45:54.619" v="16"/>
          <ac:picMkLst>
            <pc:docMk/>
            <pc:sldMk cId="1985706453" sldId="262"/>
            <ac:picMk id="5" creationId="{D171B47B-9E9F-AB8E-C232-952551B6B406}"/>
          </ac:picMkLst>
        </pc:picChg>
      </pc:sldChg>
      <pc:sldChg chg="addSp delSp modSp mod setBg modClrScheme delDesignElem chgLayout">
        <pc:chgData name="Sládeček David" userId="S::sladecek@hradebni.cz::474d93f0-3a32-49cc-b837-47806091b590" providerId="AD" clId="Web-{00000000-0000-0000-0000-000000000000}" dt="2026-09-03T05:46:01.088" v="17"/>
        <pc:sldMkLst>
          <pc:docMk/>
          <pc:sldMk cId="466483557" sldId="263"/>
        </pc:sldMkLst>
        <pc:spChg chg="mod ord">
          <ac:chgData name="Sládeček David" userId="S::sladecek@hradebni.cz::474d93f0-3a32-49cc-b837-47806091b590" providerId="AD" clId="Web-{00000000-0000-0000-0000-000000000000}" dt="2026-09-03T05:46:01.088" v="17"/>
          <ac:spMkLst>
            <pc:docMk/>
            <pc:sldMk cId="466483557" sldId="263"/>
            <ac:spMk id="2" creationId="{C9B8D8AD-726C-7AB6-573B-2C2C8B0A62DF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6:01.088" v="17"/>
          <ac:spMkLst>
            <pc:docMk/>
            <pc:sldMk cId="466483557" sldId="263"/>
            <ac:spMk id="3" creationId="{1B96F939-8674-C729-00B3-8A15A0B833A3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6:01.088" v="17"/>
          <ac:spMkLst>
            <pc:docMk/>
            <pc:sldMk cId="466483557" sldId="263"/>
            <ac:spMk id="7" creationId="{4A4A226E-3196-1301-70D8-6BD862BB3BB5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6:01.088" v="17"/>
          <ac:spMkLst>
            <pc:docMk/>
            <pc:sldMk cId="466483557" sldId="263"/>
            <ac:spMk id="8" creationId="{A464A21D-B1CD-D3AA-1F36-03255A9BAD04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6:01.088" v="17"/>
          <ac:spMkLst>
            <pc:docMk/>
            <pc:sldMk cId="466483557" sldId="263"/>
            <ac:spMk id="9" creationId="{2A6C7FF9-654B-7D48-B2BB-A1DE4357B440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466483557" sldId="263"/>
            <ac:spMk id="10" creationId="{FBFE3618-8387-4153-870E-99EA1B9784F5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466483557" sldId="263"/>
            <ac:spMk id="12" creationId="{BB99A42A-5548-4BB8-9115-A05821C360AB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466483557" sldId="263"/>
            <ac:spMk id="14" creationId="{D49441E5-946F-46B3-BDD2-BAD088532367}"/>
          </ac:spMkLst>
        </pc:spChg>
        <pc:picChg chg="mod">
          <ac:chgData name="Sládeček David" userId="S::sladecek@hradebni.cz::474d93f0-3a32-49cc-b837-47806091b590" providerId="AD" clId="Web-{00000000-0000-0000-0000-000000000000}" dt="2026-09-03T05:46:01.088" v="17"/>
          <ac:picMkLst>
            <pc:docMk/>
            <pc:sldMk cId="466483557" sldId="263"/>
            <ac:picMk id="5" creationId="{BF1C7110-9407-DC37-2AC1-6DF260A3441E}"/>
          </ac:picMkLst>
        </pc:picChg>
      </pc:sldChg>
      <pc:sldMasterChg chg="del delSldLayout">
        <pc:chgData name="Sládeček David" userId="S::sladecek@hradebni.cz::474d93f0-3a32-49cc-b837-47806091b590" providerId="AD" clId="Web-{00000000-0000-0000-0000-000000000000}" dt="2026-09-03T05:44:24.397" v="0"/>
        <pc:sldMasterMkLst>
          <pc:docMk/>
          <pc:sldMasterMk cId="954265959" sldId="2147483711"/>
        </pc:sldMasterMkLst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14411100" sldId="2147483712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1013661319" sldId="2147483713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3689447562" sldId="2147483714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3480985426" sldId="2147483715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2905088054" sldId="2147483716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1416400854" sldId="2147483717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4081409244" sldId="2147483718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3755766572" sldId="2147483719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2088420204" sldId="2147483720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1031568211" sldId="2147483721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1553191059" sldId="2147483722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2927911751" sldId="2147483723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175866580" sldId="2147483724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430736733" sldId="2147483725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3326302660" sldId="2147483726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1757991005" sldId="2147483727"/>
          </pc:sldLayoutMkLst>
        </pc:sldLayoutChg>
      </pc:sldMasterChg>
      <pc:sldMasterChg chg="add addSldLayout modSldLayout">
        <pc:chgData name="Sládeček David" userId="S::sladecek@hradebni.cz::474d93f0-3a32-49cc-b837-47806091b590" providerId="AD" clId="Web-{00000000-0000-0000-0000-000000000000}" dt="2026-09-03T05:44:24.397" v="0"/>
        <pc:sldMasterMkLst>
          <pc:docMk/>
          <pc:sldMasterMk cId="2125188827" sldId="2147483728"/>
        </pc:sldMasterMkLst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510413956" sldId="2147483729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3677659548" sldId="2147483730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230259315" sldId="2147483731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867444874" sldId="2147483732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3277176555" sldId="2147483733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3737139801" sldId="2147483734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1526234535" sldId="2147483735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380103632" sldId="2147483736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1180637993" sldId="2147483737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2251727048" sldId="2147483738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61680780" sldId="2147483739"/>
          </pc:sldLayoutMkLst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4CBD7E-8EC4-40D0-831C-FC6BF586B823}" type="datetimeFigureOut">
              <a:rPr lang="cs-CZ" smtClean="0"/>
              <a:t>02.09.2026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519CD6-A7A2-478E-9294-6B57494289C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738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Problémy:</a:t>
            </a:r>
          </a:p>
          <a:p>
            <a:r>
              <a:t>- List&lt;T&gt; nemá metodu RemoveWhere (ta existuje u HashSet&lt;T&gt;) – typická halucinace, správně RemoveAll</a:t>
            </a:r>
          </a:p>
          <a:p>
            <a:r>
              <a:t>- odebírání z kolekce během foreach → InvalidOperationException</a:t>
            </a:r>
          </a:p>
          <a:p>
            <a:r>
              <a:t>- metoda dělá víc, než říká zadání (maže i dlouho nepřihlášené) – ověřit, zda to bylo požadováno</a:t>
            </a:r>
          </a:p>
          <a:p>
            <a:r>
              <a:t>- oprava: uzivatele.RemoveAll(u =&gt; !u.Aktivni || u.PosledniPrihlaseni &lt; DateTime.Now.AddYears(-1));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 vytknout a změnit:</a:t>
            </a:r>
          </a:p>
          <a:p>
            <a:r>
              <a:t>- názvy P, s, a, b, c → ZpracujRadek, radek, casti, cena, pocet</a:t>
            </a:r>
          </a:p>
          <a:p>
            <a:r>
              <a:t>- guard clauses místo vnoření</a:t>
            </a:r>
          </a:p>
          <a:p>
            <a:r>
              <a:t>- magická čísla 1000 a 0.9 → konstanty LimitSlevy, KoeficientSlevy</a:t>
            </a:r>
          </a:p>
          <a:p>
            <a:r>
              <a:t>- výpočet ceny oddělit od výpisu: double SpocitejCenu(double cena, int pocet)</a:t>
            </a:r>
          </a:p>
          <a:p>
            <a:r>
              <a:t>- double.Parse → TryParse, jinak pád na chybném vstupu (to už mění chování – vědomě a zdokumentovat)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2629" y="1371600"/>
            <a:ext cx="5935540" cy="2696866"/>
          </a:xfrm>
        </p:spPr>
        <p:txBody>
          <a:bodyPr anchor="t"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2629" y="4584879"/>
            <a:ext cx="593554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D83F1-BF6E-4A98-8153-BAC9ABDE7CE3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4139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6E92-E5C8-4FF8-B2BE-A516F6A1724E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7659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9" y="1709738"/>
            <a:ext cx="9214884" cy="3159974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628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DB232-C681-46A2-B21F-2BD21E9CA134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259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2849526"/>
            <a:ext cx="5105400" cy="321047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849526"/>
            <a:ext cx="5105400" cy="3210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BE26E-66F9-4E5F-9E07-CA7CDB200281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7444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371599"/>
            <a:ext cx="10442760" cy="93975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628" y="2311353"/>
            <a:ext cx="5084947" cy="69537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2628" y="3006725"/>
            <a:ext cx="5084947" cy="318293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311353"/>
            <a:ext cx="5183188" cy="69537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06725"/>
            <a:ext cx="5183188" cy="318293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1A01C-F286-49E7-998E-3D5BB613F99A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176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C2C0A-F771-42D9-AAB0-90C3A2B0FEAD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7139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2A270-409D-4410-9649-B7481576446C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234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00AA3-798A-4433-8927-6E115914B6EF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103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22871-0F85-43DC-99D7-CA8E7437E2EC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637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BE5A2-57A1-4629-B29D-D386573AF9F3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1727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98077" y="1401097"/>
            <a:ext cx="2155722" cy="4775865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401097"/>
            <a:ext cx="8232058" cy="4775866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72485-1B57-41B4-A998-97848CC136C2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8078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1"/>
            <a:ext cx="10363200" cy="11875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399" y="2559171"/>
            <a:ext cx="10363200" cy="33826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262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E857DF4D-D974-434D-9D64-40B7405DF5F0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209B62C-3402-4623-9A7C-AA048B56F8C3}"/>
              </a:ext>
            </a:extLst>
          </p:cNvPr>
          <p:cNvCxnSpPr>
            <a:cxnSpLocks/>
          </p:cNvCxnSpPr>
          <p:nvPr/>
        </p:nvCxnSpPr>
        <p:spPr>
          <a:xfrm>
            <a:off x="990600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5188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  <p15:guide id="5" pos="576">
          <p15:clr>
            <a:srgbClr val="F26B43"/>
          </p15:clr>
        </p15:guide>
        <p15:guide id="6" orient="horz" pos="864">
          <p15:clr>
            <a:srgbClr val="F26B43"/>
          </p15:clr>
        </p15:guide>
      </p15:sldGuideLst>
    </p:ext>
  </p:extLst>
</p:sldMaster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review, refaktoring a kvalita kódu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PROGRAMOVÁNÍ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Proč řešit kvalitu kódu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sz="1700"/>
              <a:t>Kód se </a:t>
            </a:r>
            <a:r>
              <a:rPr b="1" sz="1700"/>
              <a:t>čte mnohem častěji</a:t>
            </a:r>
            <a:r>
              <a:rPr sz="1700"/>
              <a:t>, než se píše</a:t>
            </a:r>
          </a:p>
          <a:p>
            <a:pPr>
              <a:lnSpc>
                <a:spcPct val="110000"/>
              </a:lnSpc>
            </a:pPr>
            <a:r>
              <a:rPr sz="1700"/>
              <a:t>Funkční kód ≠ dobrý kód</a:t>
            </a:r>
          </a:p>
          <a:p>
            <a:pPr lvl="1">
              <a:lnSpc>
                <a:spcPct val="110000"/>
              </a:lnSpc>
            </a:pPr>
            <a:r>
              <a:rPr sz="1500"/>
              <a:t>musí ho pochopit kolega, učitel i vy za půl roku</a:t>
            </a:r>
          </a:p>
          <a:p>
            <a:pPr>
              <a:lnSpc>
                <a:spcPct val="110000"/>
              </a:lnSpc>
            </a:pPr>
            <a:r>
              <a:rPr sz="1700"/>
              <a:t>AI dnes vygeneruje kód za pár sekund</a:t>
            </a:r>
          </a:p>
          <a:p>
            <a:pPr lvl="1">
              <a:lnSpc>
                <a:spcPct val="110000"/>
              </a:lnSpc>
            </a:pPr>
            <a:r>
              <a:rPr sz="1500"/>
              <a:t>klíčová dovednost je umět ho </a:t>
            </a:r>
            <a:r>
              <a:rPr b="1" sz="1500"/>
              <a:t>posoudit</a:t>
            </a:r>
          </a:p>
          <a:p>
            <a:pPr>
              <a:lnSpc>
                <a:spcPct val="110000"/>
              </a:lnSpc>
            </a:pPr>
            <a:r>
              <a:rPr b="1" sz="1700"/>
              <a:t>Technický dluh</a:t>
            </a:r>
            <a:r>
              <a:rPr sz="1700"/>
              <a:t> – každé „zatím to stačí“ se vrátí s úroky</a:t>
            </a:r>
          </a:p>
          <a:p>
            <a:pPr>
              <a:lnSpc>
                <a:spcPct val="110000"/>
              </a:lnSpc>
            </a:pPr>
            <a:r>
              <a:rPr sz="1700"/>
              <a:t>Code review = systematická kontrola kódu jiným člověkem</a:t>
            </a:r>
          </a:p>
          <a:p>
            <a:pPr lvl="1">
              <a:lnSpc>
                <a:spcPct val="110000"/>
              </a:lnSpc>
            </a:pPr>
            <a:r>
              <a:rPr sz="1500"/>
              <a:t>chyby, čitelnost, návrh, sdílení znalostí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 na kódu hodnotíme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15" name="Rounded Rectangle 14"/>
          <p:cNvSpPr/>
          <p:nvPr/>
        </p:nvSpPr>
        <p:spPr>
          <a:xfrm>
            <a:off x="914400" y="2560000"/>
            <a:ext cx="3354400" cy="1690000"/>
          </a:xfrm>
          <a:prstGeom prst="roundRect">
            <a:avLst>
              <a:gd name="adj" fmla="val 6000"/>
            </a:avLst>
          </a:prstGeom>
          <a:solidFill>
            <a:srgbClr val="197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l"/>
            <a:r>
              <a:rPr b="1" sz="2000">
                <a:solidFill>
                  <a:srgbClr val="FFFFFF"/>
                </a:solidFill>
              </a:rPr>
              <a:t>Správnost</a:t>
            </a:r>
          </a:p>
          <a:p>
            <a:pPr algn="l"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Dělá kód, co má?</a:t>
            </a:r>
          </a:p>
          <a:p>
            <a:pPr algn="l"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I pro okrajové a chybné vstupy?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18800" y="2560000"/>
            <a:ext cx="3354400" cy="1690000"/>
          </a:xfrm>
          <a:prstGeom prst="roundRect">
            <a:avLst>
              <a:gd name="adj" fmla="val 6000"/>
            </a:avLst>
          </a:prstGeom>
          <a:solidFill>
            <a:srgbClr val="25C8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l"/>
            <a:r>
              <a:rPr b="1" sz="2000">
                <a:solidFill>
                  <a:srgbClr val="FFFFFF"/>
                </a:solidFill>
              </a:rPr>
              <a:t>Čitelnost</a:t>
            </a:r>
          </a:p>
          <a:p>
            <a:pPr algn="l"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Výstižné názvy, formátování,</a:t>
            </a:r>
          </a:p>
          <a:p>
            <a:pPr algn="l"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srozumitelný tok programu.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23200" y="2560000"/>
            <a:ext cx="3354400" cy="1690000"/>
          </a:xfrm>
          <a:prstGeom prst="roundRect">
            <a:avLst>
              <a:gd name="adj" fmla="val 6000"/>
            </a:avLst>
          </a:prstGeom>
          <a:solidFill>
            <a:srgbClr val="BF8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l"/>
            <a:r>
              <a:rPr b="1" sz="2000">
                <a:solidFill>
                  <a:srgbClr val="FFFFFF"/>
                </a:solidFill>
              </a:rPr>
              <a:t>Struktura</a:t>
            </a:r>
          </a:p>
          <a:p>
            <a:pPr algn="l"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Jedna odpovědnost,</a:t>
            </a:r>
          </a:p>
          <a:p>
            <a:pPr algn="l"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žádné duplicity, rozumné třídy.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420000"/>
            <a:ext cx="3354400" cy="1690000"/>
          </a:xfrm>
          <a:prstGeom prst="roundRect">
            <a:avLst>
              <a:gd name="adj" fmla="val 6000"/>
            </a:avLst>
          </a:prstGeom>
          <a:solidFill>
            <a:srgbClr val="FE7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l"/>
            <a:r>
              <a:rPr b="1" sz="2000">
                <a:solidFill>
                  <a:srgbClr val="FFFFFF"/>
                </a:solidFill>
              </a:rPr>
              <a:t>Robustnost</a:t>
            </a:r>
          </a:p>
          <a:p>
            <a:pPr algn="l"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Validace vstupů, ošetření výjimek,</a:t>
            </a:r>
          </a:p>
          <a:p>
            <a:pPr algn="l"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žádné tiché selhání.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18800" y="4420000"/>
            <a:ext cx="3354400" cy="1690000"/>
          </a:xfrm>
          <a:prstGeom prst="roundRect">
            <a:avLst>
              <a:gd name="adj" fmla="val 6000"/>
            </a:avLst>
          </a:prstGeom>
          <a:solidFill>
            <a:srgbClr val="FE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l"/>
            <a:r>
              <a:rPr b="1" sz="2000">
                <a:solidFill>
                  <a:srgbClr val="FFFFFF"/>
                </a:solidFill>
              </a:rPr>
              <a:t>Udržovatelnost</a:t>
            </a:r>
          </a:p>
          <a:p>
            <a:pPr algn="l"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Jde snadno rozšířit</a:t>
            </a:r>
          </a:p>
          <a:p>
            <a:pPr algn="l"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bez rozbití stávajícího kódu?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23200" y="4420000"/>
            <a:ext cx="3354400" cy="1690000"/>
          </a:xfrm>
          <a:prstGeom prst="roundRect">
            <a:avLst>
              <a:gd name="adj" fmla="val 6000"/>
            </a:avLst>
          </a:prstGeom>
          <a:solidFill>
            <a:srgbClr val="0D1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l"/>
            <a:r>
              <a:rPr b="1" sz="2000">
                <a:solidFill>
                  <a:srgbClr val="FFFFFF"/>
                </a:solidFill>
              </a:rPr>
              <a:t>Výkon</a:t>
            </a:r>
          </a:p>
          <a:p>
            <a:pPr algn="l"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Zbytečné průchody, cykly v cyklech,</a:t>
            </a:r>
          </a:p>
          <a:p>
            <a:pPr algn="l"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</a:rPr>
              <a:t>nevhodná datová struktura.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smells – varovné signály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914400" y="2650000"/>
            <a:ext cx="4700000" cy="35500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sz="1600"/>
              <a:t>Dlouhá metoda, která dělá „všechno“</a:t>
            </a:r>
          </a:p>
          <a:p>
            <a:pPr>
              <a:lnSpc>
                <a:spcPct val="110000"/>
              </a:lnSpc>
            </a:pPr>
            <a:r>
              <a:rPr sz="1600"/>
              <a:t>Duplicitní kód (copy-paste)</a:t>
            </a:r>
          </a:p>
          <a:p>
            <a:pPr>
              <a:lnSpc>
                <a:spcPct val="110000"/>
              </a:lnSpc>
            </a:pPr>
            <a:r>
              <a:rPr sz="1600"/>
              <a:t>Magická čísla a řetězce</a:t>
            </a:r>
          </a:p>
          <a:p>
            <a:pPr>
              <a:lnSpc>
                <a:spcPct val="110000"/>
              </a:lnSpc>
            </a:pPr>
            <a:r>
              <a:rPr sz="1600"/>
              <a:t>Nic neříkající názvy: </a:t>
            </a:r>
            <a:r>
              <a:rPr sz="1600">
                <a:latin typeface="Consolas"/>
              </a:rPr>
              <a:t>a</a:t>
            </a:r>
            <a:r>
              <a:rPr sz="1600"/>
              <a:t>, </a:t>
            </a:r>
            <a:r>
              <a:rPr sz="1600">
                <a:latin typeface="Consolas"/>
              </a:rPr>
              <a:t>temp</a:t>
            </a:r>
            <a:r>
              <a:rPr sz="1600"/>
              <a:t>, </a:t>
            </a:r>
            <a:r>
              <a:rPr sz="1600">
                <a:latin typeface="Consolas"/>
              </a:rPr>
              <a:t>data2</a:t>
            </a:r>
          </a:p>
          <a:p>
            <a:pPr>
              <a:lnSpc>
                <a:spcPct val="110000"/>
              </a:lnSpc>
            </a:pPr>
            <a:r>
              <a:rPr sz="1600"/>
              <a:t>Hluboké vnoření podmínek a cyklů</a:t>
            </a:r>
          </a:p>
          <a:p>
            <a:pPr>
              <a:lnSpc>
                <a:spcPct val="110000"/>
              </a:lnSpc>
            </a:pPr>
            <a:r>
              <a:rPr sz="1600"/>
              <a:t>Obří třída, která ví o všem (God class)</a:t>
            </a:r>
          </a:p>
          <a:p>
            <a:pPr>
              <a:lnSpc>
                <a:spcPct val="110000"/>
              </a:lnSpc>
            </a:pPr>
            <a:r>
              <a:rPr sz="1600"/>
              <a:t>Komentář vysvětluje nesrozumitelný kód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15" name="Kód"/>
          <p:cNvSpPr/>
          <p:nvPr/>
        </p:nvSpPr>
        <p:spPr>
          <a:xfrm>
            <a:off x="5800000" y="2650000"/>
            <a:ext cx="5477600" cy="3550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164592" bIns="164592"/>
          <a:lstStyle/>
          <a:p>
            <a:pPr algn="l"/>
            <a:r>
              <a:rPr sz="1150">
                <a:solidFill>
                  <a:srgbClr val="008000"/>
                </a:solidFill>
                <a:latin typeface="Consolas"/>
              </a:rPr>
              <a:t>// spočítá to</a:t>
            </a:r>
          </a:p>
          <a:p>
            <a:pPr algn="l"/>
            <a:r>
              <a:rPr sz="1150">
                <a:solidFill>
                  <a:srgbClr val="0000FF"/>
                </a:solidFill>
                <a:latin typeface="Consolas"/>
              </a:rPr>
              <a:t>public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0000FF"/>
                </a:solidFill>
                <a:latin typeface="Consolas"/>
              </a:rPr>
              <a:t>double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74531F"/>
                </a:solidFill>
                <a:latin typeface="Consolas"/>
              </a:rPr>
              <a:t>Spocitej</a:t>
            </a:r>
            <a:r>
              <a:rPr sz="1150">
                <a:solidFill>
                  <a:srgbClr val="1E1E1E"/>
                </a:solidFill>
                <a:latin typeface="Consolas"/>
              </a:rPr>
              <a:t>(</a:t>
            </a:r>
            <a:r>
              <a:rPr sz="1150">
                <a:solidFill>
                  <a:srgbClr val="2B91AF"/>
                </a:solidFill>
                <a:latin typeface="Consolas"/>
              </a:rPr>
              <a:t>List</a:t>
            </a:r>
            <a:r>
              <a:rPr sz="1150">
                <a:solidFill>
                  <a:srgbClr val="1E1E1E"/>
                </a:solidFill>
                <a:latin typeface="Consolas"/>
              </a:rPr>
              <a:t>&lt;</a:t>
            </a:r>
            <a:r>
              <a:rPr sz="1150">
                <a:solidFill>
                  <a:srgbClr val="2B91AF"/>
                </a:solidFill>
                <a:latin typeface="Consolas"/>
              </a:rPr>
              <a:t>Polozka</a:t>
            </a:r>
            <a:r>
              <a:rPr sz="1150">
                <a:solidFill>
                  <a:srgbClr val="1E1E1E"/>
                </a:solidFill>
                <a:latin typeface="Consolas"/>
              </a:rPr>
              <a:t>&gt;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d</a:t>
            </a:r>
            <a:r>
              <a:rPr sz="115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150">
                <a:solidFill>
                  <a:srgbClr val="1E1E1E"/>
                </a:solidFill>
                <a:latin typeface="Consolas"/>
              </a:rPr>
              <a:t>{</a:t>
            </a:r>
          </a:p>
          <a:p>
            <a:pPr algn="l"/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0000FF"/>
                </a:solidFill>
                <a:latin typeface="Consolas"/>
              </a:rPr>
              <a:t>double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x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=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0</a:t>
            </a:r>
            <a:r>
              <a:rPr sz="115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0000FF"/>
                </a:solidFill>
                <a:latin typeface="Consolas"/>
              </a:rPr>
              <a:t>foreach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(</a:t>
            </a:r>
            <a:r>
              <a:rPr sz="1150">
                <a:solidFill>
                  <a:srgbClr val="0000FF"/>
                </a:solidFill>
                <a:latin typeface="Consolas"/>
              </a:rPr>
              <a:t>var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p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0000FF"/>
                </a:solidFill>
                <a:latin typeface="Consolas"/>
              </a:rPr>
              <a:t>in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d</a:t>
            </a:r>
            <a:r>
              <a:rPr sz="115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{</a:t>
            </a:r>
          </a:p>
          <a:p>
            <a:pPr algn="l"/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0000FF"/>
                </a:solidFill>
                <a:latin typeface="Consolas"/>
              </a:rPr>
              <a:t>if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(</a:t>
            </a:r>
            <a:r>
              <a:rPr sz="1150">
                <a:solidFill>
                  <a:srgbClr val="1E1E1E"/>
                </a:solidFill>
                <a:latin typeface="Consolas"/>
              </a:rPr>
              <a:t>p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!</a:t>
            </a:r>
            <a:r>
              <a:rPr sz="1150">
                <a:solidFill>
                  <a:srgbClr val="1E1E1E"/>
                </a:solidFill>
                <a:latin typeface="Consolas"/>
              </a:rPr>
              <a:t>=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0000FF"/>
                </a:solidFill>
                <a:latin typeface="Consolas"/>
              </a:rPr>
              <a:t>null</a:t>
            </a:r>
            <a:r>
              <a:rPr sz="115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{</a:t>
            </a:r>
          </a:p>
          <a:p>
            <a:pPr algn="l"/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0000FF"/>
                </a:solidFill>
                <a:latin typeface="Consolas"/>
              </a:rPr>
              <a:t>if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(</a:t>
            </a:r>
            <a:r>
              <a:rPr sz="1150">
                <a:solidFill>
                  <a:srgbClr val="1E1E1E"/>
                </a:solidFill>
                <a:latin typeface="Consolas"/>
              </a:rPr>
              <a:t>p</a:t>
            </a:r>
            <a:r>
              <a:rPr sz="1150">
                <a:solidFill>
                  <a:srgbClr val="1E1E1E"/>
                </a:solidFill>
                <a:latin typeface="Consolas"/>
              </a:rPr>
              <a:t>.</a:t>
            </a:r>
            <a:r>
              <a:rPr sz="1150">
                <a:solidFill>
                  <a:srgbClr val="1E1E1E"/>
                </a:solidFill>
                <a:latin typeface="Consolas"/>
              </a:rPr>
              <a:t>Pocet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&gt;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0</a:t>
            </a:r>
            <a:r>
              <a:rPr sz="115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{</a:t>
            </a:r>
          </a:p>
          <a:p>
            <a:pPr algn="l"/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0000FF"/>
                </a:solidFill>
                <a:latin typeface="Consolas"/>
              </a:rPr>
              <a:t>if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(</a:t>
            </a:r>
            <a:r>
              <a:rPr sz="1150">
                <a:solidFill>
                  <a:srgbClr val="1E1E1E"/>
                </a:solidFill>
                <a:latin typeface="Consolas"/>
              </a:rPr>
              <a:t>p</a:t>
            </a:r>
            <a:r>
              <a:rPr sz="1150">
                <a:solidFill>
                  <a:srgbClr val="1E1E1E"/>
                </a:solidFill>
                <a:latin typeface="Consolas"/>
              </a:rPr>
              <a:t>.</a:t>
            </a:r>
            <a:r>
              <a:rPr sz="1150">
                <a:solidFill>
                  <a:srgbClr val="2B91AF"/>
                </a:solidFill>
                <a:latin typeface="Consolas"/>
              </a:rPr>
              <a:t>Kategorie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=</a:t>
            </a:r>
            <a:r>
              <a:rPr sz="1150">
                <a:solidFill>
                  <a:srgbClr val="1E1E1E"/>
                </a:solidFill>
                <a:latin typeface="Consolas"/>
              </a:rPr>
              <a:t>=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3</a:t>
            </a:r>
            <a:r>
              <a:rPr sz="115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x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+</a:t>
            </a:r>
            <a:r>
              <a:rPr sz="1150">
                <a:solidFill>
                  <a:srgbClr val="1E1E1E"/>
                </a:solidFill>
                <a:latin typeface="Consolas"/>
              </a:rPr>
              <a:t>=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p</a:t>
            </a:r>
            <a:r>
              <a:rPr sz="1150">
                <a:solidFill>
                  <a:srgbClr val="1E1E1E"/>
                </a:solidFill>
                <a:latin typeface="Consolas"/>
              </a:rPr>
              <a:t>.</a:t>
            </a:r>
            <a:r>
              <a:rPr sz="1150">
                <a:solidFill>
                  <a:srgbClr val="1E1E1E"/>
                </a:solidFill>
                <a:latin typeface="Consolas"/>
              </a:rPr>
              <a:t>Cena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*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p</a:t>
            </a:r>
            <a:r>
              <a:rPr sz="1150">
                <a:solidFill>
                  <a:srgbClr val="1E1E1E"/>
                </a:solidFill>
                <a:latin typeface="Consolas"/>
              </a:rPr>
              <a:t>.</a:t>
            </a:r>
            <a:r>
              <a:rPr sz="1150">
                <a:solidFill>
                  <a:srgbClr val="1E1E1E"/>
                </a:solidFill>
                <a:latin typeface="Consolas"/>
              </a:rPr>
              <a:t>Pocet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*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0</a:t>
            </a:r>
            <a:r>
              <a:rPr sz="1150">
                <a:solidFill>
                  <a:srgbClr val="1E1E1E"/>
                </a:solidFill>
                <a:latin typeface="Consolas"/>
              </a:rPr>
              <a:t>.</a:t>
            </a:r>
            <a:r>
              <a:rPr sz="1150">
                <a:solidFill>
                  <a:srgbClr val="1E1E1E"/>
                </a:solidFill>
                <a:latin typeface="Consolas"/>
              </a:rPr>
              <a:t>8</a:t>
            </a:r>
            <a:r>
              <a:rPr sz="1150">
                <a:solidFill>
                  <a:srgbClr val="1E1E1E"/>
                </a:solidFill>
                <a:latin typeface="Consolas"/>
              </a:rPr>
              <a:t>5</a:t>
            </a:r>
            <a:r>
              <a:rPr sz="115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0000FF"/>
                </a:solidFill>
                <a:latin typeface="Consolas"/>
              </a:rPr>
              <a:t>else</a:t>
            </a:r>
          </a:p>
          <a:p>
            <a:pPr algn="l"/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x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+</a:t>
            </a:r>
            <a:r>
              <a:rPr sz="1150">
                <a:solidFill>
                  <a:srgbClr val="1E1E1E"/>
                </a:solidFill>
                <a:latin typeface="Consolas"/>
              </a:rPr>
              <a:t>=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p</a:t>
            </a:r>
            <a:r>
              <a:rPr sz="1150">
                <a:solidFill>
                  <a:srgbClr val="1E1E1E"/>
                </a:solidFill>
                <a:latin typeface="Consolas"/>
              </a:rPr>
              <a:t>.</a:t>
            </a:r>
            <a:r>
              <a:rPr sz="1150">
                <a:solidFill>
                  <a:srgbClr val="1E1E1E"/>
                </a:solidFill>
                <a:latin typeface="Consolas"/>
              </a:rPr>
              <a:t>Cena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*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p</a:t>
            </a:r>
            <a:r>
              <a:rPr sz="1150">
                <a:solidFill>
                  <a:srgbClr val="1E1E1E"/>
                </a:solidFill>
                <a:latin typeface="Consolas"/>
              </a:rPr>
              <a:t>.</a:t>
            </a:r>
            <a:r>
              <a:rPr sz="1150">
                <a:solidFill>
                  <a:srgbClr val="1E1E1E"/>
                </a:solidFill>
                <a:latin typeface="Consolas"/>
              </a:rPr>
              <a:t>Pocet</a:t>
            </a:r>
            <a:r>
              <a:rPr sz="115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}</a:t>
            </a:r>
          </a:p>
          <a:p>
            <a:pPr algn="l"/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}</a:t>
            </a:r>
          </a:p>
          <a:p>
            <a:pPr algn="l"/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}</a:t>
            </a:r>
          </a:p>
          <a:p>
            <a:pPr algn="l"/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0000FF"/>
                </a:solidFill>
                <a:latin typeface="Consolas"/>
              </a:rPr>
              <a:t>return</a:t>
            </a:r>
            <a:r>
              <a:rPr sz="1150">
                <a:solidFill>
                  <a:srgbClr val="1E1E1E"/>
                </a:solidFill>
                <a:latin typeface="Consolas"/>
              </a:rPr>
              <a:t> </a:t>
            </a:r>
            <a:r>
              <a:rPr sz="1150">
                <a:solidFill>
                  <a:srgbClr val="1E1E1E"/>
                </a:solidFill>
                <a:latin typeface="Consolas"/>
              </a:rPr>
              <a:t>x</a:t>
            </a:r>
            <a:r>
              <a:rPr sz="115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150">
                <a:solidFill>
                  <a:srgbClr val="1E1E1E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Pojmenování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Před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912628" y="3080000"/>
            <a:ext cx="5084947" cy="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/>
              <a:t>Názvy nic neříkají, význam musíte luštit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3080000"/>
            <a:ext cx="5183188" cy="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/>
              <a:t>Kód se čte jako věta</a:t>
            </a:r>
          </a:p>
        </p:txBody>
      </p:sp>
      <p:sp>
        <p:nvSpPr>
          <p:cNvPr id="17" name="Kód"/>
          <p:cNvSpPr/>
          <p:nvPr/>
        </p:nvSpPr>
        <p:spPr>
          <a:xfrm>
            <a:off x="912628" y="3750000"/>
            <a:ext cx="5084947" cy="2400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164592" bIns="164592"/>
          <a:lstStyle/>
          <a:p>
            <a:pPr algn="l"/>
            <a:r>
              <a:rPr sz="1600">
                <a:solidFill>
                  <a:srgbClr val="0000FF"/>
                </a:solidFill>
                <a:latin typeface="Consolas"/>
              </a:rPr>
              <a:t>int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d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=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7</a:t>
            </a:r>
            <a:r>
              <a:rPr sz="16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600">
                <a:solidFill>
                  <a:srgbClr val="2B91AF"/>
                </a:solidFill>
                <a:latin typeface="Consolas"/>
              </a:rPr>
              <a:t>List</a:t>
            </a:r>
            <a:r>
              <a:rPr sz="1600">
                <a:solidFill>
                  <a:srgbClr val="1E1E1E"/>
                </a:solidFill>
                <a:latin typeface="Consolas"/>
              </a:rPr>
              <a:t>&lt;</a:t>
            </a:r>
            <a:r>
              <a:rPr sz="1600">
                <a:solidFill>
                  <a:srgbClr val="2B91AF"/>
                </a:solidFill>
                <a:latin typeface="Consolas"/>
              </a:rPr>
              <a:t>Student</a:t>
            </a:r>
            <a:r>
              <a:rPr sz="1600">
                <a:solidFill>
                  <a:srgbClr val="1E1E1E"/>
                </a:solidFill>
                <a:latin typeface="Consolas"/>
              </a:rPr>
              <a:t>&gt;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l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=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74531F"/>
                </a:solidFill>
                <a:latin typeface="Consolas"/>
              </a:rPr>
              <a:t>Nacti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  <a:r>
              <a:rPr sz="16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600">
                <a:solidFill>
                  <a:srgbClr val="0000FF"/>
                </a:solidFill>
                <a:latin typeface="Consolas"/>
              </a:rPr>
              <a:t>bool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f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=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0000FF"/>
                </a:solidFill>
                <a:latin typeface="Consolas"/>
              </a:rPr>
              <a:t>false</a:t>
            </a:r>
            <a:r>
              <a:rPr sz="16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</a:p>
          <a:p>
            <a:pPr algn="l"/>
            <a:r>
              <a:rPr sz="1600">
                <a:solidFill>
                  <a:srgbClr val="0000FF"/>
                </a:solidFill>
                <a:latin typeface="Consolas"/>
              </a:rPr>
              <a:t>foreach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0000FF"/>
                </a:solidFill>
                <a:latin typeface="Consolas"/>
              </a:rPr>
              <a:t>var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x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0000FF"/>
                </a:solidFill>
                <a:latin typeface="Consolas"/>
              </a:rPr>
              <a:t>in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l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0000FF"/>
                </a:solidFill>
                <a:latin typeface="Consolas"/>
              </a:rPr>
              <a:t>if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1E1E1E"/>
                </a:solidFill>
                <a:latin typeface="Consolas"/>
              </a:rPr>
              <a:t>x</a:t>
            </a:r>
            <a:r>
              <a:rPr sz="1600">
                <a:solidFill>
                  <a:srgbClr val="1E1E1E"/>
                </a:solidFill>
                <a:latin typeface="Consolas"/>
              </a:rPr>
              <a:t>.</a:t>
            </a:r>
            <a:r>
              <a:rPr sz="1600">
                <a:solidFill>
                  <a:srgbClr val="1E1E1E"/>
                </a:solidFill>
                <a:latin typeface="Consolas"/>
              </a:rPr>
              <a:t>A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&gt;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d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f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=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0000FF"/>
                </a:solidFill>
                <a:latin typeface="Consolas"/>
              </a:rPr>
              <a:t>true</a:t>
            </a:r>
            <a:r>
              <a:rPr sz="1600">
                <a:solidFill>
                  <a:srgbClr val="1E1E1E"/>
                </a:solidFill>
                <a:latin typeface="Consolas"/>
              </a:rPr>
              <a:t>;</a:t>
            </a:r>
          </a:p>
        </p:txBody>
      </p:sp>
      <p:sp>
        <p:nvSpPr>
          <p:cNvPr id="18" name="Kód"/>
          <p:cNvSpPr/>
          <p:nvPr/>
        </p:nvSpPr>
        <p:spPr>
          <a:xfrm>
            <a:off x="6172200" y="3750000"/>
            <a:ext cx="5183188" cy="2400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164592" bIns="164592"/>
          <a:lstStyle/>
          <a:p>
            <a:pPr algn="l"/>
            <a:r>
              <a:rPr sz="1550">
                <a:solidFill>
                  <a:srgbClr val="0000FF"/>
                </a:solidFill>
                <a:latin typeface="Consolas"/>
              </a:rPr>
              <a:t>int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limitAbsence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=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7</a:t>
            </a:r>
            <a:r>
              <a:rPr sz="155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550">
                <a:solidFill>
                  <a:srgbClr val="2B91AF"/>
                </a:solidFill>
                <a:latin typeface="Consolas"/>
              </a:rPr>
              <a:t>List</a:t>
            </a:r>
            <a:r>
              <a:rPr sz="1550">
                <a:solidFill>
                  <a:srgbClr val="1E1E1E"/>
                </a:solidFill>
                <a:latin typeface="Consolas"/>
              </a:rPr>
              <a:t>&lt;</a:t>
            </a:r>
            <a:r>
              <a:rPr sz="1550">
                <a:solidFill>
                  <a:srgbClr val="2B91AF"/>
                </a:solidFill>
                <a:latin typeface="Consolas"/>
              </a:rPr>
              <a:t>Student</a:t>
            </a:r>
            <a:r>
              <a:rPr sz="1550">
                <a:solidFill>
                  <a:srgbClr val="1E1E1E"/>
                </a:solidFill>
                <a:latin typeface="Consolas"/>
              </a:rPr>
              <a:t>&gt;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studenti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=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74531F"/>
                </a:solidFill>
                <a:latin typeface="Consolas"/>
              </a:rPr>
              <a:t>NactiStudenty</a:t>
            </a:r>
            <a:r>
              <a:rPr sz="1550">
                <a:solidFill>
                  <a:srgbClr val="1E1E1E"/>
                </a:solidFill>
                <a:latin typeface="Consolas"/>
              </a:rPr>
              <a:t>(</a:t>
            </a:r>
            <a:r>
              <a:rPr sz="1550">
                <a:solidFill>
                  <a:srgbClr val="1E1E1E"/>
                </a:solidFill>
                <a:latin typeface="Consolas"/>
              </a:rPr>
              <a:t>)</a:t>
            </a:r>
            <a:r>
              <a:rPr sz="155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550">
                <a:solidFill>
                  <a:srgbClr val="0000FF"/>
                </a:solidFill>
                <a:latin typeface="Consolas"/>
              </a:rPr>
              <a:t>bool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nekdoPrekrocil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=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0000FF"/>
                </a:solidFill>
                <a:latin typeface="Consolas"/>
              </a:rPr>
              <a:t>false</a:t>
            </a:r>
            <a:r>
              <a:rPr sz="155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</a:p>
          <a:p>
            <a:pPr algn="l"/>
            <a:r>
              <a:rPr sz="1550">
                <a:solidFill>
                  <a:srgbClr val="0000FF"/>
                </a:solidFill>
                <a:latin typeface="Consolas"/>
              </a:rPr>
              <a:t>foreach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(</a:t>
            </a:r>
            <a:r>
              <a:rPr sz="1550">
                <a:solidFill>
                  <a:srgbClr val="2B91AF"/>
                </a:solidFill>
                <a:latin typeface="Consolas"/>
              </a:rPr>
              <a:t>Student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s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0000FF"/>
                </a:solidFill>
                <a:latin typeface="Consolas"/>
              </a:rPr>
              <a:t>in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studenti</a:t>
            </a:r>
            <a:r>
              <a:rPr sz="155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0000FF"/>
                </a:solidFill>
                <a:latin typeface="Consolas"/>
              </a:rPr>
              <a:t>if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(</a:t>
            </a:r>
            <a:r>
              <a:rPr sz="1550">
                <a:solidFill>
                  <a:srgbClr val="1E1E1E"/>
                </a:solidFill>
                <a:latin typeface="Consolas"/>
              </a:rPr>
              <a:t>s</a:t>
            </a:r>
            <a:r>
              <a:rPr sz="1550">
                <a:solidFill>
                  <a:srgbClr val="1E1E1E"/>
                </a:solidFill>
                <a:latin typeface="Consolas"/>
              </a:rPr>
              <a:t>.</a:t>
            </a:r>
            <a:r>
              <a:rPr sz="1550">
                <a:solidFill>
                  <a:srgbClr val="1E1E1E"/>
                </a:solidFill>
                <a:latin typeface="Consolas"/>
              </a:rPr>
              <a:t>Absence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&gt;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limitAbsence</a:t>
            </a:r>
            <a:r>
              <a:rPr sz="155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nekdoPrekrocil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1E1E1E"/>
                </a:solidFill>
                <a:latin typeface="Consolas"/>
              </a:rPr>
              <a:t>=</a:t>
            </a:r>
            <a:r>
              <a:rPr sz="1550">
                <a:solidFill>
                  <a:srgbClr val="1E1E1E"/>
                </a:solidFill>
                <a:latin typeface="Consolas"/>
              </a:rPr>
              <a:t> </a:t>
            </a:r>
            <a:r>
              <a:rPr sz="1550">
                <a:solidFill>
                  <a:srgbClr val="0000FF"/>
                </a:solidFill>
                <a:latin typeface="Consolas"/>
              </a:rPr>
              <a:t>true</a:t>
            </a:r>
            <a:r>
              <a:rPr sz="1550">
                <a:solidFill>
                  <a:srgbClr val="1E1E1E"/>
                </a:solidFill>
                <a:latin typeface="Consolas"/>
              </a:rPr>
              <a:t>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Hluboké vnoření → předčasný návrat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Před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 (guard clauses)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15" name="Kód"/>
          <p:cNvSpPr/>
          <p:nvPr/>
        </p:nvSpPr>
        <p:spPr>
          <a:xfrm>
            <a:off x="912628" y="3100000"/>
            <a:ext cx="5084947" cy="3050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164592" bIns="164592"/>
          <a:lstStyle/>
          <a:p>
            <a:pPr algn="l"/>
            <a:r>
              <a:rPr sz="1400">
                <a:solidFill>
                  <a:srgbClr val="0000FF"/>
                </a:solidFill>
                <a:latin typeface="Consolas"/>
              </a:rPr>
              <a:t>void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74531F"/>
                </a:solidFill>
                <a:latin typeface="Consolas"/>
              </a:rPr>
              <a:t>Uloz</a:t>
            </a:r>
            <a:r>
              <a:rPr sz="1400">
                <a:solidFill>
                  <a:srgbClr val="1E1E1E"/>
                </a:solidFill>
                <a:latin typeface="Consolas"/>
              </a:rPr>
              <a:t>(</a:t>
            </a:r>
            <a:r>
              <a:rPr sz="1400">
                <a:solidFill>
                  <a:srgbClr val="2B91AF"/>
                </a:solidFill>
                <a:latin typeface="Consolas"/>
              </a:rPr>
              <a:t>Objednavka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o</a:t>
            </a:r>
            <a:r>
              <a:rPr sz="140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400">
                <a:solidFill>
                  <a:srgbClr val="1E1E1E"/>
                </a:solidFill>
                <a:latin typeface="Consolas"/>
              </a:rPr>
              <a:t>{</a:t>
            </a:r>
          </a:p>
          <a:p>
            <a:pPr algn="l"/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0000FF"/>
                </a:solidFill>
                <a:latin typeface="Consolas"/>
              </a:rPr>
              <a:t>if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(</a:t>
            </a:r>
            <a:r>
              <a:rPr sz="1400">
                <a:solidFill>
                  <a:srgbClr val="1E1E1E"/>
                </a:solidFill>
                <a:latin typeface="Consolas"/>
              </a:rPr>
              <a:t>o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!</a:t>
            </a:r>
            <a:r>
              <a:rPr sz="1400">
                <a:solidFill>
                  <a:srgbClr val="1E1E1E"/>
                </a:solidFill>
                <a:latin typeface="Consolas"/>
              </a:rPr>
              <a:t>=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0000FF"/>
                </a:solidFill>
                <a:latin typeface="Consolas"/>
              </a:rPr>
              <a:t>null</a:t>
            </a:r>
            <a:r>
              <a:rPr sz="140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{</a:t>
            </a:r>
          </a:p>
          <a:p>
            <a:pPr algn="l"/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0000FF"/>
                </a:solidFill>
                <a:latin typeface="Consolas"/>
              </a:rPr>
              <a:t>if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(</a:t>
            </a:r>
            <a:r>
              <a:rPr sz="1400">
                <a:solidFill>
                  <a:srgbClr val="1E1E1E"/>
                </a:solidFill>
                <a:latin typeface="Consolas"/>
              </a:rPr>
              <a:t>o</a:t>
            </a:r>
            <a:r>
              <a:rPr sz="1400">
                <a:solidFill>
                  <a:srgbClr val="1E1E1E"/>
                </a:solidFill>
                <a:latin typeface="Consolas"/>
              </a:rPr>
              <a:t>.</a:t>
            </a:r>
            <a:r>
              <a:rPr sz="1400">
                <a:solidFill>
                  <a:srgbClr val="1E1E1E"/>
                </a:solidFill>
                <a:latin typeface="Consolas"/>
              </a:rPr>
              <a:t>Polozky</a:t>
            </a:r>
            <a:r>
              <a:rPr sz="1400">
                <a:solidFill>
                  <a:srgbClr val="1E1E1E"/>
                </a:solidFill>
                <a:latin typeface="Consolas"/>
              </a:rPr>
              <a:t>.</a:t>
            </a:r>
            <a:r>
              <a:rPr sz="1400">
                <a:solidFill>
                  <a:srgbClr val="1E1E1E"/>
                </a:solidFill>
                <a:latin typeface="Consolas"/>
              </a:rPr>
              <a:t>Count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&gt;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0</a:t>
            </a:r>
            <a:r>
              <a:rPr sz="140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{</a:t>
            </a:r>
          </a:p>
          <a:p>
            <a:pPr algn="l"/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0000FF"/>
                </a:solidFill>
                <a:latin typeface="Consolas"/>
              </a:rPr>
              <a:t>if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(</a:t>
            </a:r>
            <a:r>
              <a:rPr sz="1400">
                <a:solidFill>
                  <a:srgbClr val="1E1E1E"/>
                </a:solidFill>
                <a:latin typeface="Consolas"/>
              </a:rPr>
              <a:t>o</a:t>
            </a:r>
            <a:r>
              <a:rPr sz="1400">
                <a:solidFill>
                  <a:srgbClr val="1E1E1E"/>
                </a:solidFill>
                <a:latin typeface="Consolas"/>
              </a:rPr>
              <a:t>.</a:t>
            </a:r>
            <a:r>
              <a:rPr sz="1400">
                <a:solidFill>
                  <a:srgbClr val="1E1E1E"/>
                </a:solidFill>
                <a:latin typeface="Consolas"/>
              </a:rPr>
              <a:t>Zaplaceno</a:t>
            </a:r>
            <a:r>
              <a:rPr sz="140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{</a:t>
            </a:r>
          </a:p>
          <a:p>
            <a:pPr algn="l"/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2B91AF"/>
                </a:solidFill>
                <a:latin typeface="Consolas"/>
              </a:rPr>
              <a:t>Databaze</a:t>
            </a:r>
            <a:r>
              <a:rPr sz="1400">
                <a:solidFill>
                  <a:srgbClr val="1E1E1E"/>
                </a:solidFill>
                <a:latin typeface="Consolas"/>
              </a:rPr>
              <a:t>.</a:t>
            </a:r>
            <a:r>
              <a:rPr sz="1400">
                <a:solidFill>
                  <a:srgbClr val="74531F"/>
                </a:solidFill>
                <a:latin typeface="Consolas"/>
              </a:rPr>
              <a:t>Uloz</a:t>
            </a:r>
            <a:r>
              <a:rPr sz="1400">
                <a:solidFill>
                  <a:srgbClr val="1E1E1E"/>
                </a:solidFill>
                <a:latin typeface="Consolas"/>
              </a:rPr>
              <a:t>(</a:t>
            </a:r>
            <a:r>
              <a:rPr sz="1400">
                <a:solidFill>
                  <a:srgbClr val="1E1E1E"/>
                </a:solidFill>
                <a:latin typeface="Consolas"/>
              </a:rPr>
              <a:t>o</a:t>
            </a:r>
            <a:r>
              <a:rPr sz="1400">
                <a:solidFill>
                  <a:srgbClr val="1E1E1E"/>
                </a:solidFill>
                <a:latin typeface="Consolas"/>
              </a:rPr>
              <a:t>)</a:t>
            </a:r>
            <a:r>
              <a:rPr sz="14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}</a:t>
            </a:r>
          </a:p>
          <a:p>
            <a:pPr algn="l"/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}</a:t>
            </a:r>
          </a:p>
          <a:p>
            <a:pPr algn="l"/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}</a:t>
            </a:r>
          </a:p>
          <a:p>
            <a:pPr algn="l"/>
            <a:r>
              <a:rPr sz="1400">
                <a:solidFill>
                  <a:srgbClr val="1E1E1E"/>
                </a:solidFill>
                <a:latin typeface="Consolas"/>
              </a:rPr>
              <a:t>}</a:t>
            </a:r>
          </a:p>
        </p:txBody>
      </p:sp>
      <p:sp>
        <p:nvSpPr>
          <p:cNvPr id="16" name="Kód"/>
          <p:cNvSpPr/>
          <p:nvPr/>
        </p:nvSpPr>
        <p:spPr>
          <a:xfrm>
            <a:off x="6172200" y="3100000"/>
            <a:ext cx="5183188" cy="3050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164592" bIns="164592"/>
          <a:lstStyle/>
          <a:p>
            <a:pPr algn="l"/>
            <a:r>
              <a:rPr sz="1600">
                <a:solidFill>
                  <a:srgbClr val="0000FF"/>
                </a:solidFill>
                <a:latin typeface="Consolas"/>
              </a:rPr>
              <a:t>void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74531F"/>
                </a:solidFill>
                <a:latin typeface="Consolas"/>
              </a:rPr>
              <a:t>Uloz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2B91AF"/>
                </a:solidFill>
                <a:latin typeface="Consolas"/>
              </a:rPr>
              <a:t>Objednavka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o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{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0000FF"/>
                </a:solidFill>
                <a:latin typeface="Consolas"/>
              </a:rPr>
              <a:t>if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1E1E1E"/>
                </a:solidFill>
                <a:latin typeface="Consolas"/>
              </a:rPr>
              <a:t>o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=</a:t>
            </a:r>
            <a:r>
              <a:rPr sz="1600">
                <a:solidFill>
                  <a:srgbClr val="1E1E1E"/>
                </a:solidFill>
                <a:latin typeface="Consolas"/>
              </a:rPr>
              <a:t>=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0000FF"/>
                </a:solidFill>
                <a:latin typeface="Consolas"/>
              </a:rPr>
              <a:t>null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0000FF"/>
                </a:solidFill>
                <a:latin typeface="Consolas"/>
              </a:rPr>
              <a:t>return</a:t>
            </a:r>
            <a:r>
              <a:rPr sz="16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0000FF"/>
                </a:solidFill>
                <a:latin typeface="Consolas"/>
              </a:rPr>
              <a:t>if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1E1E1E"/>
                </a:solidFill>
                <a:latin typeface="Consolas"/>
              </a:rPr>
              <a:t>o</a:t>
            </a:r>
            <a:r>
              <a:rPr sz="1600">
                <a:solidFill>
                  <a:srgbClr val="1E1E1E"/>
                </a:solidFill>
                <a:latin typeface="Consolas"/>
              </a:rPr>
              <a:t>.</a:t>
            </a:r>
            <a:r>
              <a:rPr sz="1600">
                <a:solidFill>
                  <a:srgbClr val="1E1E1E"/>
                </a:solidFill>
                <a:latin typeface="Consolas"/>
              </a:rPr>
              <a:t>Polozky</a:t>
            </a:r>
            <a:r>
              <a:rPr sz="1600">
                <a:solidFill>
                  <a:srgbClr val="1E1E1E"/>
                </a:solidFill>
                <a:latin typeface="Consolas"/>
              </a:rPr>
              <a:t>.</a:t>
            </a:r>
            <a:r>
              <a:rPr sz="1600">
                <a:solidFill>
                  <a:srgbClr val="1E1E1E"/>
                </a:solidFill>
                <a:latin typeface="Consolas"/>
              </a:rPr>
              <a:t>Count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=</a:t>
            </a:r>
            <a:r>
              <a:rPr sz="1600">
                <a:solidFill>
                  <a:srgbClr val="1E1E1E"/>
                </a:solidFill>
                <a:latin typeface="Consolas"/>
              </a:rPr>
              <a:t>=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0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0000FF"/>
                </a:solidFill>
                <a:latin typeface="Consolas"/>
              </a:rPr>
              <a:t>return</a:t>
            </a:r>
            <a:r>
              <a:rPr sz="16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0000FF"/>
                </a:solidFill>
                <a:latin typeface="Consolas"/>
              </a:rPr>
              <a:t>if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1E1E1E"/>
                </a:solidFill>
                <a:latin typeface="Consolas"/>
              </a:rPr>
              <a:t>!</a:t>
            </a:r>
            <a:r>
              <a:rPr sz="1600">
                <a:solidFill>
                  <a:srgbClr val="1E1E1E"/>
                </a:solidFill>
                <a:latin typeface="Consolas"/>
              </a:rPr>
              <a:t>o</a:t>
            </a:r>
            <a:r>
              <a:rPr sz="1600">
                <a:solidFill>
                  <a:srgbClr val="1E1E1E"/>
                </a:solidFill>
                <a:latin typeface="Consolas"/>
              </a:rPr>
              <a:t>.</a:t>
            </a:r>
            <a:r>
              <a:rPr sz="1600">
                <a:solidFill>
                  <a:srgbClr val="1E1E1E"/>
                </a:solidFill>
                <a:latin typeface="Consolas"/>
              </a:rPr>
              <a:t>Zaplaceno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0000FF"/>
                </a:solidFill>
                <a:latin typeface="Consolas"/>
              </a:rPr>
              <a:t>return</a:t>
            </a:r>
            <a:r>
              <a:rPr sz="16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2B91AF"/>
                </a:solidFill>
                <a:latin typeface="Consolas"/>
              </a:rPr>
              <a:t>Databaze</a:t>
            </a:r>
            <a:r>
              <a:rPr sz="1600">
                <a:solidFill>
                  <a:srgbClr val="1E1E1E"/>
                </a:solidFill>
                <a:latin typeface="Consolas"/>
              </a:rPr>
              <a:t>.</a:t>
            </a:r>
            <a:r>
              <a:rPr sz="1600">
                <a:solidFill>
                  <a:srgbClr val="74531F"/>
                </a:solidFill>
                <a:latin typeface="Consolas"/>
              </a:rPr>
              <a:t>Uloz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1E1E1E"/>
                </a:solidFill>
                <a:latin typeface="Consolas"/>
              </a:rPr>
              <a:t>o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  <a:r>
              <a:rPr sz="16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Duplicita → extrakce metody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Před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15" name="Kód"/>
          <p:cNvSpPr/>
          <p:nvPr/>
        </p:nvSpPr>
        <p:spPr>
          <a:xfrm>
            <a:off x="912628" y="3100000"/>
            <a:ext cx="5084947" cy="3050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164592" bIns="164592"/>
          <a:lstStyle/>
          <a:p>
            <a:pPr algn="l"/>
            <a:r>
              <a:rPr sz="1250">
                <a:solidFill>
                  <a:srgbClr val="008000"/>
                </a:solidFill>
                <a:latin typeface="Consolas"/>
              </a:rPr>
              <a:t>// tlačítko Přidat</a:t>
            </a:r>
          </a:p>
          <a:p>
            <a:pPr algn="l"/>
            <a:r>
              <a:rPr sz="1250">
                <a:solidFill>
                  <a:srgbClr val="1E1E1E"/>
                </a:solidFill>
                <a:latin typeface="Consolas"/>
              </a:rPr>
              <a:t>listBox1</a:t>
            </a:r>
            <a:r>
              <a:rPr sz="1250">
                <a:solidFill>
                  <a:srgbClr val="1E1E1E"/>
                </a:solidFill>
                <a:latin typeface="Consolas"/>
              </a:rPr>
              <a:t>.</a:t>
            </a:r>
            <a:r>
              <a:rPr sz="1250">
                <a:solidFill>
                  <a:srgbClr val="1E1E1E"/>
                </a:solidFill>
                <a:latin typeface="Consolas"/>
              </a:rPr>
              <a:t>Items</a:t>
            </a:r>
            <a:r>
              <a:rPr sz="1250">
                <a:solidFill>
                  <a:srgbClr val="1E1E1E"/>
                </a:solidFill>
                <a:latin typeface="Consolas"/>
              </a:rPr>
              <a:t>.</a:t>
            </a:r>
            <a:r>
              <a:rPr sz="1250">
                <a:solidFill>
                  <a:srgbClr val="74531F"/>
                </a:solidFill>
                <a:latin typeface="Consolas"/>
              </a:rPr>
              <a:t>Clear</a:t>
            </a:r>
            <a:r>
              <a:rPr sz="1250">
                <a:solidFill>
                  <a:srgbClr val="1E1E1E"/>
                </a:solidFill>
                <a:latin typeface="Consolas"/>
              </a:rPr>
              <a:t>(</a:t>
            </a:r>
            <a:r>
              <a:rPr sz="1250">
                <a:solidFill>
                  <a:srgbClr val="1E1E1E"/>
                </a:solidFill>
                <a:latin typeface="Consolas"/>
              </a:rPr>
              <a:t>)</a:t>
            </a:r>
            <a:r>
              <a:rPr sz="125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250">
                <a:solidFill>
                  <a:srgbClr val="0000FF"/>
                </a:solidFill>
                <a:latin typeface="Consolas"/>
              </a:rPr>
              <a:t>foreach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(</a:t>
            </a:r>
            <a:r>
              <a:rPr sz="1250">
                <a:solidFill>
                  <a:srgbClr val="0000FF"/>
                </a:solidFill>
                <a:latin typeface="Consolas"/>
              </a:rPr>
              <a:t>var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p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0000FF"/>
                </a:solidFill>
                <a:latin typeface="Consolas"/>
              </a:rPr>
              <a:t>in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polozky</a:t>
            </a:r>
            <a:r>
              <a:rPr sz="125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listBox1</a:t>
            </a:r>
            <a:r>
              <a:rPr sz="1250">
                <a:solidFill>
                  <a:srgbClr val="1E1E1E"/>
                </a:solidFill>
                <a:latin typeface="Consolas"/>
              </a:rPr>
              <a:t>.</a:t>
            </a:r>
            <a:r>
              <a:rPr sz="1250">
                <a:solidFill>
                  <a:srgbClr val="1E1E1E"/>
                </a:solidFill>
                <a:latin typeface="Consolas"/>
              </a:rPr>
              <a:t>Items</a:t>
            </a:r>
            <a:r>
              <a:rPr sz="1250">
                <a:solidFill>
                  <a:srgbClr val="1E1E1E"/>
                </a:solidFill>
                <a:latin typeface="Consolas"/>
              </a:rPr>
              <a:t>.</a:t>
            </a:r>
            <a:r>
              <a:rPr sz="1250">
                <a:solidFill>
                  <a:srgbClr val="74531F"/>
                </a:solidFill>
                <a:latin typeface="Consolas"/>
              </a:rPr>
              <a:t>Add</a:t>
            </a:r>
            <a:r>
              <a:rPr sz="1250">
                <a:solidFill>
                  <a:srgbClr val="1E1E1E"/>
                </a:solidFill>
                <a:latin typeface="Consolas"/>
              </a:rPr>
              <a:t>(</a:t>
            </a:r>
            <a:r>
              <a:rPr sz="1250">
                <a:solidFill>
                  <a:srgbClr val="1E1E1E"/>
                </a:solidFill>
                <a:latin typeface="Consolas"/>
              </a:rPr>
              <a:t>$</a:t>
            </a:r>
            <a:r>
              <a:rPr sz="1250">
                <a:solidFill>
                  <a:srgbClr val="A31515"/>
                </a:solidFill>
                <a:latin typeface="Consolas"/>
              </a:rPr>
              <a:t>"{p.Nazev} ({p.Pocet})"</a:t>
            </a:r>
            <a:r>
              <a:rPr sz="1250">
                <a:solidFill>
                  <a:srgbClr val="1E1E1E"/>
                </a:solidFill>
                <a:latin typeface="Consolas"/>
              </a:rPr>
              <a:t>)</a:t>
            </a:r>
            <a:r>
              <a:rPr sz="125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250">
                <a:solidFill>
                  <a:srgbClr val="1E1E1E"/>
                </a:solidFill>
                <a:latin typeface="Consolas"/>
              </a:rPr>
              <a:t>label1</a:t>
            </a:r>
            <a:r>
              <a:rPr sz="1250">
                <a:solidFill>
                  <a:srgbClr val="1E1E1E"/>
                </a:solidFill>
                <a:latin typeface="Consolas"/>
              </a:rPr>
              <a:t>.</a:t>
            </a:r>
            <a:r>
              <a:rPr sz="1250">
                <a:solidFill>
                  <a:srgbClr val="1E1E1E"/>
                </a:solidFill>
                <a:latin typeface="Consolas"/>
              </a:rPr>
              <a:t>Text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=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$</a:t>
            </a:r>
            <a:r>
              <a:rPr sz="1250">
                <a:solidFill>
                  <a:srgbClr val="A31515"/>
                </a:solidFill>
                <a:latin typeface="Consolas"/>
              </a:rPr>
              <a:t>"Celkem: {polozky.Count}"</a:t>
            </a:r>
            <a:r>
              <a:rPr sz="125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</a:p>
          <a:p>
            <a:pPr algn="l"/>
            <a:r>
              <a:rPr sz="1250">
                <a:solidFill>
                  <a:srgbClr val="008000"/>
                </a:solidFill>
                <a:latin typeface="Consolas"/>
              </a:rPr>
              <a:t>// tlačítko Odebrat</a:t>
            </a:r>
          </a:p>
          <a:p>
            <a:pPr algn="l"/>
            <a:r>
              <a:rPr sz="1250">
                <a:solidFill>
                  <a:srgbClr val="1E1E1E"/>
                </a:solidFill>
                <a:latin typeface="Consolas"/>
              </a:rPr>
              <a:t>listBox1</a:t>
            </a:r>
            <a:r>
              <a:rPr sz="1250">
                <a:solidFill>
                  <a:srgbClr val="1E1E1E"/>
                </a:solidFill>
                <a:latin typeface="Consolas"/>
              </a:rPr>
              <a:t>.</a:t>
            </a:r>
            <a:r>
              <a:rPr sz="1250">
                <a:solidFill>
                  <a:srgbClr val="1E1E1E"/>
                </a:solidFill>
                <a:latin typeface="Consolas"/>
              </a:rPr>
              <a:t>Items</a:t>
            </a:r>
            <a:r>
              <a:rPr sz="1250">
                <a:solidFill>
                  <a:srgbClr val="1E1E1E"/>
                </a:solidFill>
                <a:latin typeface="Consolas"/>
              </a:rPr>
              <a:t>.</a:t>
            </a:r>
            <a:r>
              <a:rPr sz="1250">
                <a:solidFill>
                  <a:srgbClr val="74531F"/>
                </a:solidFill>
                <a:latin typeface="Consolas"/>
              </a:rPr>
              <a:t>Clear</a:t>
            </a:r>
            <a:r>
              <a:rPr sz="1250">
                <a:solidFill>
                  <a:srgbClr val="1E1E1E"/>
                </a:solidFill>
                <a:latin typeface="Consolas"/>
              </a:rPr>
              <a:t>(</a:t>
            </a:r>
            <a:r>
              <a:rPr sz="1250">
                <a:solidFill>
                  <a:srgbClr val="1E1E1E"/>
                </a:solidFill>
                <a:latin typeface="Consolas"/>
              </a:rPr>
              <a:t>)</a:t>
            </a:r>
            <a:r>
              <a:rPr sz="125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250">
                <a:solidFill>
                  <a:srgbClr val="0000FF"/>
                </a:solidFill>
                <a:latin typeface="Consolas"/>
              </a:rPr>
              <a:t>foreach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(</a:t>
            </a:r>
            <a:r>
              <a:rPr sz="1250">
                <a:solidFill>
                  <a:srgbClr val="0000FF"/>
                </a:solidFill>
                <a:latin typeface="Consolas"/>
              </a:rPr>
              <a:t>var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p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0000FF"/>
                </a:solidFill>
                <a:latin typeface="Consolas"/>
              </a:rPr>
              <a:t>in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polozky</a:t>
            </a:r>
            <a:r>
              <a:rPr sz="125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listBox1</a:t>
            </a:r>
            <a:r>
              <a:rPr sz="1250">
                <a:solidFill>
                  <a:srgbClr val="1E1E1E"/>
                </a:solidFill>
                <a:latin typeface="Consolas"/>
              </a:rPr>
              <a:t>.</a:t>
            </a:r>
            <a:r>
              <a:rPr sz="1250">
                <a:solidFill>
                  <a:srgbClr val="1E1E1E"/>
                </a:solidFill>
                <a:latin typeface="Consolas"/>
              </a:rPr>
              <a:t>Items</a:t>
            </a:r>
            <a:r>
              <a:rPr sz="1250">
                <a:solidFill>
                  <a:srgbClr val="1E1E1E"/>
                </a:solidFill>
                <a:latin typeface="Consolas"/>
              </a:rPr>
              <a:t>.</a:t>
            </a:r>
            <a:r>
              <a:rPr sz="1250">
                <a:solidFill>
                  <a:srgbClr val="74531F"/>
                </a:solidFill>
                <a:latin typeface="Consolas"/>
              </a:rPr>
              <a:t>Add</a:t>
            </a:r>
            <a:r>
              <a:rPr sz="1250">
                <a:solidFill>
                  <a:srgbClr val="1E1E1E"/>
                </a:solidFill>
                <a:latin typeface="Consolas"/>
              </a:rPr>
              <a:t>(</a:t>
            </a:r>
            <a:r>
              <a:rPr sz="1250">
                <a:solidFill>
                  <a:srgbClr val="1E1E1E"/>
                </a:solidFill>
                <a:latin typeface="Consolas"/>
              </a:rPr>
              <a:t>$</a:t>
            </a:r>
            <a:r>
              <a:rPr sz="1250">
                <a:solidFill>
                  <a:srgbClr val="A31515"/>
                </a:solidFill>
                <a:latin typeface="Consolas"/>
              </a:rPr>
              <a:t>"{p.Nazev} ({p.Pocet})"</a:t>
            </a:r>
            <a:r>
              <a:rPr sz="1250">
                <a:solidFill>
                  <a:srgbClr val="1E1E1E"/>
                </a:solidFill>
                <a:latin typeface="Consolas"/>
              </a:rPr>
              <a:t>)</a:t>
            </a:r>
            <a:r>
              <a:rPr sz="125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250">
                <a:solidFill>
                  <a:srgbClr val="1E1E1E"/>
                </a:solidFill>
                <a:latin typeface="Consolas"/>
              </a:rPr>
              <a:t>label1</a:t>
            </a:r>
            <a:r>
              <a:rPr sz="1250">
                <a:solidFill>
                  <a:srgbClr val="1E1E1E"/>
                </a:solidFill>
                <a:latin typeface="Consolas"/>
              </a:rPr>
              <a:t>.</a:t>
            </a:r>
            <a:r>
              <a:rPr sz="1250">
                <a:solidFill>
                  <a:srgbClr val="1E1E1E"/>
                </a:solidFill>
                <a:latin typeface="Consolas"/>
              </a:rPr>
              <a:t>Text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=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$</a:t>
            </a:r>
            <a:r>
              <a:rPr sz="1250">
                <a:solidFill>
                  <a:srgbClr val="A31515"/>
                </a:solidFill>
                <a:latin typeface="Consolas"/>
              </a:rPr>
              <a:t>"Celkem: {polozky.Count}"</a:t>
            </a:r>
            <a:r>
              <a:rPr sz="1250">
                <a:solidFill>
                  <a:srgbClr val="1E1E1E"/>
                </a:solidFill>
                <a:latin typeface="Consolas"/>
              </a:rPr>
              <a:t>;</a:t>
            </a:r>
          </a:p>
        </p:txBody>
      </p:sp>
      <p:sp>
        <p:nvSpPr>
          <p:cNvPr id="16" name="Kód"/>
          <p:cNvSpPr/>
          <p:nvPr/>
        </p:nvSpPr>
        <p:spPr>
          <a:xfrm>
            <a:off x="6172200" y="3100000"/>
            <a:ext cx="5183188" cy="3050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164592" bIns="164592"/>
          <a:lstStyle/>
          <a:p>
            <a:pPr algn="l"/>
            <a:r>
              <a:rPr sz="1200">
                <a:solidFill>
                  <a:srgbClr val="0000FF"/>
                </a:solidFill>
                <a:latin typeface="Consolas"/>
              </a:rPr>
              <a:t>void</a:t>
            </a:r>
            <a:r>
              <a:rPr sz="1200">
                <a:solidFill>
                  <a:srgbClr val="1E1E1E"/>
                </a:solidFill>
                <a:latin typeface="Consolas"/>
              </a:rPr>
              <a:t> </a:t>
            </a:r>
            <a:r>
              <a:rPr sz="1200">
                <a:solidFill>
                  <a:srgbClr val="74531F"/>
                </a:solidFill>
                <a:latin typeface="Consolas"/>
              </a:rPr>
              <a:t>ObnovSeznam</a:t>
            </a:r>
            <a:r>
              <a:rPr sz="1200">
                <a:solidFill>
                  <a:srgbClr val="1E1E1E"/>
                </a:solidFill>
                <a:latin typeface="Consolas"/>
              </a:rPr>
              <a:t>(</a:t>
            </a:r>
            <a:r>
              <a:rPr sz="120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200">
                <a:solidFill>
                  <a:srgbClr val="1E1E1E"/>
                </a:solidFill>
                <a:latin typeface="Consolas"/>
              </a:rPr>
              <a:t>{</a:t>
            </a:r>
          </a:p>
          <a:p>
            <a:pPr algn="l"/>
            <a:r>
              <a:rPr sz="1200">
                <a:solidFill>
                  <a:srgbClr val="1E1E1E"/>
                </a:solidFill>
                <a:latin typeface="Consolas"/>
              </a:rPr>
              <a:t> </a:t>
            </a:r>
            <a:r>
              <a:rPr sz="1200">
                <a:solidFill>
                  <a:srgbClr val="1E1E1E"/>
                </a:solidFill>
                <a:latin typeface="Consolas"/>
              </a:rPr>
              <a:t> </a:t>
            </a:r>
            <a:r>
              <a:rPr sz="1200">
                <a:solidFill>
                  <a:srgbClr val="1E1E1E"/>
                </a:solidFill>
                <a:latin typeface="Consolas"/>
              </a:rPr>
              <a:t> </a:t>
            </a:r>
            <a:r>
              <a:rPr sz="1200">
                <a:solidFill>
                  <a:srgbClr val="1E1E1E"/>
                </a:solidFill>
                <a:latin typeface="Consolas"/>
              </a:rPr>
              <a:t> </a:t>
            </a:r>
            <a:r>
              <a:rPr sz="1200">
                <a:solidFill>
                  <a:srgbClr val="1E1E1E"/>
                </a:solidFill>
                <a:latin typeface="Consolas"/>
              </a:rPr>
              <a:t>listBox1</a:t>
            </a:r>
            <a:r>
              <a:rPr sz="1200">
                <a:solidFill>
                  <a:srgbClr val="1E1E1E"/>
                </a:solidFill>
                <a:latin typeface="Consolas"/>
              </a:rPr>
              <a:t>.</a:t>
            </a:r>
            <a:r>
              <a:rPr sz="1200">
                <a:solidFill>
                  <a:srgbClr val="1E1E1E"/>
                </a:solidFill>
                <a:latin typeface="Consolas"/>
              </a:rPr>
              <a:t>Items</a:t>
            </a:r>
            <a:r>
              <a:rPr sz="1200">
                <a:solidFill>
                  <a:srgbClr val="1E1E1E"/>
                </a:solidFill>
                <a:latin typeface="Consolas"/>
              </a:rPr>
              <a:t>.</a:t>
            </a:r>
            <a:r>
              <a:rPr sz="1200">
                <a:solidFill>
                  <a:srgbClr val="74531F"/>
                </a:solidFill>
                <a:latin typeface="Consolas"/>
              </a:rPr>
              <a:t>Clear</a:t>
            </a:r>
            <a:r>
              <a:rPr sz="1200">
                <a:solidFill>
                  <a:srgbClr val="1E1E1E"/>
                </a:solidFill>
                <a:latin typeface="Consolas"/>
              </a:rPr>
              <a:t>(</a:t>
            </a:r>
            <a:r>
              <a:rPr sz="1200">
                <a:solidFill>
                  <a:srgbClr val="1E1E1E"/>
                </a:solidFill>
                <a:latin typeface="Consolas"/>
              </a:rPr>
              <a:t>)</a:t>
            </a:r>
            <a:r>
              <a:rPr sz="12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200">
                <a:solidFill>
                  <a:srgbClr val="1E1E1E"/>
                </a:solidFill>
                <a:latin typeface="Consolas"/>
              </a:rPr>
              <a:t> </a:t>
            </a:r>
            <a:r>
              <a:rPr sz="1200">
                <a:solidFill>
                  <a:srgbClr val="1E1E1E"/>
                </a:solidFill>
                <a:latin typeface="Consolas"/>
              </a:rPr>
              <a:t> </a:t>
            </a:r>
            <a:r>
              <a:rPr sz="1200">
                <a:solidFill>
                  <a:srgbClr val="1E1E1E"/>
                </a:solidFill>
                <a:latin typeface="Consolas"/>
              </a:rPr>
              <a:t> </a:t>
            </a:r>
            <a:r>
              <a:rPr sz="1200">
                <a:solidFill>
                  <a:srgbClr val="1E1E1E"/>
                </a:solidFill>
                <a:latin typeface="Consolas"/>
              </a:rPr>
              <a:t> </a:t>
            </a:r>
            <a:r>
              <a:rPr sz="1200">
                <a:solidFill>
                  <a:srgbClr val="0000FF"/>
                </a:solidFill>
                <a:latin typeface="Consolas"/>
              </a:rPr>
              <a:t>foreach</a:t>
            </a:r>
            <a:r>
              <a:rPr sz="1200">
                <a:solidFill>
                  <a:srgbClr val="1E1E1E"/>
                </a:solidFill>
                <a:latin typeface="Consolas"/>
              </a:rPr>
              <a:t> </a:t>
            </a:r>
            <a:r>
              <a:rPr sz="1200">
                <a:solidFill>
                  <a:srgbClr val="1E1E1E"/>
                </a:solidFill>
                <a:latin typeface="Consolas"/>
              </a:rPr>
              <a:t>(</a:t>
            </a:r>
            <a:r>
              <a:rPr sz="1200">
                <a:solidFill>
                  <a:srgbClr val="0000FF"/>
                </a:solidFill>
                <a:latin typeface="Consolas"/>
              </a:rPr>
              <a:t>var</a:t>
            </a:r>
            <a:r>
              <a:rPr sz="1200">
                <a:solidFill>
                  <a:srgbClr val="1E1E1E"/>
                </a:solidFill>
                <a:latin typeface="Consolas"/>
              </a:rPr>
              <a:t> </a:t>
            </a:r>
            <a:r>
              <a:rPr sz="1200">
                <a:solidFill>
                  <a:srgbClr val="1E1E1E"/>
                </a:solidFill>
                <a:latin typeface="Consolas"/>
              </a:rPr>
              <a:t>p</a:t>
            </a:r>
            <a:r>
              <a:rPr sz="1200">
                <a:solidFill>
                  <a:srgbClr val="1E1E1E"/>
                </a:solidFill>
                <a:latin typeface="Consolas"/>
              </a:rPr>
              <a:t> </a:t>
            </a:r>
            <a:r>
              <a:rPr sz="1200">
                <a:solidFill>
                  <a:srgbClr val="0000FF"/>
                </a:solidFill>
                <a:latin typeface="Consolas"/>
              </a:rPr>
              <a:t>in</a:t>
            </a:r>
            <a:r>
              <a:rPr sz="1200">
                <a:solidFill>
                  <a:srgbClr val="1E1E1E"/>
                </a:solidFill>
                <a:latin typeface="Consolas"/>
              </a:rPr>
              <a:t> </a:t>
            </a:r>
            <a:r>
              <a:rPr sz="1200">
                <a:solidFill>
                  <a:srgbClr val="1E1E1E"/>
                </a:solidFill>
                <a:latin typeface="Consolas"/>
              </a:rPr>
              <a:t>polozky</a:t>
            </a:r>
            <a:r>
              <a:rPr sz="120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200">
                <a:solidFill>
                  <a:srgbClr val="1E1E1E"/>
                </a:solidFill>
                <a:latin typeface="Consolas"/>
              </a:rPr>
              <a:t> </a:t>
            </a:r>
            <a:r>
              <a:rPr sz="1200">
                <a:solidFill>
                  <a:srgbClr val="1E1E1E"/>
                </a:solidFill>
                <a:latin typeface="Consolas"/>
              </a:rPr>
              <a:t> </a:t>
            </a:r>
            <a:r>
              <a:rPr sz="1200">
                <a:solidFill>
                  <a:srgbClr val="1E1E1E"/>
                </a:solidFill>
                <a:latin typeface="Consolas"/>
              </a:rPr>
              <a:t> </a:t>
            </a:r>
            <a:r>
              <a:rPr sz="1200">
                <a:solidFill>
                  <a:srgbClr val="1E1E1E"/>
                </a:solidFill>
                <a:latin typeface="Consolas"/>
              </a:rPr>
              <a:t> </a:t>
            </a:r>
            <a:r>
              <a:rPr sz="1200">
                <a:solidFill>
                  <a:srgbClr val="1E1E1E"/>
                </a:solidFill>
                <a:latin typeface="Consolas"/>
              </a:rPr>
              <a:t> </a:t>
            </a:r>
            <a:r>
              <a:rPr sz="1200">
                <a:solidFill>
                  <a:srgbClr val="1E1E1E"/>
                </a:solidFill>
                <a:latin typeface="Consolas"/>
              </a:rPr>
              <a:t> </a:t>
            </a:r>
            <a:r>
              <a:rPr sz="1200">
                <a:solidFill>
                  <a:srgbClr val="1E1E1E"/>
                </a:solidFill>
                <a:latin typeface="Consolas"/>
              </a:rPr>
              <a:t> </a:t>
            </a:r>
            <a:r>
              <a:rPr sz="1200">
                <a:solidFill>
                  <a:srgbClr val="1E1E1E"/>
                </a:solidFill>
                <a:latin typeface="Consolas"/>
              </a:rPr>
              <a:t> </a:t>
            </a:r>
            <a:r>
              <a:rPr sz="1200">
                <a:solidFill>
                  <a:srgbClr val="1E1E1E"/>
                </a:solidFill>
                <a:latin typeface="Consolas"/>
              </a:rPr>
              <a:t>listBox1</a:t>
            </a:r>
            <a:r>
              <a:rPr sz="1200">
                <a:solidFill>
                  <a:srgbClr val="1E1E1E"/>
                </a:solidFill>
                <a:latin typeface="Consolas"/>
              </a:rPr>
              <a:t>.</a:t>
            </a:r>
            <a:r>
              <a:rPr sz="1200">
                <a:solidFill>
                  <a:srgbClr val="1E1E1E"/>
                </a:solidFill>
                <a:latin typeface="Consolas"/>
              </a:rPr>
              <a:t>Items</a:t>
            </a:r>
            <a:r>
              <a:rPr sz="1200">
                <a:solidFill>
                  <a:srgbClr val="1E1E1E"/>
                </a:solidFill>
                <a:latin typeface="Consolas"/>
              </a:rPr>
              <a:t>.</a:t>
            </a:r>
            <a:r>
              <a:rPr sz="1200">
                <a:solidFill>
                  <a:srgbClr val="74531F"/>
                </a:solidFill>
                <a:latin typeface="Consolas"/>
              </a:rPr>
              <a:t>Add</a:t>
            </a:r>
            <a:r>
              <a:rPr sz="1200">
                <a:solidFill>
                  <a:srgbClr val="1E1E1E"/>
                </a:solidFill>
                <a:latin typeface="Consolas"/>
              </a:rPr>
              <a:t>(</a:t>
            </a:r>
            <a:r>
              <a:rPr sz="1200">
                <a:solidFill>
                  <a:srgbClr val="1E1E1E"/>
                </a:solidFill>
                <a:latin typeface="Consolas"/>
              </a:rPr>
              <a:t>$</a:t>
            </a:r>
            <a:r>
              <a:rPr sz="1200">
                <a:solidFill>
                  <a:srgbClr val="A31515"/>
                </a:solidFill>
                <a:latin typeface="Consolas"/>
              </a:rPr>
              <a:t>"{p.Nazev} ({p.Pocet})"</a:t>
            </a:r>
            <a:r>
              <a:rPr sz="1200">
                <a:solidFill>
                  <a:srgbClr val="1E1E1E"/>
                </a:solidFill>
                <a:latin typeface="Consolas"/>
              </a:rPr>
              <a:t>)</a:t>
            </a:r>
            <a:r>
              <a:rPr sz="12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200">
                <a:solidFill>
                  <a:srgbClr val="1E1E1E"/>
                </a:solidFill>
                <a:latin typeface="Consolas"/>
              </a:rPr>
              <a:t> </a:t>
            </a:r>
            <a:r>
              <a:rPr sz="1200">
                <a:solidFill>
                  <a:srgbClr val="1E1E1E"/>
                </a:solidFill>
                <a:latin typeface="Consolas"/>
              </a:rPr>
              <a:t> </a:t>
            </a:r>
            <a:r>
              <a:rPr sz="1200">
                <a:solidFill>
                  <a:srgbClr val="1E1E1E"/>
                </a:solidFill>
                <a:latin typeface="Consolas"/>
              </a:rPr>
              <a:t> </a:t>
            </a:r>
            <a:r>
              <a:rPr sz="1200">
                <a:solidFill>
                  <a:srgbClr val="1E1E1E"/>
                </a:solidFill>
                <a:latin typeface="Consolas"/>
              </a:rPr>
              <a:t> </a:t>
            </a:r>
            <a:r>
              <a:rPr sz="1200">
                <a:solidFill>
                  <a:srgbClr val="1E1E1E"/>
                </a:solidFill>
                <a:latin typeface="Consolas"/>
              </a:rPr>
              <a:t>label1</a:t>
            </a:r>
            <a:r>
              <a:rPr sz="1200">
                <a:solidFill>
                  <a:srgbClr val="1E1E1E"/>
                </a:solidFill>
                <a:latin typeface="Consolas"/>
              </a:rPr>
              <a:t>.</a:t>
            </a:r>
            <a:r>
              <a:rPr sz="1200">
                <a:solidFill>
                  <a:srgbClr val="1E1E1E"/>
                </a:solidFill>
                <a:latin typeface="Consolas"/>
              </a:rPr>
              <a:t>Text</a:t>
            </a:r>
            <a:r>
              <a:rPr sz="1200">
                <a:solidFill>
                  <a:srgbClr val="1E1E1E"/>
                </a:solidFill>
                <a:latin typeface="Consolas"/>
              </a:rPr>
              <a:t> </a:t>
            </a:r>
            <a:r>
              <a:rPr sz="1200">
                <a:solidFill>
                  <a:srgbClr val="1E1E1E"/>
                </a:solidFill>
                <a:latin typeface="Consolas"/>
              </a:rPr>
              <a:t>=</a:t>
            </a:r>
            <a:r>
              <a:rPr sz="1200">
                <a:solidFill>
                  <a:srgbClr val="1E1E1E"/>
                </a:solidFill>
                <a:latin typeface="Consolas"/>
              </a:rPr>
              <a:t> </a:t>
            </a:r>
            <a:r>
              <a:rPr sz="1200">
                <a:solidFill>
                  <a:srgbClr val="1E1E1E"/>
                </a:solidFill>
                <a:latin typeface="Consolas"/>
              </a:rPr>
              <a:t>$</a:t>
            </a:r>
            <a:r>
              <a:rPr sz="1200">
                <a:solidFill>
                  <a:srgbClr val="A31515"/>
                </a:solidFill>
                <a:latin typeface="Consolas"/>
              </a:rPr>
              <a:t>"Celkem: {polozky.Count}"</a:t>
            </a:r>
            <a:r>
              <a:rPr sz="12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200">
                <a:solidFill>
                  <a:srgbClr val="1E1E1E"/>
                </a:solidFill>
                <a:latin typeface="Consolas"/>
              </a:rPr>
              <a:t>}</a:t>
            </a:r>
          </a:p>
          <a:p>
            <a:pPr algn="l"/>
            <a:r>
              <a:rPr sz="1200">
                <a:solidFill>
                  <a:srgbClr val="1E1E1E"/>
                </a:solidFill>
                <a:latin typeface="Consolas"/>
              </a:rPr>
              <a:t> </a:t>
            </a:r>
          </a:p>
          <a:p>
            <a:pPr algn="l"/>
            <a:r>
              <a:rPr sz="1200">
                <a:solidFill>
                  <a:srgbClr val="008000"/>
                </a:solidFill>
                <a:latin typeface="Consolas"/>
              </a:rPr>
              <a:t>// obě tlačítka</a:t>
            </a:r>
          </a:p>
          <a:p>
            <a:pPr algn="l"/>
            <a:r>
              <a:rPr sz="1200">
                <a:solidFill>
                  <a:srgbClr val="74531F"/>
                </a:solidFill>
                <a:latin typeface="Consolas"/>
              </a:rPr>
              <a:t>ObnovSeznam</a:t>
            </a:r>
            <a:r>
              <a:rPr sz="1200">
                <a:solidFill>
                  <a:srgbClr val="1E1E1E"/>
                </a:solidFill>
                <a:latin typeface="Consolas"/>
              </a:rPr>
              <a:t>(</a:t>
            </a:r>
            <a:r>
              <a:rPr sz="1200">
                <a:solidFill>
                  <a:srgbClr val="1E1E1E"/>
                </a:solidFill>
                <a:latin typeface="Consolas"/>
              </a:rPr>
              <a:t>)</a:t>
            </a:r>
            <a:r>
              <a:rPr sz="1200">
                <a:solidFill>
                  <a:srgbClr val="1E1E1E"/>
                </a:solidFill>
                <a:latin typeface="Consolas"/>
              </a:rPr>
              <a:t>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Magická čísla → konstanty a enum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Před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912628" y="3080000"/>
            <a:ext cx="5084947" cy="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/>
              <a:t>Co znamená 3? Co je 0.85?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3080000"/>
            <a:ext cx="5183188" cy="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/>
              <a:t>Význam je v názvu, změna na jednom místě</a:t>
            </a:r>
          </a:p>
        </p:txBody>
      </p:sp>
      <p:sp>
        <p:nvSpPr>
          <p:cNvPr id="17" name="Kód"/>
          <p:cNvSpPr/>
          <p:nvPr/>
        </p:nvSpPr>
        <p:spPr>
          <a:xfrm>
            <a:off x="912628" y="3750000"/>
            <a:ext cx="5084947" cy="2400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164592" bIns="164592"/>
          <a:lstStyle/>
          <a:p>
            <a:pPr algn="l"/>
            <a:r>
              <a:rPr sz="1600">
                <a:solidFill>
                  <a:srgbClr val="0000FF"/>
                </a:solidFill>
                <a:latin typeface="Consolas"/>
              </a:rPr>
              <a:t>if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1E1E1E"/>
                </a:solidFill>
                <a:latin typeface="Consolas"/>
              </a:rPr>
              <a:t>p</a:t>
            </a:r>
            <a:r>
              <a:rPr sz="1600">
                <a:solidFill>
                  <a:srgbClr val="1E1E1E"/>
                </a:solidFill>
                <a:latin typeface="Consolas"/>
              </a:rPr>
              <a:t>.</a:t>
            </a:r>
            <a:r>
              <a:rPr sz="1600">
                <a:solidFill>
                  <a:srgbClr val="2B91AF"/>
                </a:solidFill>
                <a:latin typeface="Consolas"/>
              </a:rPr>
              <a:t>Kategorie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=</a:t>
            </a:r>
            <a:r>
              <a:rPr sz="1600">
                <a:solidFill>
                  <a:srgbClr val="1E1E1E"/>
                </a:solidFill>
                <a:latin typeface="Consolas"/>
              </a:rPr>
              <a:t>=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3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cena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*</a:t>
            </a:r>
            <a:r>
              <a:rPr sz="1600">
                <a:solidFill>
                  <a:srgbClr val="1E1E1E"/>
                </a:solidFill>
                <a:latin typeface="Consolas"/>
              </a:rPr>
              <a:t>=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0</a:t>
            </a:r>
            <a:r>
              <a:rPr sz="1600">
                <a:solidFill>
                  <a:srgbClr val="1E1E1E"/>
                </a:solidFill>
                <a:latin typeface="Consolas"/>
              </a:rPr>
              <a:t>.</a:t>
            </a:r>
            <a:r>
              <a:rPr sz="1600">
                <a:solidFill>
                  <a:srgbClr val="1E1E1E"/>
                </a:solidFill>
                <a:latin typeface="Consolas"/>
              </a:rPr>
              <a:t>8</a:t>
            </a:r>
            <a:r>
              <a:rPr sz="1600">
                <a:solidFill>
                  <a:srgbClr val="1E1E1E"/>
                </a:solidFill>
                <a:latin typeface="Consolas"/>
              </a:rPr>
              <a:t>5</a:t>
            </a:r>
            <a:r>
              <a:rPr sz="16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</a:p>
          <a:p>
            <a:pPr algn="l"/>
            <a:r>
              <a:rPr sz="1600">
                <a:solidFill>
                  <a:srgbClr val="0000FF"/>
                </a:solidFill>
                <a:latin typeface="Consolas"/>
              </a:rPr>
              <a:t>if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1E1E1E"/>
                </a:solidFill>
                <a:latin typeface="Consolas"/>
              </a:rPr>
              <a:t>stav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=</a:t>
            </a:r>
            <a:r>
              <a:rPr sz="1600">
                <a:solidFill>
                  <a:srgbClr val="1E1E1E"/>
                </a:solidFill>
                <a:latin typeface="Consolas"/>
              </a:rPr>
              <a:t>=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2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74531F"/>
                </a:solidFill>
                <a:latin typeface="Consolas"/>
              </a:rPr>
              <a:t>Odesli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1E1E1E"/>
                </a:solidFill>
                <a:latin typeface="Consolas"/>
              </a:rPr>
              <a:t>o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  <a:r>
              <a:rPr sz="1600">
                <a:solidFill>
                  <a:srgbClr val="1E1E1E"/>
                </a:solidFill>
                <a:latin typeface="Consolas"/>
              </a:rPr>
              <a:t>;</a:t>
            </a:r>
          </a:p>
        </p:txBody>
      </p:sp>
      <p:sp>
        <p:nvSpPr>
          <p:cNvPr id="18" name="Kód"/>
          <p:cNvSpPr/>
          <p:nvPr/>
        </p:nvSpPr>
        <p:spPr>
          <a:xfrm>
            <a:off x="6172200" y="3750000"/>
            <a:ext cx="5183188" cy="2400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164592" bIns="164592"/>
          <a:lstStyle/>
          <a:p>
            <a:pPr algn="l"/>
            <a:r>
              <a:rPr sz="1600">
                <a:solidFill>
                  <a:srgbClr val="0000FF"/>
                </a:solidFill>
                <a:latin typeface="Consolas"/>
              </a:rPr>
              <a:t>const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0000FF"/>
                </a:solidFill>
                <a:latin typeface="Consolas"/>
              </a:rPr>
              <a:t>double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SlevaVyprodej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=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0</a:t>
            </a:r>
            <a:r>
              <a:rPr sz="1600">
                <a:solidFill>
                  <a:srgbClr val="1E1E1E"/>
                </a:solidFill>
                <a:latin typeface="Consolas"/>
              </a:rPr>
              <a:t>.</a:t>
            </a:r>
            <a:r>
              <a:rPr sz="1600">
                <a:solidFill>
                  <a:srgbClr val="1E1E1E"/>
                </a:solidFill>
                <a:latin typeface="Consolas"/>
              </a:rPr>
              <a:t>1</a:t>
            </a:r>
            <a:r>
              <a:rPr sz="1600">
                <a:solidFill>
                  <a:srgbClr val="1E1E1E"/>
                </a:solidFill>
                <a:latin typeface="Consolas"/>
              </a:rPr>
              <a:t>5</a:t>
            </a:r>
            <a:r>
              <a:rPr sz="16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</a:p>
          <a:p>
            <a:pPr algn="l"/>
            <a:r>
              <a:rPr sz="1600">
                <a:solidFill>
                  <a:srgbClr val="0000FF"/>
                </a:solidFill>
                <a:latin typeface="Consolas"/>
              </a:rPr>
              <a:t>if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1E1E1E"/>
                </a:solidFill>
                <a:latin typeface="Consolas"/>
              </a:rPr>
              <a:t>p</a:t>
            </a:r>
            <a:r>
              <a:rPr sz="1600">
                <a:solidFill>
                  <a:srgbClr val="1E1E1E"/>
                </a:solidFill>
                <a:latin typeface="Consolas"/>
              </a:rPr>
              <a:t>.</a:t>
            </a:r>
            <a:r>
              <a:rPr sz="1600">
                <a:solidFill>
                  <a:srgbClr val="2B91AF"/>
                </a:solidFill>
                <a:latin typeface="Consolas"/>
              </a:rPr>
              <a:t>Kategorie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=</a:t>
            </a:r>
            <a:r>
              <a:rPr sz="1600">
                <a:solidFill>
                  <a:srgbClr val="1E1E1E"/>
                </a:solidFill>
                <a:latin typeface="Consolas"/>
              </a:rPr>
              <a:t>=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2B91AF"/>
                </a:solidFill>
                <a:latin typeface="Consolas"/>
              </a:rPr>
              <a:t>Kategorie</a:t>
            </a:r>
            <a:r>
              <a:rPr sz="1600">
                <a:solidFill>
                  <a:srgbClr val="1E1E1E"/>
                </a:solidFill>
                <a:latin typeface="Consolas"/>
              </a:rPr>
              <a:t>.</a:t>
            </a:r>
            <a:r>
              <a:rPr sz="1600">
                <a:solidFill>
                  <a:srgbClr val="1E1E1E"/>
                </a:solidFill>
                <a:latin typeface="Consolas"/>
              </a:rPr>
              <a:t>Vyprodej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cena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*</a:t>
            </a:r>
            <a:r>
              <a:rPr sz="1600">
                <a:solidFill>
                  <a:srgbClr val="1E1E1E"/>
                </a:solidFill>
                <a:latin typeface="Consolas"/>
              </a:rPr>
              <a:t>=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1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-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SlevaVyprodej</a:t>
            </a:r>
            <a:r>
              <a:rPr sz="16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</a:p>
          <a:p>
            <a:pPr algn="l"/>
            <a:r>
              <a:rPr sz="1600">
                <a:solidFill>
                  <a:srgbClr val="0000FF"/>
                </a:solidFill>
                <a:latin typeface="Consolas"/>
              </a:rPr>
              <a:t>if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1E1E1E"/>
                </a:solidFill>
                <a:latin typeface="Consolas"/>
              </a:rPr>
              <a:t>o</a:t>
            </a:r>
            <a:r>
              <a:rPr sz="1600">
                <a:solidFill>
                  <a:srgbClr val="1E1E1E"/>
                </a:solidFill>
                <a:latin typeface="Consolas"/>
              </a:rPr>
              <a:t>.</a:t>
            </a:r>
            <a:r>
              <a:rPr sz="1600">
                <a:solidFill>
                  <a:srgbClr val="1E1E1E"/>
                </a:solidFill>
                <a:latin typeface="Consolas"/>
              </a:rPr>
              <a:t>Stav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=</a:t>
            </a:r>
            <a:r>
              <a:rPr sz="1600">
                <a:solidFill>
                  <a:srgbClr val="1E1E1E"/>
                </a:solidFill>
                <a:latin typeface="Consolas"/>
              </a:rPr>
              <a:t>=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2B91AF"/>
                </a:solidFill>
                <a:latin typeface="Consolas"/>
              </a:rPr>
              <a:t>StavObjednavky</a:t>
            </a:r>
            <a:r>
              <a:rPr sz="1600">
                <a:solidFill>
                  <a:srgbClr val="1E1E1E"/>
                </a:solidFill>
                <a:latin typeface="Consolas"/>
              </a:rPr>
              <a:t>.</a:t>
            </a:r>
            <a:r>
              <a:rPr sz="1600">
                <a:solidFill>
                  <a:srgbClr val="1E1E1E"/>
                </a:solidFill>
                <a:latin typeface="Consolas"/>
              </a:rPr>
              <a:t>Zaplaceno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74531F"/>
                </a:solidFill>
                <a:latin typeface="Consolas"/>
              </a:rPr>
              <a:t>Odesli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1E1E1E"/>
                </a:solidFill>
                <a:latin typeface="Consolas"/>
              </a:rPr>
              <a:t>o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  <a:r>
              <a:rPr sz="1600">
                <a:solidFill>
                  <a:srgbClr val="1E1E1E"/>
                </a:solidFill>
                <a:latin typeface="Consolas"/>
              </a:rPr>
              <a:t>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Refaktoring ve Visual Studiu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914400" y="2600000"/>
          <a:ext cx="103632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6224"/>
                <a:gridCol w="3938016"/>
                <a:gridCol w="3108960"/>
              </a:tblGrid>
              <a:tr h="388620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Technika</a:t>
                      </a:r>
                    </a:p>
                  </a:txBody>
                  <a:tcPr marL="91440" marR="91440" anchor="ctr">
                    <a:solidFill>
                      <a:srgbClr val="197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Kdy ji použít</a:t>
                      </a:r>
                    </a:p>
                  </a:txBody>
                  <a:tcPr marL="91440" marR="91440" anchor="ctr">
                    <a:solidFill>
                      <a:srgbClr val="197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Visual Studio</a:t>
                      </a:r>
                    </a:p>
                  </a:txBody>
                  <a:tcPr marL="91440" marR="91440" anchor="ctr">
                    <a:solidFill>
                      <a:srgbClr val="1973EB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500"/>
                        <a:t>Přejmenování (Rename)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název nevystihuje význam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Ctrl+R, Ctrl+R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500"/>
                        <a:t>Extrakce metody</a:t>
                      </a:r>
                    </a:p>
                  </a:txBody>
                  <a:tcPr marL="91440" marR="91440" anchor="ctr"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dlouhá metoda, duplicita</a:t>
                      </a:r>
                    </a:p>
                  </a:txBody>
                  <a:tcPr marL="91440" marR="91440" anchor="ctr"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Ctrl+R, Ctrl+M</a:t>
                      </a:r>
                    </a:p>
                  </a:txBody>
                  <a:tcPr marL="91440" marR="91440" anchor="ctr">
                    <a:solidFill>
                      <a:srgbClr val="F4F5F8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500"/>
                        <a:t>Zavedení konstanty / enum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magická čísla a řetězce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Ctrl+. (rychlé akce)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500"/>
                        <a:t>Předčasný návrat</a:t>
                      </a:r>
                    </a:p>
                  </a:txBody>
                  <a:tcPr marL="91440" marR="91440" anchor="ctr"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hluboké vnoření if</a:t>
                      </a:r>
                    </a:p>
                  </a:txBody>
                  <a:tcPr marL="91440" marR="91440" anchor="ctr"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ručně</a:t>
                      </a:r>
                    </a:p>
                  </a:txBody>
                  <a:tcPr marL="91440" marR="91440" anchor="ctr">
                    <a:solidFill>
                      <a:srgbClr val="F4F5F8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500"/>
                        <a:t>Zapouzdření fieldu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veřejný field místo property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Ctrl+. (rychlé akce)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500"/>
                        <a:t>Polymorfismus místo podmínek</a:t>
                      </a:r>
                    </a:p>
                  </a:txBody>
                  <a:tcPr marL="91440" marR="91440" anchor="ctr"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větvení podle typu objektu</a:t>
                      </a:r>
                    </a:p>
                  </a:txBody>
                  <a:tcPr marL="91440" marR="91440" anchor="ctr"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ručně – nové třídy</a:t>
                      </a:r>
                    </a:p>
                  </a:txBody>
                  <a:tcPr marL="91440" marR="91440" anchor="ctr">
                    <a:solidFill>
                      <a:srgbClr val="F4F5F8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500"/>
                        <a:t>Extrakce třídy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třída má více odpovědností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ručně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Pravidla refaktoringu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sz="2000"/>
              <a:t>Refaktoring </a:t>
            </a:r>
            <a:r>
              <a:rPr b="1" sz="2000"/>
              <a:t>nemění chování</a:t>
            </a:r>
            <a:r>
              <a:rPr sz="2000"/>
              <a:t> programu – jen jeho strukturu</a:t>
            </a:r>
          </a:p>
          <a:p>
            <a:pPr lvl="1">
              <a:lnSpc>
                <a:spcPct val="110000"/>
              </a:lnSpc>
              <a:buNone/>
            </a:pPr>
            <a:r>
              <a:rPr sz="1800"/>
              <a:t>nová funkce a refaktoring nikdy v jednom kroku</a:t>
            </a:r>
          </a:p>
          <a:p>
            <a:pPr>
              <a:lnSpc>
                <a:spcPct val="110000"/>
              </a:lnSpc>
            </a:pPr>
            <a:r>
              <a:rPr sz="2000"/>
              <a:t>Postupujte </a:t>
            </a:r>
            <a:r>
              <a:rPr b="1" sz="2000"/>
              <a:t>po malých krocích</a:t>
            </a:r>
          </a:p>
          <a:p>
            <a:pPr lvl="1">
              <a:lnSpc>
                <a:spcPct val="110000"/>
              </a:lnSpc>
              <a:buNone/>
            </a:pPr>
            <a:r>
              <a:rPr sz="1800"/>
              <a:t>po každém kroku přeložit, spustit, otestovat</a:t>
            </a:r>
          </a:p>
          <a:p>
            <a:pPr>
              <a:lnSpc>
                <a:spcPct val="110000"/>
              </a:lnSpc>
            </a:pPr>
            <a:r>
              <a:rPr sz="2000"/>
              <a:t>Před refaktoringem si ověřte, že kód funguje</a:t>
            </a:r>
          </a:p>
          <a:p>
            <a:pPr lvl="1">
              <a:lnSpc>
                <a:spcPct val="110000"/>
              </a:lnSpc>
              <a:buNone/>
            </a:pPr>
            <a:r>
              <a:rPr sz="1800"/>
              <a:t>jinak nepoznáte, jestli jste něco rozbili</a:t>
            </a:r>
          </a:p>
          <a:p>
            <a:pPr>
              <a:lnSpc>
                <a:spcPct val="110000"/>
              </a:lnSpc>
            </a:pPr>
            <a:r>
              <a:rPr sz="2000"/>
              <a:t>Pravidlo skauta: kód opouštějte v lepším stavu, než jste ho našli</a:t>
            </a:r>
          </a:p>
          <a:p>
            <a:pPr>
              <a:lnSpc>
                <a:spcPct val="110000"/>
              </a:lnSpc>
            </a:pPr>
            <a:r>
              <a:rPr sz="2000"/>
              <a:t>Verzovací systém (Git) = bezpečná cesta zpět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Jak provést code review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15" name="Rounded Rectangle 14"/>
          <p:cNvSpPr/>
          <p:nvPr/>
        </p:nvSpPr>
        <p:spPr>
          <a:xfrm>
            <a:off x="914400" y="2800000"/>
            <a:ext cx="1768640" cy="1700000"/>
          </a:xfrm>
          <a:prstGeom prst="roundRect">
            <a:avLst>
              <a:gd name="adj" fmla="val 6000"/>
            </a:avLst>
          </a:prstGeom>
          <a:solidFill>
            <a:srgbClr val="197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l"/>
            <a:r>
              <a:rPr b="1" sz="1600">
                <a:solidFill>
                  <a:srgbClr val="FFFFFF"/>
                </a:solidFill>
              </a:rPr>
              <a:t>1. Zadání</a:t>
            </a:r>
          </a:p>
          <a:p>
            <a:pPr algn="l"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Co má kód dělat? Jaká jsou kritéria?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33040" y="3650000"/>
            <a:ext cx="280000" cy="0"/>
          </a:xfrm>
          <a:prstGeom prst="line">
            <a:avLst/>
          </a:prstGeom>
          <a:ln w="28575">
            <a:solidFill>
              <a:srgbClr val="0D1C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063040" y="2800000"/>
            <a:ext cx="1768640" cy="1700000"/>
          </a:xfrm>
          <a:prstGeom prst="roundRect">
            <a:avLst>
              <a:gd name="adj" fmla="val 6000"/>
            </a:avLst>
          </a:prstGeom>
          <a:solidFill>
            <a:srgbClr val="25C8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l"/>
            <a:r>
              <a:rPr b="1" sz="1600">
                <a:solidFill>
                  <a:srgbClr val="FFFFFF"/>
                </a:solidFill>
              </a:rPr>
              <a:t>2. Spuštění</a:t>
            </a:r>
          </a:p>
          <a:p>
            <a:pPr algn="l"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Funguje? Zkuste i chybné vstupy.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81680" y="3650000"/>
            <a:ext cx="280000" cy="0"/>
          </a:xfrm>
          <a:prstGeom prst="line">
            <a:avLst/>
          </a:prstGeom>
          <a:ln w="28575">
            <a:solidFill>
              <a:srgbClr val="0D1C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211680" y="2800000"/>
            <a:ext cx="1768640" cy="1700000"/>
          </a:xfrm>
          <a:prstGeom prst="roundRect">
            <a:avLst>
              <a:gd name="adj" fmla="val 6000"/>
            </a:avLst>
          </a:prstGeom>
          <a:solidFill>
            <a:srgbClr val="BF8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l"/>
            <a:r>
              <a:rPr b="1" sz="1600">
                <a:solidFill>
                  <a:srgbClr val="FFFFFF"/>
                </a:solidFill>
              </a:rPr>
              <a:t>3. Celek</a:t>
            </a:r>
          </a:p>
          <a:p>
            <a:pPr algn="l"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Struktura tříd a metod, rozdělení odpovědností.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030320" y="3650000"/>
            <a:ext cx="280000" cy="0"/>
          </a:xfrm>
          <a:prstGeom prst="line">
            <a:avLst/>
          </a:prstGeom>
          <a:ln w="28575">
            <a:solidFill>
              <a:srgbClr val="0D1C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360320" y="2800000"/>
            <a:ext cx="1768640" cy="1700000"/>
          </a:xfrm>
          <a:prstGeom prst="roundRect">
            <a:avLst>
              <a:gd name="adj" fmla="val 6000"/>
            </a:avLst>
          </a:prstGeom>
          <a:solidFill>
            <a:srgbClr val="FE7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l"/>
            <a:r>
              <a:rPr b="1" sz="1600">
                <a:solidFill>
                  <a:srgbClr val="FFFFFF"/>
                </a:solidFill>
              </a:rPr>
              <a:t>4. Detaily</a:t>
            </a:r>
          </a:p>
          <a:p>
            <a:pPr algn="l"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Názvy, duplicity, podmínky, výjimky.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178960" y="3650000"/>
            <a:ext cx="280000" cy="0"/>
          </a:xfrm>
          <a:prstGeom prst="line">
            <a:avLst/>
          </a:prstGeom>
          <a:ln w="28575">
            <a:solidFill>
              <a:srgbClr val="0D1C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508960" y="2800000"/>
            <a:ext cx="1768640" cy="1700000"/>
          </a:xfrm>
          <a:prstGeom prst="roundRect">
            <a:avLst>
              <a:gd name="adj" fmla="val 6000"/>
            </a:avLst>
          </a:prstGeom>
          <a:solidFill>
            <a:srgbClr val="FE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l"/>
            <a:r>
              <a:rPr b="1" sz="1600">
                <a:solidFill>
                  <a:srgbClr val="FFFFFF"/>
                </a:solidFill>
              </a:rPr>
              <a:t>5. Zpětná vazba</a:t>
            </a:r>
          </a:p>
          <a:p>
            <a:pPr algn="l"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Konkrétně, věcně, s návrhem řešení.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850000"/>
            <a:ext cx="103632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/>
              <a:t>Hodnotíme kód, ne autora. Pochvala za dobré řešení je také zpětná vazba.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Jak psát zpětnou vazbu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Nepoužitelná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sz="1600"/>
              <a:t>„Tohle je špatně.“</a:t>
            </a:r>
          </a:p>
          <a:p>
            <a:pPr>
              <a:lnSpc>
                <a:spcPct val="110000"/>
              </a:lnSpc>
            </a:pPr>
            <a:r>
              <a:rPr sz="1600"/>
              <a:t>„Přepiš to celé.“</a:t>
            </a:r>
          </a:p>
          <a:p>
            <a:pPr>
              <a:lnSpc>
                <a:spcPct val="110000"/>
              </a:lnSpc>
            </a:pPr>
            <a:r>
              <a:rPr sz="1600"/>
              <a:t>„Já bych to udělal jinak.“</a:t>
            </a:r>
          </a:p>
          <a:p>
            <a:pPr>
              <a:lnSpc>
                <a:spcPct val="110000"/>
              </a:lnSpc>
            </a:pPr>
            <a:r>
              <a:rPr sz="1600"/>
              <a:t>„Proč jsi tu použil List?“ (bez kontextu)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Užitečná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sz="1600"/>
              <a:t>Metoda </a:t>
            </a:r>
            <a:r>
              <a:rPr sz="1600">
                <a:latin typeface="Consolas"/>
              </a:rPr>
              <a:t>Uloz</a:t>
            </a:r>
            <a:r>
              <a:rPr sz="1600"/>
              <a:t> počítá cenu i zapisuje do souboru – navrhuji rozdělit na dvě</a:t>
            </a:r>
          </a:p>
          <a:p>
            <a:pPr>
              <a:lnSpc>
                <a:spcPct val="110000"/>
              </a:lnSpc>
            </a:pPr>
            <a:r>
              <a:rPr sz="1600"/>
              <a:t>Při prázdném seznamu spadne </a:t>
            </a:r>
            <a:r>
              <a:rPr sz="1600">
                <a:latin typeface="Consolas"/>
              </a:rPr>
              <a:t>[0]</a:t>
            </a:r>
            <a:r>
              <a:rPr sz="1600"/>
              <a:t> – chybí kontrola</a:t>
            </a:r>
          </a:p>
          <a:p>
            <a:pPr>
              <a:lnSpc>
                <a:spcPct val="110000"/>
              </a:lnSpc>
            </a:pPr>
            <a:r>
              <a:rPr sz="1600"/>
              <a:t>Hodnota 0.85 se opakuje třikrát – zavedl bych konstantu</a:t>
            </a:r>
          </a:p>
          <a:p>
            <a:pPr>
              <a:lnSpc>
                <a:spcPct val="110000"/>
              </a:lnSpc>
            </a:pPr>
            <a:r>
              <a:rPr sz="1600"/>
              <a:t>Pěkné použití </a:t>
            </a:r>
            <a:r>
              <a:rPr sz="1600">
                <a:latin typeface="Consolas"/>
              </a:rPr>
              <a:t>TryParse</a:t>
            </a:r>
            <a:r>
              <a:rPr sz="1600"/>
              <a:t>, vstup je ošetřený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review výstupu z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914400" y="2650000"/>
            <a:ext cx="4700000" cy="35500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sz="1600"/>
              <a:t>Rozumím </a:t>
            </a:r>
            <a:r>
              <a:rPr b="1" sz="1600"/>
              <a:t>každému řádku</a:t>
            </a:r>
            <a:r>
              <a:rPr sz="1600"/>
              <a:t>? Umím ho obhájit?</a:t>
            </a:r>
          </a:p>
          <a:p>
            <a:pPr>
              <a:lnSpc>
                <a:spcPct val="110000"/>
              </a:lnSpc>
            </a:pPr>
            <a:r>
              <a:rPr sz="1600"/>
              <a:t>Řeší kód </a:t>
            </a:r>
            <a:r>
              <a:rPr b="1" sz="1600"/>
              <a:t>moje zadání</a:t>
            </a:r>
            <a:r>
              <a:rPr sz="1600"/>
              <a:t>, nebo podobné?</a:t>
            </a:r>
          </a:p>
          <a:p>
            <a:pPr>
              <a:lnSpc>
                <a:spcPct val="110000"/>
              </a:lnSpc>
            </a:pPr>
            <a:r>
              <a:rPr sz="1600"/>
              <a:t>Existují použité metody? (halucinace API)</a:t>
            </a:r>
          </a:p>
          <a:p>
            <a:pPr>
              <a:lnSpc>
                <a:spcPct val="110000"/>
              </a:lnSpc>
            </a:pPr>
            <a:r>
              <a:rPr sz="1600"/>
              <a:t>Ošetřuje okrajové případy?</a:t>
            </a:r>
          </a:p>
          <a:p>
            <a:pPr>
              <a:lnSpc>
                <a:spcPct val="110000"/>
              </a:lnSpc>
            </a:pPr>
            <a:r>
              <a:rPr sz="1600"/>
              <a:t>Není řešení zbytečně složité?</a:t>
            </a:r>
          </a:p>
          <a:p>
            <a:pPr>
              <a:lnSpc>
                <a:spcPct val="110000"/>
              </a:lnSpc>
            </a:pPr>
            <a:r>
              <a:rPr sz="1600"/>
              <a:t>Odpovídá stylu a konvencím projektu?</a:t>
            </a:r>
          </a:p>
          <a:p>
            <a:pPr>
              <a:lnSpc>
                <a:spcPct val="110000"/>
              </a:lnSpc>
            </a:pPr>
            <a:r>
              <a:rPr sz="1600"/>
              <a:t>Použití AI zdokumentujte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15" name="Kód"/>
          <p:cNvSpPr/>
          <p:nvPr/>
        </p:nvSpPr>
        <p:spPr>
          <a:xfrm>
            <a:off x="5800000" y="2650000"/>
            <a:ext cx="5477600" cy="3550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164592" bIns="164592"/>
          <a:lstStyle/>
          <a:p>
            <a:pPr algn="l"/>
            <a:r>
              <a:rPr sz="1500">
                <a:solidFill>
                  <a:srgbClr val="008000"/>
                </a:solidFill>
                <a:latin typeface="Consolas"/>
              </a:rPr>
              <a:t>// AI: "odstraní neaktivní uživatele"</a:t>
            </a:r>
          </a:p>
          <a:p>
            <a:pPr algn="l"/>
            <a:r>
              <a:rPr sz="1500">
                <a:solidFill>
                  <a:srgbClr val="0000FF"/>
                </a:solidFill>
                <a:latin typeface="Consolas"/>
              </a:rPr>
              <a:t>public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0000FF"/>
                </a:solidFill>
                <a:latin typeface="Consolas"/>
              </a:rPr>
              <a:t>void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74531F"/>
                </a:solidFill>
                <a:latin typeface="Consolas"/>
              </a:rPr>
              <a:t>Vycisti</a:t>
            </a:r>
            <a:r>
              <a:rPr sz="1500">
                <a:solidFill>
                  <a:srgbClr val="1E1E1E"/>
                </a:solidFill>
                <a:latin typeface="Consolas"/>
              </a:rPr>
              <a:t>(</a:t>
            </a:r>
            <a:r>
              <a:rPr sz="1500">
                <a:solidFill>
                  <a:srgbClr val="2B91AF"/>
                </a:solidFill>
                <a:latin typeface="Consolas"/>
              </a:rPr>
              <a:t>List</a:t>
            </a:r>
            <a:r>
              <a:rPr sz="1500">
                <a:solidFill>
                  <a:srgbClr val="1E1E1E"/>
                </a:solidFill>
                <a:latin typeface="Consolas"/>
              </a:rPr>
              <a:t>&lt;</a:t>
            </a:r>
            <a:r>
              <a:rPr sz="1500">
                <a:solidFill>
                  <a:srgbClr val="2B91AF"/>
                </a:solidFill>
                <a:latin typeface="Consolas"/>
              </a:rPr>
              <a:t>Uzivatel</a:t>
            </a:r>
            <a:r>
              <a:rPr sz="1500">
                <a:solidFill>
                  <a:srgbClr val="1E1E1E"/>
                </a:solidFill>
                <a:latin typeface="Consolas"/>
              </a:rPr>
              <a:t>&gt;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uzivatele</a:t>
            </a:r>
            <a:r>
              <a:rPr sz="150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500">
                <a:solidFill>
                  <a:srgbClr val="1E1E1E"/>
                </a:solidFill>
                <a:latin typeface="Consolas"/>
              </a:rPr>
              <a:t>{</a:t>
            </a:r>
          </a:p>
          <a:p>
            <a:pPr algn="l"/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uzivatele</a:t>
            </a:r>
            <a:r>
              <a:rPr sz="1500">
                <a:solidFill>
                  <a:srgbClr val="1E1E1E"/>
                </a:solidFill>
                <a:latin typeface="Consolas"/>
              </a:rPr>
              <a:t>.</a:t>
            </a:r>
            <a:r>
              <a:rPr sz="1500">
                <a:solidFill>
                  <a:srgbClr val="74531F"/>
                </a:solidFill>
                <a:latin typeface="Consolas"/>
              </a:rPr>
              <a:t>RemoveWhere</a:t>
            </a:r>
            <a:r>
              <a:rPr sz="1500">
                <a:solidFill>
                  <a:srgbClr val="1E1E1E"/>
                </a:solidFill>
                <a:latin typeface="Consolas"/>
              </a:rPr>
              <a:t>(</a:t>
            </a:r>
            <a:r>
              <a:rPr sz="1500">
                <a:solidFill>
                  <a:srgbClr val="1E1E1E"/>
                </a:solidFill>
                <a:latin typeface="Consolas"/>
              </a:rPr>
              <a:t>u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=</a:t>
            </a:r>
            <a:r>
              <a:rPr sz="1500">
                <a:solidFill>
                  <a:srgbClr val="1E1E1E"/>
                </a:solidFill>
                <a:latin typeface="Consolas"/>
              </a:rPr>
              <a:t>&gt;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!</a:t>
            </a:r>
            <a:r>
              <a:rPr sz="1500">
                <a:solidFill>
                  <a:srgbClr val="1E1E1E"/>
                </a:solidFill>
                <a:latin typeface="Consolas"/>
              </a:rPr>
              <a:t>u</a:t>
            </a:r>
            <a:r>
              <a:rPr sz="1500">
                <a:solidFill>
                  <a:srgbClr val="1E1E1E"/>
                </a:solidFill>
                <a:latin typeface="Consolas"/>
              </a:rPr>
              <a:t>.</a:t>
            </a:r>
            <a:r>
              <a:rPr sz="1500">
                <a:solidFill>
                  <a:srgbClr val="1E1E1E"/>
                </a:solidFill>
                <a:latin typeface="Consolas"/>
              </a:rPr>
              <a:t>Aktivni</a:t>
            </a:r>
            <a:r>
              <a:rPr sz="1500">
                <a:solidFill>
                  <a:srgbClr val="1E1E1E"/>
                </a:solidFill>
                <a:latin typeface="Consolas"/>
              </a:rPr>
              <a:t>)</a:t>
            </a:r>
            <a:r>
              <a:rPr sz="15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</a:p>
          <a:p>
            <a:pPr algn="l"/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0000FF"/>
                </a:solidFill>
                <a:latin typeface="Consolas"/>
              </a:rPr>
              <a:t>foreach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(</a:t>
            </a:r>
            <a:r>
              <a:rPr sz="1500">
                <a:solidFill>
                  <a:srgbClr val="0000FF"/>
                </a:solidFill>
                <a:latin typeface="Consolas"/>
              </a:rPr>
              <a:t>var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u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0000FF"/>
                </a:solidFill>
                <a:latin typeface="Consolas"/>
              </a:rPr>
              <a:t>in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uzivatele</a:t>
            </a:r>
            <a:r>
              <a:rPr sz="150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0000FF"/>
                </a:solidFill>
                <a:latin typeface="Consolas"/>
              </a:rPr>
              <a:t>if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(</a:t>
            </a:r>
            <a:r>
              <a:rPr sz="1500">
                <a:solidFill>
                  <a:srgbClr val="1E1E1E"/>
                </a:solidFill>
                <a:latin typeface="Consolas"/>
              </a:rPr>
              <a:t>u</a:t>
            </a:r>
            <a:r>
              <a:rPr sz="1500">
                <a:solidFill>
                  <a:srgbClr val="1E1E1E"/>
                </a:solidFill>
                <a:latin typeface="Consolas"/>
              </a:rPr>
              <a:t>.</a:t>
            </a:r>
            <a:r>
              <a:rPr sz="1500">
                <a:solidFill>
                  <a:srgbClr val="1E1E1E"/>
                </a:solidFill>
                <a:latin typeface="Consolas"/>
              </a:rPr>
              <a:t>PosledniPrihlaseni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&lt;</a:t>
            </a:r>
          </a:p>
          <a:p>
            <a:pPr algn="l"/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2B91AF"/>
                </a:solidFill>
                <a:latin typeface="Consolas"/>
              </a:rPr>
              <a:t>DateTime</a:t>
            </a:r>
            <a:r>
              <a:rPr sz="1500">
                <a:solidFill>
                  <a:srgbClr val="1E1E1E"/>
                </a:solidFill>
                <a:latin typeface="Consolas"/>
              </a:rPr>
              <a:t>.</a:t>
            </a:r>
            <a:r>
              <a:rPr sz="1500">
                <a:solidFill>
                  <a:srgbClr val="1E1E1E"/>
                </a:solidFill>
                <a:latin typeface="Consolas"/>
              </a:rPr>
              <a:t>Now</a:t>
            </a:r>
            <a:r>
              <a:rPr sz="1500">
                <a:solidFill>
                  <a:srgbClr val="1E1E1E"/>
                </a:solidFill>
                <a:latin typeface="Consolas"/>
              </a:rPr>
              <a:t>.</a:t>
            </a:r>
            <a:r>
              <a:rPr sz="1500">
                <a:solidFill>
                  <a:srgbClr val="74531F"/>
                </a:solidFill>
                <a:latin typeface="Consolas"/>
              </a:rPr>
              <a:t>AddYears</a:t>
            </a:r>
            <a:r>
              <a:rPr sz="1500">
                <a:solidFill>
                  <a:srgbClr val="1E1E1E"/>
                </a:solidFill>
                <a:latin typeface="Consolas"/>
              </a:rPr>
              <a:t>(</a:t>
            </a:r>
            <a:r>
              <a:rPr sz="1500">
                <a:solidFill>
                  <a:srgbClr val="1E1E1E"/>
                </a:solidFill>
                <a:latin typeface="Consolas"/>
              </a:rPr>
              <a:t>-</a:t>
            </a:r>
            <a:r>
              <a:rPr sz="1500">
                <a:solidFill>
                  <a:srgbClr val="1E1E1E"/>
                </a:solidFill>
                <a:latin typeface="Consolas"/>
              </a:rPr>
              <a:t>1</a:t>
            </a:r>
            <a:r>
              <a:rPr sz="1500">
                <a:solidFill>
                  <a:srgbClr val="1E1E1E"/>
                </a:solidFill>
                <a:latin typeface="Consolas"/>
              </a:rPr>
              <a:t>)</a:t>
            </a:r>
            <a:r>
              <a:rPr sz="150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uzivatele</a:t>
            </a:r>
            <a:r>
              <a:rPr sz="1500">
                <a:solidFill>
                  <a:srgbClr val="1E1E1E"/>
                </a:solidFill>
                <a:latin typeface="Consolas"/>
              </a:rPr>
              <a:t>.</a:t>
            </a:r>
            <a:r>
              <a:rPr sz="1500">
                <a:solidFill>
                  <a:srgbClr val="74531F"/>
                </a:solidFill>
                <a:latin typeface="Consolas"/>
              </a:rPr>
              <a:t>Remove</a:t>
            </a:r>
            <a:r>
              <a:rPr sz="1500">
                <a:solidFill>
                  <a:srgbClr val="1E1E1E"/>
                </a:solidFill>
                <a:latin typeface="Consolas"/>
              </a:rPr>
              <a:t>(</a:t>
            </a:r>
            <a:r>
              <a:rPr sz="1500">
                <a:solidFill>
                  <a:srgbClr val="1E1E1E"/>
                </a:solidFill>
                <a:latin typeface="Consolas"/>
              </a:rPr>
              <a:t>u</a:t>
            </a:r>
            <a:r>
              <a:rPr sz="1500">
                <a:solidFill>
                  <a:srgbClr val="1E1E1E"/>
                </a:solidFill>
                <a:latin typeface="Consolas"/>
              </a:rPr>
              <a:t>)</a:t>
            </a:r>
            <a:r>
              <a:rPr sz="15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500">
                <a:solidFill>
                  <a:srgbClr val="1E1E1E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Procvičování – refaktoring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914400" y="2650000"/>
            <a:ext cx="4700000" cy="35500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sz="1600"/>
              <a:t>Kód funguje – vylepšete ho</a:t>
            </a:r>
          </a:p>
          <a:p>
            <a:pPr>
              <a:lnSpc>
                <a:spcPct val="110000"/>
              </a:lnSpc>
            </a:pPr>
            <a:r>
              <a:rPr sz="1600"/>
              <a:t>Zachovejte stejné chování</a:t>
            </a:r>
          </a:p>
          <a:p>
            <a:pPr>
              <a:lnSpc>
                <a:spcPct val="110000"/>
              </a:lnSpc>
            </a:pPr>
            <a:r>
              <a:rPr sz="1600"/>
              <a:t>Využijte:</a:t>
            </a:r>
          </a:p>
          <a:p>
            <a:pPr lvl="1">
              <a:lnSpc>
                <a:spcPct val="110000"/>
              </a:lnSpc>
            </a:pPr>
            <a:r>
              <a:rPr sz="1500"/>
              <a:t>přejmenování</a:t>
            </a:r>
          </a:p>
          <a:p>
            <a:pPr lvl="1">
              <a:lnSpc>
                <a:spcPct val="110000"/>
              </a:lnSpc>
            </a:pPr>
            <a:r>
              <a:rPr sz="1500"/>
              <a:t>extrakci metod</a:t>
            </a:r>
          </a:p>
          <a:p>
            <a:pPr lvl="1">
              <a:lnSpc>
                <a:spcPct val="110000"/>
              </a:lnSpc>
            </a:pPr>
            <a:r>
              <a:rPr sz="1500"/>
              <a:t>konstanty</a:t>
            </a:r>
          </a:p>
          <a:p>
            <a:pPr lvl="1">
              <a:lnSpc>
                <a:spcPct val="110000"/>
              </a:lnSpc>
            </a:pPr>
            <a:r>
              <a:rPr sz="1500"/>
              <a:t>předčasný návrat</a:t>
            </a:r>
          </a:p>
          <a:p>
            <a:pPr>
              <a:lnSpc>
                <a:spcPct val="110000"/>
              </a:lnSpc>
            </a:pPr>
            <a:r>
              <a:rPr sz="1600"/>
              <a:t>Zdůvodněte každou změnu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15" name="Kód"/>
          <p:cNvSpPr/>
          <p:nvPr/>
        </p:nvSpPr>
        <p:spPr>
          <a:xfrm>
            <a:off x="5800000" y="2650000"/>
            <a:ext cx="5477600" cy="3550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164592" bIns="164592"/>
          <a:lstStyle/>
          <a:p>
            <a:pPr algn="l"/>
            <a:r>
              <a:rPr sz="1350">
                <a:solidFill>
                  <a:srgbClr val="0000FF"/>
                </a:solidFill>
                <a:latin typeface="Consolas"/>
              </a:rPr>
              <a:t>static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0000FF"/>
                </a:solidFill>
                <a:latin typeface="Consolas"/>
              </a:rPr>
              <a:t>void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74531F"/>
                </a:solidFill>
                <a:latin typeface="Consolas"/>
              </a:rPr>
              <a:t>P</a:t>
            </a:r>
            <a:r>
              <a:rPr sz="1350">
                <a:solidFill>
                  <a:srgbClr val="1E1E1E"/>
                </a:solidFill>
                <a:latin typeface="Consolas"/>
              </a:rPr>
              <a:t>(</a:t>
            </a:r>
            <a:r>
              <a:rPr sz="1350">
                <a:solidFill>
                  <a:srgbClr val="0000FF"/>
                </a:solidFill>
                <a:latin typeface="Consolas"/>
              </a:rPr>
              <a:t>string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s</a:t>
            </a:r>
            <a:r>
              <a:rPr sz="135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350">
                <a:solidFill>
                  <a:srgbClr val="1E1E1E"/>
                </a:solidFill>
                <a:latin typeface="Consolas"/>
              </a:rPr>
              <a:t>{</a:t>
            </a:r>
          </a:p>
          <a:p>
            <a:pPr algn="l"/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0000FF"/>
                </a:solidFill>
                <a:latin typeface="Consolas"/>
              </a:rPr>
              <a:t>if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(</a:t>
            </a:r>
            <a:r>
              <a:rPr sz="1350">
                <a:solidFill>
                  <a:srgbClr val="1E1E1E"/>
                </a:solidFill>
                <a:latin typeface="Consolas"/>
              </a:rPr>
              <a:t>s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!</a:t>
            </a:r>
            <a:r>
              <a:rPr sz="1350">
                <a:solidFill>
                  <a:srgbClr val="1E1E1E"/>
                </a:solidFill>
                <a:latin typeface="Consolas"/>
              </a:rPr>
              <a:t>=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A31515"/>
                </a:solidFill>
                <a:latin typeface="Consolas"/>
              </a:rPr>
              <a:t>""</a:t>
            </a:r>
            <a:r>
              <a:rPr sz="135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{</a:t>
            </a:r>
          </a:p>
          <a:p>
            <a:pPr algn="l"/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0000FF"/>
                </a:solidFill>
                <a:latin typeface="Consolas"/>
              </a:rPr>
              <a:t>var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a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=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s</a:t>
            </a:r>
            <a:r>
              <a:rPr sz="1350">
                <a:solidFill>
                  <a:srgbClr val="1E1E1E"/>
                </a:solidFill>
                <a:latin typeface="Consolas"/>
              </a:rPr>
              <a:t>.</a:t>
            </a:r>
            <a:r>
              <a:rPr sz="1350">
                <a:solidFill>
                  <a:srgbClr val="74531F"/>
                </a:solidFill>
                <a:latin typeface="Consolas"/>
              </a:rPr>
              <a:t>Split</a:t>
            </a:r>
            <a:r>
              <a:rPr sz="1350">
                <a:solidFill>
                  <a:srgbClr val="1E1E1E"/>
                </a:solidFill>
                <a:latin typeface="Consolas"/>
              </a:rPr>
              <a:t>(</a:t>
            </a:r>
            <a:r>
              <a:rPr sz="1350">
                <a:solidFill>
                  <a:srgbClr val="A31515"/>
                </a:solidFill>
                <a:latin typeface="Consolas"/>
              </a:rPr>
              <a:t>';'</a:t>
            </a:r>
            <a:r>
              <a:rPr sz="1350">
                <a:solidFill>
                  <a:srgbClr val="1E1E1E"/>
                </a:solidFill>
                <a:latin typeface="Consolas"/>
              </a:rPr>
              <a:t>)</a:t>
            </a:r>
            <a:r>
              <a:rPr sz="135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0000FF"/>
                </a:solidFill>
                <a:latin typeface="Consolas"/>
              </a:rPr>
              <a:t>if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(</a:t>
            </a:r>
            <a:r>
              <a:rPr sz="1350">
                <a:solidFill>
                  <a:srgbClr val="1E1E1E"/>
                </a:solidFill>
                <a:latin typeface="Consolas"/>
              </a:rPr>
              <a:t>a</a:t>
            </a:r>
            <a:r>
              <a:rPr sz="1350">
                <a:solidFill>
                  <a:srgbClr val="1E1E1E"/>
                </a:solidFill>
                <a:latin typeface="Consolas"/>
              </a:rPr>
              <a:t>.</a:t>
            </a:r>
            <a:r>
              <a:rPr sz="1350">
                <a:solidFill>
                  <a:srgbClr val="1E1E1E"/>
                </a:solidFill>
                <a:latin typeface="Consolas"/>
              </a:rPr>
              <a:t>Length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=</a:t>
            </a:r>
            <a:r>
              <a:rPr sz="1350">
                <a:solidFill>
                  <a:srgbClr val="1E1E1E"/>
                </a:solidFill>
                <a:latin typeface="Consolas"/>
              </a:rPr>
              <a:t>=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3</a:t>
            </a:r>
            <a:r>
              <a:rPr sz="135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{</a:t>
            </a:r>
          </a:p>
          <a:p>
            <a:pPr algn="l"/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0000FF"/>
                </a:solidFill>
                <a:latin typeface="Consolas"/>
              </a:rPr>
              <a:t>var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b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=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0000FF"/>
                </a:solidFill>
                <a:latin typeface="Consolas"/>
              </a:rPr>
              <a:t>double</a:t>
            </a:r>
            <a:r>
              <a:rPr sz="1350">
                <a:solidFill>
                  <a:srgbClr val="1E1E1E"/>
                </a:solidFill>
                <a:latin typeface="Consolas"/>
              </a:rPr>
              <a:t>.</a:t>
            </a:r>
            <a:r>
              <a:rPr sz="1350">
                <a:solidFill>
                  <a:srgbClr val="74531F"/>
                </a:solidFill>
                <a:latin typeface="Consolas"/>
              </a:rPr>
              <a:t>Parse</a:t>
            </a:r>
            <a:r>
              <a:rPr sz="1350">
                <a:solidFill>
                  <a:srgbClr val="1E1E1E"/>
                </a:solidFill>
                <a:latin typeface="Consolas"/>
              </a:rPr>
              <a:t>(</a:t>
            </a:r>
            <a:r>
              <a:rPr sz="1350">
                <a:solidFill>
                  <a:srgbClr val="1E1E1E"/>
                </a:solidFill>
                <a:latin typeface="Consolas"/>
              </a:rPr>
              <a:t>a</a:t>
            </a:r>
            <a:r>
              <a:rPr sz="1350">
                <a:solidFill>
                  <a:srgbClr val="1E1E1E"/>
                </a:solidFill>
                <a:latin typeface="Consolas"/>
              </a:rPr>
              <a:t>[</a:t>
            </a:r>
            <a:r>
              <a:rPr sz="1350">
                <a:solidFill>
                  <a:srgbClr val="1E1E1E"/>
                </a:solidFill>
                <a:latin typeface="Consolas"/>
              </a:rPr>
              <a:t>1</a:t>
            </a:r>
            <a:r>
              <a:rPr sz="1350">
                <a:solidFill>
                  <a:srgbClr val="1E1E1E"/>
                </a:solidFill>
                <a:latin typeface="Consolas"/>
              </a:rPr>
              <a:t>]</a:t>
            </a:r>
            <a:r>
              <a:rPr sz="1350">
                <a:solidFill>
                  <a:srgbClr val="1E1E1E"/>
                </a:solidFill>
                <a:latin typeface="Consolas"/>
              </a:rPr>
              <a:t>)</a:t>
            </a:r>
            <a:r>
              <a:rPr sz="135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0000FF"/>
                </a:solidFill>
                <a:latin typeface="Consolas"/>
              </a:rPr>
              <a:t>var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c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=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0000FF"/>
                </a:solidFill>
                <a:latin typeface="Consolas"/>
              </a:rPr>
              <a:t>double</a:t>
            </a:r>
            <a:r>
              <a:rPr sz="1350">
                <a:solidFill>
                  <a:srgbClr val="1E1E1E"/>
                </a:solidFill>
                <a:latin typeface="Consolas"/>
              </a:rPr>
              <a:t>.</a:t>
            </a:r>
            <a:r>
              <a:rPr sz="1350">
                <a:solidFill>
                  <a:srgbClr val="74531F"/>
                </a:solidFill>
                <a:latin typeface="Consolas"/>
              </a:rPr>
              <a:t>Parse</a:t>
            </a:r>
            <a:r>
              <a:rPr sz="1350">
                <a:solidFill>
                  <a:srgbClr val="1E1E1E"/>
                </a:solidFill>
                <a:latin typeface="Consolas"/>
              </a:rPr>
              <a:t>(</a:t>
            </a:r>
            <a:r>
              <a:rPr sz="1350">
                <a:solidFill>
                  <a:srgbClr val="1E1E1E"/>
                </a:solidFill>
                <a:latin typeface="Consolas"/>
              </a:rPr>
              <a:t>a</a:t>
            </a:r>
            <a:r>
              <a:rPr sz="1350">
                <a:solidFill>
                  <a:srgbClr val="1E1E1E"/>
                </a:solidFill>
                <a:latin typeface="Consolas"/>
              </a:rPr>
              <a:t>[</a:t>
            </a:r>
            <a:r>
              <a:rPr sz="1350">
                <a:solidFill>
                  <a:srgbClr val="1E1E1E"/>
                </a:solidFill>
                <a:latin typeface="Consolas"/>
              </a:rPr>
              <a:t>2</a:t>
            </a:r>
            <a:r>
              <a:rPr sz="1350">
                <a:solidFill>
                  <a:srgbClr val="1E1E1E"/>
                </a:solidFill>
                <a:latin typeface="Consolas"/>
              </a:rPr>
              <a:t>]</a:t>
            </a:r>
            <a:r>
              <a:rPr sz="1350">
                <a:solidFill>
                  <a:srgbClr val="1E1E1E"/>
                </a:solidFill>
                <a:latin typeface="Consolas"/>
              </a:rPr>
              <a:t>)</a:t>
            </a:r>
            <a:r>
              <a:rPr sz="135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0000FF"/>
                </a:solidFill>
                <a:latin typeface="Consolas"/>
              </a:rPr>
              <a:t>if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(</a:t>
            </a:r>
            <a:r>
              <a:rPr sz="1350">
                <a:solidFill>
                  <a:srgbClr val="1E1E1E"/>
                </a:solidFill>
                <a:latin typeface="Consolas"/>
              </a:rPr>
              <a:t>b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*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c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&gt;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1</a:t>
            </a:r>
            <a:r>
              <a:rPr sz="1350">
                <a:solidFill>
                  <a:srgbClr val="1E1E1E"/>
                </a:solidFill>
                <a:latin typeface="Consolas"/>
              </a:rPr>
              <a:t>0</a:t>
            </a:r>
            <a:r>
              <a:rPr sz="1350">
                <a:solidFill>
                  <a:srgbClr val="1E1E1E"/>
                </a:solidFill>
                <a:latin typeface="Consolas"/>
              </a:rPr>
              <a:t>0</a:t>
            </a:r>
            <a:r>
              <a:rPr sz="1350">
                <a:solidFill>
                  <a:srgbClr val="1E1E1E"/>
                </a:solidFill>
                <a:latin typeface="Consolas"/>
              </a:rPr>
              <a:t>0</a:t>
            </a:r>
            <a:r>
              <a:rPr sz="135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74531F"/>
                </a:solidFill>
                <a:latin typeface="Consolas"/>
              </a:rPr>
              <a:t>Vypis</a:t>
            </a:r>
            <a:r>
              <a:rPr sz="1350">
                <a:solidFill>
                  <a:srgbClr val="1E1E1E"/>
                </a:solidFill>
                <a:latin typeface="Consolas"/>
              </a:rPr>
              <a:t>(</a:t>
            </a:r>
            <a:r>
              <a:rPr sz="1350">
                <a:solidFill>
                  <a:srgbClr val="1E1E1E"/>
                </a:solidFill>
                <a:latin typeface="Consolas"/>
              </a:rPr>
              <a:t>a</a:t>
            </a:r>
            <a:r>
              <a:rPr sz="1350">
                <a:solidFill>
                  <a:srgbClr val="1E1E1E"/>
                </a:solidFill>
                <a:latin typeface="Consolas"/>
              </a:rPr>
              <a:t>[</a:t>
            </a:r>
            <a:r>
              <a:rPr sz="1350">
                <a:solidFill>
                  <a:srgbClr val="1E1E1E"/>
                </a:solidFill>
                <a:latin typeface="Consolas"/>
              </a:rPr>
              <a:t>0</a:t>
            </a:r>
            <a:r>
              <a:rPr sz="1350">
                <a:solidFill>
                  <a:srgbClr val="1E1E1E"/>
                </a:solidFill>
                <a:latin typeface="Consolas"/>
              </a:rPr>
              <a:t>]</a:t>
            </a:r>
            <a:r>
              <a:rPr sz="1350">
                <a:solidFill>
                  <a:srgbClr val="1E1E1E"/>
                </a:solidFill>
                <a:latin typeface="Consolas"/>
              </a:rPr>
              <a:t>,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b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*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c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*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0</a:t>
            </a:r>
            <a:r>
              <a:rPr sz="1350">
                <a:solidFill>
                  <a:srgbClr val="1E1E1E"/>
                </a:solidFill>
                <a:latin typeface="Consolas"/>
              </a:rPr>
              <a:t>.</a:t>
            </a:r>
            <a:r>
              <a:rPr sz="1350">
                <a:solidFill>
                  <a:srgbClr val="1E1E1E"/>
                </a:solidFill>
                <a:latin typeface="Consolas"/>
              </a:rPr>
              <a:t>9</a:t>
            </a:r>
            <a:r>
              <a:rPr sz="1350">
                <a:solidFill>
                  <a:srgbClr val="1E1E1E"/>
                </a:solidFill>
                <a:latin typeface="Consolas"/>
              </a:rPr>
              <a:t>)</a:t>
            </a:r>
            <a:r>
              <a:rPr sz="135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0000FF"/>
                </a:solidFill>
                <a:latin typeface="Consolas"/>
              </a:rPr>
              <a:t>else</a:t>
            </a:r>
          </a:p>
          <a:p>
            <a:pPr algn="l"/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74531F"/>
                </a:solidFill>
                <a:latin typeface="Consolas"/>
              </a:rPr>
              <a:t>Vypis</a:t>
            </a:r>
            <a:r>
              <a:rPr sz="1350">
                <a:solidFill>
                  <a:srgbClr val="1E1E1E"/>
                </a:solidFill>
                <a:latin typeface="Consolas"/>
              </a:rPr>
              <a:t>(</a:t>
            </a:r>
            <a:r>
              <a:rPr sz="1350">
                <a:solidFill>
                  <a:srgbClr val="1E1E1E"/>
                </a:solidFill>
                <a:latin typeface="Consolas"/>
              </a:rPr>
              <a:t>a</a:t>
            </a:r>
            <a:r>
              <a:rPr sz="1350">
                <a:solidFill>
                  <a:srgbClr val="1E1E1E"/>
                </a:solidFill>
                <a:latin typeface="Consolas"/>
              </a:rPr>
              <a:t>[</a:t>
            </a:r>
            <a:r>
              <a:rPr sz="1350">
                <a:solidFill>
                  <a:srgbClr val="1E1E1E"/>
                </a:solidFill>
                <a:latin typeface="Consolas"/>
              </a:rPr>
              <a:t>0</a:t>
            </a:r>
            <a:r>
              <a:rPr sz="1350">
                <a:solidFill>
                  <a:srgbClr val="1E1E1E"/>
                </a:solidFill>
                <a:latin typeface="Consolas"/>
              </a:rPr>
              <a:t>]</a:t>
            </a:r>
            <a:r>
              <a:rPr sz="1350">
                <a:solidFill>
                  <a:srgbClr val="1E1E1E"/>
                </a:solidFill>
                <a:latin typeface="Consolas"/>
              </a:rPr>
              <a:t>,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b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*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c</a:t>
            </a:r>
            <a:r>
              <a:rPr sz="1350">
                <a:solidFill>
                  <a:srgbClr val="1E1E1E"/>
                </a:solidFill>
                <a:latin typeface="Consolas"/>
              </a:rPr>
              <a:t>)</a:t>
            </a:r>
            <a:r>
              <a:rPr sz="135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}</a:t>
            </a:r>
          </a:p>
          <a:p>
            <a:pPr algn="l"/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}</a:t>
            </a:r>
          </a:p>
          <a:p>
            <a:pPr algn="l"/>
            <a:r>
              <a:rPr sz="1350">
                <a:solidFill>
                  <a:srgbClr val="1E1E1E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Praxe – peer review projektu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sz="2000"/>
              <a:t>Ve dvojicích si vyměňte svůj projekt z minulých hodin</a:t>
            </a:r>
          </a:p>
          <a:p>
            <a:pPr lvl="1">
              <a:lnSpc>
                <a:spcPct val="110000"/>
              </a:lnSpc>
              <a:buNone/>
            </a:pPr>
            <a:r>
              <a:rPr sz="1800"/>
              <a:t>každý zrecenzuje kód druhého podle kritérií z této hodiny</a:t>
            </a:r>
          </a:p>
          <a:p>
            <a:pPr>
              <a:lnSpc>
                <a:spcPct val="110000"/>
              </a:lnSpc>
            </a:pPr>
            <a:r>
              <a:rPr sz="2000"/>
              <a:t>Výstup recenze: 3 silné stránky + 3–5 konkrétních návrhů</a:t>
            </a:r>
          </a:p>
          <a:p>
            <a:pPr lvl="1">
              <a:lnSpc>
                <a:spcPct val="110000"/>
              </a:lnSpc>
              <a:buNone/>
            </a:pPr>
            <a:r>
              <a:rPr sz="1800"/>
              <a:t>u každého návrhu: kde, co a proč</a:t>
            </a:r>
          </a:p>
          <a:p>
            <a:pPr>
              <a:lnSpc>
                <a:spcPct val="110000"/>
              </a:lnSpc>
            </a:pPr>
            <a:r>
              <a:rPr sz="2000"/>
              <a:t>Autor vybrané návrhy zapracuje</a:t>
            </a:r>
          </a:p>
          <a:p>
            <a:pPr lvl="1">
              <a:lnSpc>
                <a:spcPct val="110000"/>
              </a:lnSpc>
              <a:buNone/>
            </a:pPr>
            <a:r>
              <a:rPr sz="1800"/>
              <a:t>u odmítnutých napíše, proč je nepřijal</a:t>
            </a:r>
          </a:p>
          <a:p>
            <a:pPr>
              <a:lnSpc>
                <a:spcPct val="110000"/>
              </a:lnSpc>
            </a:pPr>
            <a:r>
              <a:rPr sz="2000"/>
              <a:t>Hodnotí se kvalita recenze i zapracování změn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DashVTI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DashVTI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Dash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E0E31462-65AE-4087-9B94-B3347EE711B2}" vid="{CA8B31CB-369F-4872-A917-A9EAAF918275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551E01F061E674F96D9948F82E90CC0" ma:contentTypeVersion="4" ma:contentTypeDescription="Vytvoří nový dokument" ma:contentTypeScope="" ma:versionID="0ed929cbc1eb582767fc023707286eaf">
  <xsd:schema xmlns:xsd="http://www.w3.org/2001/XMLSchema" xmlns:xs="http://www.w3.org/2001/XMLSchema" xmlns:p="http://schemas.microsoft.com/office/2006/metadata/properties" xmlns:ns2="5f0cc4f6-0c3c-4ea8-92ec-990817b169a4" targetNamespace="http://schemas.microsoft.com/office/2006/metadata/properties" ma:root="true" ma:fieldsID="dc4185c9b68f4bb432064f2de35ca5b8" ns2:_="">
    <xsd:import namespace="5f0cc4f6-0c3c-4ea8-92ec-990817b169a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0cc4f6-0c3c-4ea8-92ec-990817b169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03DA256-BEF3-4703-AFA0-C69E0571B414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A503566E-0711-4326-999B-C5E7A9DBF8E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24F53EF-9926-4E19-812B-E852BC969F57}"/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440</TotalTime>
  <Words>171</Words>
  <Application>Microsoft Office PowerPoint</Application>
  <PresentationFormat>Širokoúhlá obrazovka</PresentationFormat>
  <Paragraphs>31</Paragraphs>
  <Slides>7</Slides>
  <Notes>1</Notes>
  <HiddenSlides>0</HiddenSlides>
  <MMClips>0</MMClips>
  <ScaleCrop>false</ScaleCrop>
  <HeadingPairs>
    <vt:vector size="4" baseType="variant">
      <vt:variant>
        <vt:lpstr>Motiv</vt:lpstr>
      </vt:variant>
      <vt:variant>
        <vt:i4>1</vt:i4>
      </vt:variant>
      <vt:variant>
        <vt:lpstr>Nadpisy snímků</vt:lpstr>
      </vt:variant>
      <vt:variant>
        <vt:i4>7</vt:i4>
      </vt:variant>
    </vt:vector>
  </HeadingPairs>
  <TitlesOfParts>
    <vt:vector size="8" baseType="lpstr">
      <vt:lpstr>DashVTI</vt:lpstr>
      <vt:lpstr>Soubory a složky</vt:lpstr>
      <vt:lpstr>Stream</vt:lpstr>
      <vt:lpstr>StreamReader, StreamWriter</vt:lpstr>
      <vt:lpstr>Příklad čtení a zápisu do textového</vt:lpstr>
      <vt:lpstr>Neexistující soubor pro zápis</vt:lpstr>
      <vt:lpstr>File</vt:lpstr>
      <vt:lpstr>Directory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Programování</dc:title>
  <dc:creator>Sládeček David</dc:creator>
  <cp:lastModifiedBy>Sládeček David</cp:lastModifiedBy>
  <cp:revision>42</cp:revision>
  <dcterms:created xsi:type="dcterms:W3CDTF">2022-09-21T15:44:15Z</dcterms:created>
  <dcterms:modified xsi:type="dcterms:W3CDTF">2026-09-03T05:46:04Z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0x0101001551E01F061E674F96D9948F82E90CC0</vt:lpwstr>
  </property>
  <property fmtid="{D5CDD505-2E9C-101B-9397-08002B2CF9AE}" pid="3" name="Order">
    <vt:r8>5200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</Properties>
</file>