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Klikněte pro přesun snímku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DDBD04A-2430-4F32-86CE-CFC7756F2B95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Chyby k nalezení: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CreateGraphics() v Tick – kreslí se mimo Paint, při překreslení okna obraz zmizí; správně stav + Invalidate() a kreslení v Paint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int x je lokální proměnná – při každém Ticku znovu 0, míček se nepohne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Image.FromFile při každém Ticku – zbytečné čtení souboru a únik paměti; načíst jednou v Load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new Pen bez using/Dispose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Width místo ClientSize – nepočítá s rámečkem okna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chybí DoubleBuffered → blikání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3B91FD-44A9-4778-AC7C-E42A5DEB6207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2F2759-CA3C-43E0-BC94-9EA36F58E4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08C2FF-E4AA-412D-A2C1-6A3601D09F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888542E-E516-4332-A78E-5BB0854E6C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9144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04D363-B4AD-4668-A35D-7A1830AB4A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A63272D-3D88-4AC1-9E44-75F70364F8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914400" y="2849400"/>
            <a:ext cx="2491200" cy="321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3530520" y="2849400"/>
            <a:ext cx="2491200" cy="321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9739012-8CD2-4534-B0C7-F8DEF4157E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3ECA6B6-173E-4730-9739-17C8E2A335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0C67A5E-AC91-4742-A452-7624C6898B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7B24BF1-197B-416E-BCC4-C57D98EB57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57F44FA-EC41-4EAD-98A1-15F2D4B3C3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FF264CB-0670-47DF-B13D-F496678DE5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5935320" cy="269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E0A7EF-D408-4208-88D7-67FC808AABC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9FFEC1-AEED-4314-9717-E3E9ADDB1F3F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98000" y="1401120"/>
            <a:ext cx="2155320" cy="477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401120"/>
            <a:ext cx="8231760" cy="477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1B6DB3-8424-4944-9FE6-CC0225FDDD31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6EE4B6-2CBF-4E3E-AEF4-F739E8AB41B1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2600" y="1709640"/>
            <a:ext cx="921456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912600" y="5018400"/>
            <a:ext cx="7906680" cy="107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E676C1-996F-4C30-A405-E96B56895AC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9144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B4B5B5-10C4-4CAF-9A26-65F28673C0EF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333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912600" y="3006720"/>
            <a:ext cx="5084640" cy="31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333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3006720"/>
            <a:ext cx="5182920" cy="31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0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1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0A4744-C6B2-465E-ADED-4D7201A2B553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2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3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969B2B-3E65-421D-8CF3-784F910E63C1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Klikněte pro úpravu formátu textu osnovy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Druhá úroveň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Třetí úroveň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Čtvrtá úroveň osnovy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Pátá úroveň osnovy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Šestá úroveň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Sedmá úroveň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1ABDE6-07BC-43D8-A14F-4352D378DC4B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912600" y="2934720"/>
            <a:ext cx="3859200" cy="29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E87708-BCAE-49D1-A2E8-FB1CABFC6675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Klikněte pro úpravu formátu textu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Druhá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Třetí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Čtvrtá úroveň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Pátá úroveň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Šestá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Sedmá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912600" y="2934720"/>
            <a:ext cx="3859200" cy="29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D0C70B-A356-4244-B284-727C56B33795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12600" y="1709640"/>
            <a:ext cx="921456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Grandview Display"/>
              </a:rPr>
              <a:t>Grafika a animace</a:t>
            </a:r>
            <a:endParaRPr b="0" lang="en-US" sz="4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12600" y="5018400"/>
            <a:ext cx="7906680" cy="107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Grandview Display"/>
              </a:rPr>
              <a:t>PROGRAMOVÁNÍ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3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F61D32D2-E795-48CA-A889-8AB9253D3C90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3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19519E1D-A289-4FEA-AB9C-9B8F8FA86C72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Grafika ve WinForms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Grafika = rozhraní mezi logikou programu a uživatelem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výpočet → zobrazení → reakce uživatele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Každá komponenta se umí sama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vykreslit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Kreslení zajišťuje objekt třídy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Graphics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 (System.Drawing)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Jako plátno používáme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Form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 nebo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Panel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Kreslíme v obslužné metodě události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Paint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objekt Graphics získáme z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e.Graphics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Souřadnice jsou v pixelech, počátek (0, 0) je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vlevo nahoře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osa y roste směrem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dolů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3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84773225-52E7-4B5E-BC18-E561EBB3322B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sldNum" idx="4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8A371458-6B4A-4C1B-91A7-5A8F2D650AD2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Souřadnicový systém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dt" idx="4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4A356F41-B2BA-4412-BC85-5097768CECE7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4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3B2009D3-5069-4D14-A4BA-83A0E11D8E5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Rectangle 14"/>
          <p:cNvSpPr/>
          <p:nvPr/>
        </p:nvSpPr>
        <p:spPr>
          <a:xfrm>
            <a:off x="914400" y="2599920"/>
            <a:ext cx="5999760" cy="3449520"/>
          </a:xfrm>
          <a:prstGeom prst="rect">
            <a:avLst/>
          </a:prstGeom>
          <a:solidFill>
            <a:srgbClr val="f4f5f8"/>
          </a:solidFill>
          <a:ln w="12700">
            <a:solidFill>
              <a:srgbClr val="b0b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Grandview Display"/>
            </a:endParaRPr>
          </a:p>
        </p:txBody>
      </p:sp>
      <p:cxnSp>
        <p:nvCxnSpPr>
          <p:cNvPr id="95" name="Connector 15"/>
          <p:cNvCxnSpPr/>
          <p:nvPr/>
        </p:nvCxnSpPr>
        <p:spPr>
          <a:xfrm>
            <a:off x="914400" y="2599920"/>
            <a:ext cx="2300040" cy="360"/>
          </a:xfrm>
          <a:prstGeom prst="straightConnector1">
            <a:avLst/>
          </a:prstGeom>
          <a:ln w="28575">
            <a:solidFill>
              <a:srgbClr val="1973eb"/>
            </a:solidFill>
            <a:tailEnd len="med" type="triangle" w="med"/>
          </a:ln>
        </p:spPr>
      </p:cxnSp>
      <p:cxnSp>
        <p:nvCxnSpPr>
          <p:cNvPr id="96" name="Connector 16"/>
          <p:cNvCxnSpPr/>
          <p:nvPr/>
        </p:nvCxnSpPr>
        <p:spPr>
          <a:xfrm>
            <a:off x="914400" y="2599920"/>
            <a:ext cx="360" cy="1900440"/>
          </a:xfrm>
          <a:prstGeom prst="straightConnector1">
            <a:avLst/>
          </a:prstGeom>
          <a:ln w="28575">
            <a:solidFill>
              <a:srgbClr val="1973eb"/>
            </a:solidFill>
            <a:tailEnd len="med" type="triangle" w="med"/>
          </a:ln>
        </p:spPr>
      </p:cxnSp>
      <p:sp>
        <p:nvSpPr>
          <p:cNvPr id="97" name="TextBox 17"/>
          <p:cNvSpPr/>
          <p:nvPr/>
        </p:nvSpPr>
        <p:spPr>
          <a:xfrm>
            <a:off x="3264480" y="2480040"/>
            <a:ext cx="3996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973eb"/>
                </a:solidFill>
                <a:latin typeface="Grandview Display"/>
              </a:rPr>
              <a:t>x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8"/>
          <p:cNvSpPr/>
          <p:nvPr/>
        </p:nvSpPr>
        <p:spPr>
          <a:xfrm>
            <a:off x="984240" y="4500000"/>
            <a:ext cx="3996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973eb"/>
                </a:solidFill>
                <a:latin typeface="Grandview Display"/>
              </a:rPr>
              <a:t>y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9"/>
          <p:cNvSpPr/>
          <p:nvPr/>
        </p:nvSpPr>
        <p:spPr>
          <a:xfrm>
            <a:off x="794520" y="2270160"/>
            <a:ext cx="899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d1c3b"/>
                </a:solidFill>
                <a:latin typeface="Grandview Display"/>
              </a:rPr>
              <a:t>(0, 0)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20"/>
          <p:cNvSpPr/>
          <p:nvPr/>
        </p:nvSpPr>
        <p:spPr>
          <a:xfrm>
            <a:off x="3214440" y="3750120"/>
            <a:ext cx="2499480" cy="1399680"/>
          </a:xfrm>
          <a:prstGeom prst="rect">
            <a:avLst/>
          </a:prstGeom>
          <a:solidFill>
            <a:srgbClr val="25c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Grandview Display"/>
            </a:endParaRPr>
          </a:p>
        </p:txBody>
      </p:sp>
      <p:sp>
        <p:nvSpPr>
          <p:cNvPr id="101" name="Oval 21"/>
          <p:cNvSpPr/>
          <p:nvPr/>
        </p:nvSpPr>
        <p:spPr>
          <a:xfrm>
            <a:off x="3144240" y="3679920"/>
            <a:ext cx="139680" cy="139680"/>
          </a:xfrm>
          <a:prstGeom prst="ellipse">
            <a:avLst/>
          </a:prstGeom>
          <a:solidFill>
            <a:srgbClr val="fe7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Grandview Display"/>
            </a:endParaRPr>
          </a:p>
        </p:txBody>
      </p:sp>
      <p:sp>
        <p:nvSpPr>
          <p:cNvPr id="102" name="TextBox 22"/>
          <p:cNvSpPr/>
          <p:nvPr/>
        </p:nvSpPr>
        <p:spPr>
          <a:xfrm>
            <a:off x="2814480" y="3369960"/>
            <a:ext cx="1599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e733c"/>
                </a:solidFill>
                <a:latin typeface="Grandview Display"/>
              </a:rPr>
              <a:t>kotva (x, y)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23"/>
          <p:cNvSpPr/>
          <p:nvPr/>
        </p:nvSpPr>
        <p:spPr>
          <a:xfrm>
            <a:off x="3214440" y="5209920"/>
            <a:ext cx="2499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dk1"/>
                </a:solidFill>
                <a:latin typeface="Grandview Display"/>
              </a:rPr>
              <a:t>šířka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24"/>
          <p:cNvSpPr/>
          <p:nvPr/>
        </p:nvSpPr>
        <p:spPr>
          <a:xfrm>
            <a:off x="5794560" y="4330080"/>
            <a:ext cx="799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dk1"/>
                </a:solidFill>
                <a:latin typeface="Grandview Display"/>
              </a:rPr>
              <a:t>výška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Kód"/>
          <p:cNvSpPr/>
          <p:nvPr/>
        </p:nvSpPr>
        <p:spPr>
          <a:xfrm>
            <a:off x="7350120" y="2599920"/>
            <a:ext cx="3929760" cy="14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FillRectangle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Brushes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.Teal,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x, y, sirka, vyska);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26"/>
          <p:cNvSpPr/>
          <p:nvPr/>
        </p:nvSpPr>
        <p:spPr>
          <a:xfrm>
            <a:off x="7350120" y="4299840"/>
            <a:ext cx="392976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Kotvou obdélníku i elipsy je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levý horní roh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ohraničujícího obdélníku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Rozměry plátna bez rámečku okna: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ClientSize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Pen a Brush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Pen – obrysy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Brush – výplně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4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B8D9DE27-E4B8-42ED-A956-9E78F8167698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sldNum" idx="4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11EB7BAD-738C-4446-9C33-30CD2FB18215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TextBox 14"/>
          <p:cNvSpPr/>
          <p:nvPr/>
        </p:nvSpPr>
        <p:spPr>
          <a:xfrm>
            <a:off x="912600" y="3080160"/>
            <a:ext cx="5084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Metody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Draw…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čáry a obrysy tvarů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15"/>
          <p:cNvSpPr/>
          <p:nvPr/>
        </p:nvSpPr>
        <p:spPr>
          <a:xfrm>
            <a:off x="6172200" y="3080160"/>
            <a:ext cx="5182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Metody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Fill…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vyplněné plochy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Kód"/>
          <p:cNvSpPr/>
          <p:nvPr/>
        </p:nvSpPr>
        <p:spPr>
          <a:xfrm>
            <a:off x="912600" y="3750120"/>
            <a:ext cx="508464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8000"/>
                </a:solidFill>
                <a:latin typeface="Consolas"/>
              </a:rPr>
              <a:t>// hotové pero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500" spc="-1" strike="noStrike">
                <a:solidFill>
                  <a:srgbClr val="74531f"/>
                </a:solidFill>
                <a:latin typeface="Consolas"/>
              </a:rPr>
              <a:t>DrawLine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Pens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.Black, 10, 10, 200, 100);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8000"/>
                </a:solidFill>
                <a:latin typeface="Consolas"/>
              </a:rPr>
              <a:t>// vlastní pero: barva + tloušťka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00ff"/>
                </a:solidFill>
                <a:latin typeface="Consolas"/>
              </a:rPr>
              <a:t>using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Pen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pero = </a:t>
            </a:r>
            <a:r>
              <a:rPr b="0" lang="en-US" sz="15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Pen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Color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.Blue, 3);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500" spc="-1" strike="noStrike">
                <a:solidFill>
                  <a:srgbClr val="74531f"/>
                </a:solidFill>
                <a:latin typeface="Consolas"/>
              </a:rPr>
              <a:t>DrawEllipse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(pero, 50, 50, 120, 80);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Kód"/>
          <p:cNvSpPr/>
          <p:nvPr/>
        </p:nvSpPr>
        <p:spPr>
          <a:xfrm>
            <a:off x="6172200" y="3750120"/>
            <a:ext cx="518292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hotový štětec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FillRectangle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Brushes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.LightBlue,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            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50, 50, 150, 80);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vlastní štětec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using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SolidBrush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stetec =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SolidBrush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Color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.Gold);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FillEllipse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(stetec, 200, 50, 60, 60);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Kreslicí metody třídy Graphics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dt" idx="4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DE1AD488-8EC6-4E85-8841-0B3A6ED77141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A9196166-4DBF-4F59-9597-BB50E8012736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9" name="Table 14"/>
          <p:cNvGraphicFramePr/>
          <p:nvPr/>
        </p:nvGraphicFramePr>
        <p:xfrm>
          <a:off x="914400" y="2599920"/>
          <a:ext cx="10362960" cy="3218400"/>
        </p:xfrm>
        <a:graphic>
          <a:graphicData uri="http://schemas.openxmlformats.org/drawingml/2006/table">
            <a:tbl>
              <a:tblPr/>
              <a:tblGrid>
                <a:gridCol w="3523320"/>
                <a:gridCol w="2901600"/>
                <a:gridCol w="3937680"/>
              </a:tblGrid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Metoda</a:t>
                      </a:r>
                      <a:endParaRPr b="0" lang="cs-CZ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Co kreslí</a:t>
                      </a:r>
                      <a:endParaRPr b="0" lang="cs-CZ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Parametry</a:t>
                      </a:r>
                      <a:endParaRPr b="0" lang="cs-CZ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DrawLine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čára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pero, x1, y1, x2, y2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DrawRectangle / FillRectangle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obdélník (obrys / výplň)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pero/štětec, x, y, šířka, výška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DrawEllipse / FillEllipse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elipsa, kruh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pero/štětec, x, y, šířka, výška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DrawPolygon / FillPolygon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mnohoúhelník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pero/štětec, pole bodů Point[]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DrawString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text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text, Font, štětec, x, y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DrawImage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obrázek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Image, x, y (nebo Rectangle)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Clear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vyplní celé plátno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barva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Událost Paint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Volá se automaticky – při spuštění, změně velikosti, zakrytí okna…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Grafiku bereme vždy z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e.Graphics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Kreslení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mimo Paint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se při dalším překreslení ztratí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Překreslení vyžádáme metodou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Invalidate()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Pořadí volání = pořadí vrstev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nejdřív výplň, potom obrys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4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CAC80BC9-59F6-4DDE-9160-64A06DCFD10B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4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8DF39789-DD09-4DE9-A676-077D9838807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Form1_Paint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sender,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                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PaintEventArgs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e)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Graphics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g = e.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Graphics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stěny domku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FillRectangle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Brushes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.SandyBrown,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        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100, 150, 200, 150);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DrawRectangle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Pens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.Black,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        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100, 150, 200, 150);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střecha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Point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[] strecha = {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Point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(80, 150),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Point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(200, 60),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Point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(320, 150) };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FillPolygon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Brushes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.Firebrick, strecha);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Text a obrázky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DrawString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text vyžaduje Font a štětec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Font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název písma, velikost, styl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DrawImage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v původní velikosti nebo do Rectangle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Obrázek načtěte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jednou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(Form_Load) do proměnné třídy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ne při každém překreslení v Paint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Pen, Brush i Font jsou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IDisposable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→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using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4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2CD98412-110A-4DD8-AB76-A3145840F69B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sldNum" idx="5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2458CD1F-B343-4857-A818-50839E9AFC9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Image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logo;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Form1_Load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sender,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EventArgs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e)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logo =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Image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FromFile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a31515"/>
                </a:solidFill>
                <a:latin typeface="Consolas"/>
              </a:rPr>
              <a:t>"logo.png"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Form1_Paint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sender,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                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PaintEventArgs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e)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using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Font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f =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Font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a31515"/>
                </a:solidFill>
                <a:latin typeface="Consolas"/>
              </a:rPr>
              <a:t>"Arial"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, 14,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                   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FontStyle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.Bold);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e.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Graphics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DrawString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a31515"/>
                </a:solidFill>
                <a:latin typeface="Consolas"/>
              </a:rPr>
              <a:t>"Skóre: 10"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, f,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                 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Brushes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.DarkBlue, 10, 10);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e.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Graphics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DrawImage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(logo,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Rectangle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(10, 40, 100, 80));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Princip animace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dt" idx="5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C3989A65-1030-4BBB-B15D-5934589C8BAC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5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AEAF5B69-F23B-41DD-B873-33F08C28FBD3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Rounded Rectangle 14"/>
          <p:cNvSpPr/>
          <p:nvPr/>
        </p:nvSpPr>
        <p:spPr>
          <a:xfrm>
            <a:off x="914400" y="2750040"/>
            <a:ext cx="2249640" cy="149976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Grandview Display"/>
              </a:rPr>
              <a:t>Timer.Tick</a:t>
            </a:r>
            <a:endParaRPr b="0" lang="cs-CZ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Grandview Display"/>
              </a:rPr>
              <a:t>uplynul Interval</a:t>
            </a:r>
            <a:endParaRPr b="0" lang="cs-CZ" sz="15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4" name="Connector 15"/>
          <p:cNvCxnSpPr/>
          <p:nvPr/>
        </p:nvCxnSpPr>
        <p:spPr>
          <a:xfrm>
            <a:off x="3234240" y="3499920"/>
            <a:ext cx="315360" cy="360"/>
          </a:xfrm>
          <a:prstGeom prst="straightConnector1">
            <a:avLst/>
          </a:prstGeom>
          <a:ln w="28575">
            <a:solidFill>
              <a:srgbClr val="0d1c3b"/>
            </a:solidFill>
            <a:tailEnd len="med" type="triangle" w="med"/>
          </a:ln>
        </p:spPr>
      </p:cxnSp>
      <p:sp>
        <p:nvSpPr>
          <p:cNvPr id="135" name="Rounded Rectangle 16"/>
          <p:cNvSpPr/>
          <p:nvPr/>
        </p:nvSpPr>
        <p:spPr>
          <a:xfrm>
            <a:off x="3619440" y="2750040"/>
            <a:ext cx="2249640" cy="149976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Grandview Display"/>
              </a:rPr>
              <a:t>Aktualizuj stav</a:t>
            </a:r>
            <a:endParaRPr b="0" lang="cs-CZ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Grandview Display"/>
              </a:rPr>
              <a:t>pozice, rychlost, barva</a:t>
            </a:r>
            <a:endParaRPr b="0" lang="cs-CZ" sz="15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6" name="Connector 17"/>
          <p:cNvCxnSpPr/>
          <p:nvPr/>
        </p:nvCxnSpPr>
        <p:spPr>
          <a:xfrm>
            <a:off x="5939280" y="3499920"/>
            <a:ext cx="315360" cy="360"/>
          </a:xfrm>
          <a:prstGeom prst="straightConnector1">
            <a:avLst/>
          </a:prstGeom>
          <a:ln w="28575">
            <a:solidFill>
              <a:srgbClr val="0d1c3b"/>
            </a:solidFill>
            <a:tailEnd len="med" type="triangle" w="med"/>
          </a:ln>
        </p:spPr>
      </p:cxnSp>
      <p:sp>
        <p:nvSpPr>
          <p:cNvPr id="137" name="Rounded Rectangle 18"/>
          <p:cNvSpPr/>
          <p:nvPr/>
        </p:nvSpPr>
        <p:spPr>
          <a:xfrm>
            <a:off x="6324480" y="2750040"/>
            <a:ext cx="2249640" cy="149976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Grandview Display"/>
              </a:rPr>
              <a:t>Invalidate()</a:t>
            </a:r>
            <a:endParaRPr b="0" lang="cs-CZ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Grandview Display"/>
              </a:rPr>
              <a:t>vyžádej překreslení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8" name="Connector 19"/>
          <p:cNvCxnSpPr/>
          <p:nvPr/>
        </p:nvCxnSpPr>
        <p:spPr>
          <a:xfrm>
            <a:off x="8644320" y="3499920"/>
            <a:ext cx="315360" cy="360"/>
          </a:xfrm>
          <a:prstGeom prst="straightConnector1">
            <a:avLst/>
          </a:prstGeom>
          <a:ln w="28575">
            <a:solidFill>
              <a:srgbClr val="0d1c3b"/>
            </a:solidFill>
            <a:tailEnd len="med" type="triangle" w="med"/>
          </a:ln>
        </p:spPr>
      </p:cxnSp>
      <p:sp>
        <p:nvSpPr>
          <p:cNvPr id="139" name="Rounded Rectangle 20"/>
          <p:cNvSpPr/>
          <p:nvPr/>
        </p:nvSpPr>
        <p:spPr>
          <a:xfrm>
            <a:off x="9029520" y="2750040"/>
            <a:ext cx="2249640" cy="149976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Grandview Display"/>
              </a:rPr>
              <a:t>Paint</a:t>
            </a:r>
            <a:endParaRPr b="0" lang="cs-CZ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Grandview Display"/>
              </a:rPr>
              <a:t>nakresli aktuální stav</a:t>
            </a:r>
            <a:endParaRPr b="0" lang="cs-CZ" sz="15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0" name="Connector 21"/>
          <p:cNvCxnSpPr/>
          <p:nvPr/>
        </p:nvCxnSpPr>
        <p:spPr>
          <a:xfrm>
            <a:off x="10154160" y="4309920"/>
            <a:ext cx="360" cy="390240"/>
          </a:xfrm>
          <a:prstGeom prst="straightConnector1">
            <a:avLst/>
          </a:prstGeom>
          <a:ln w="28575">
            <a:solidFill>
              <a:srgbClr val="0d1c3b"/>
            </a:solidFill>
          </a:ln>
        </p:spPr>
      </p:cxnSp>
      <p:cxnSp>
        <p:nvCxnSpPr>
          <p:cNvPr id="141" name="Connector 22"/>
          <p:cNvCxnSpPr/>
          <p:nvPr/>
        </p:nvCxnSpPr>
        <p:spPr>
          <a:xfrm flipH="1">
            <a:off x="2039400" y="4699800"/>
            <a:ext cx="8115120" cy="360"/>
          </a:xfrm>
          <a:prstGeom prst="straightConnector1">
            <a:avLst/>
          </a:prstGeom>
          <a:ln w="28575">
            <a:solidFill>
              <a:srgbClr val="0d1c3b"/>
            </a:solidFill>
          </a:ln>
        </p:spPr>
      </p:cxnSp>
      <p:cxnSp>
        <p:nvCxnSpPr>
          <p:cNvPr id="142" name="Connector 23"/>
          <p:cNvCxnSpPr/>
          <p:nvPr/>
        </p:nvCxnSpPr>
        <p:spPr>
          <a:xfrm flipV="1">
            <a:off x="2039400" y="4309920"/>
            <a:ext cx="360" cy="390240"/>
          </a:xfrm>
          <a:prstGeom prst="straightConnector1">
            <a:avLst/>
          </a:prstGeom>
          <a:ln w="28575">
            <a:solidFill>
              <a:srgbClr val="0d1c3b"/>
            </a:solidFill>
            <a:tailEnd len="med" type="triangle" w="med"/>
          </a:ln>
        </p:spPr>
      </p:cxnSp>
      <p:sp>
        <p:nvSpPr>
          <p:cNvPr id="143" name="TextBox 24"/>
          <p:cNvSpPr/>
          <p:nvPr/>
        </p:nvSpPr>
        <p:spPr>
          <a:xfrm>
            <a:off x="2339280" y="4780080"/>
            <a:ext cx="79995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opakuje se každých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Interval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milisekund (16 ms ≈ 60 FPS)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Časovač Timer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Pravidelně vyvolává událost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Tick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Interval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v ms (výchozí 100 ms)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Výchozí stav vypnutý –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Start()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,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Stop()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Stav animace v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proměnných formuláře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lokální proměnná v Tick by se vynulovala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Rozměry plátna: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ClientSize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5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D5871826-0BF7-40FC-9212-5F03B8E72D9A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5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F52FFEC7-291E-4964-BE60-AD7CBFB56183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x = 50, y = 50;   </a:t>
            </a: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poloha míčku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dx = 4, dy = 3;   </a:t>
            </a: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rychlost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const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R = 30;     </a:t>
            </a: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průměr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timer1_Tick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sender,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EventArgs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e)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x += dx;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y += dy;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odraz od stěn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(x &lt;= 0 || x + R &gt;= ClientSize.Width)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dx = -dx;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(y &lt;= 0 || y + R &gt;= ClientSize.Height)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dy = -dy;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Invalidate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Plynulé a správné vykreslení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DoubleBuffered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Malířův algoritmus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dt" idx="5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B4ABF114-0A73-4E3F-BCFC-253B5BEEB404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sldNum" idx="5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5DE70736-5ADA-4F13-8E32-B830BA569A22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912600" y="3080160"/>
            <a:ext cx="5084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Snímek se složí v paměti a zobrazí se celý najednou – animace nebliká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6172200" y="3080160"/>
            <a:ext cx="5182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Kreslíme od pozadí k popředí – bližší objekt překryje vzdálenější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Kód"/>
          <p:cNvSpPr/>
          <p:nvPr/>
        </p:nvSpPr>
        <p:spPr>
          <a:xfrm>
            <a:off x="912600" y="3750120"/>
            <a:ext cx="508464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Form1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()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InitializeComponent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this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.DoubleBuffered =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true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timer1.Interval = 16;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timer1.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Start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Kód"/>
          <p:cNvSpPr/>
          <p:nvPr/>
        </p:nvSpPr>
        <p:spPr>
          <a:xfrm>
            <a:off x="6172200" y="3750120"/>
            <a:ext cx="518292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Graphics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g = e.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Graphics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500" spc="-1" strike="noStrike">
                <a:solidFill>
                  <a:srgbClr val="74531f"/>
                </a:solidFill>
                <a:latin typeface="Consolas"/>
              </a:rPr>
              <a:t>Clear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Color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.LightSkyBlue);   </a:t>
            </a:r>
            <a:r>
              <a:rPr b="0" lang="en-US" sz="1500" spc="-1" strike="noStrike">
                <a:solidFill>
                  <a:srgbClr val="008000"/>
                </a:solidFill>
                <a:latin typeface="Consolas"/>
              </a:rPr>
              <a:t>// 1. nebe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500" spc="-1" strike="noStrike">
                <a:solidFill>
                  <a:srgbClr val="74531f"/>
                </a:solidFill>
                <a:latin typeface="Consolas"/>
              </a:rPr>
              <a:t>FillRectangle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Brushes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.Green, </a:t>
            </a:r>
            <a:r>
              <a:rPr b="0" lang="en-US" sz="1500" spc="-1" strike="noStrike">
                <a:solidFill>
                  <a:srgbClr val="008000"/>
                </a:solidFill>
                <a:latin typeface="Consolas"/>
              </a:rPr>
              <a:t>// 2. tráva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0, ClientSize.Height - 60,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ClientSize.Width, 60);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500" spc="-1" strike="noStrike">
                <a:solidFill>
                  <a:srgbClr val="74531f"/>
                </a:solidFill>
                <a:latin typeface="Consolas"/>
              </a:rPr>
              <a:t>FillEllipse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Brushes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.Red,     </a:t>
            </a:r>
            <a:r>
              <a:rPr b="0" lang="en-US" sz="1500" spc="-1" strike="noStrike">
                <a:solidFill>
                  <a:srgbClr val="008000"/>
                </a:solidFill>
                <a:latin typeface="Consolas"/>
              </a:rPr>
              <a:t>// 3. míček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x, y, R, R);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Ovládání klávesnicí a myší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WFA jsou aplikace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řízené událostmi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Další události komponenty najdete pod ikonou blesku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KeyDown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stisk klávesy,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e.KeyCode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MouseClick / MouseMove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pozice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e.X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,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e.Y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Událost jen změní stav, kreslí stále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Paint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Klávesy na formuláři: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KeyPreview = true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dt" idx="5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070DDA5C-49CF-41F0-855E-B256A74872FC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sldNum" idx="5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18F4E0DC-6428-43DE-A18E-1369B350CC8D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Form1_KeyDown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sender,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                  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KeyEventArgs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e)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(e.KeyCode ==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Keys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.Left)  x -= 10;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(e.KeyCode ==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Keys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.Right) x += 10;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Invalidate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Form1_MouseClick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sender,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                     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MouseEventArgs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e)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x = e.X;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y = e.Y;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Invalidate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Více pohyblivých objektů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Pro každý objekt potřebujeme vlastní stav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Řešení: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třída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+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List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objektů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Tick: projdeme seznam a aktualizujeme pozice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Paint: projdeme seznam a vše vykreslíme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Přirozený most k OOP – objekt může mít i vlastní metody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Pohni()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a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Vykresli(g)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5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76BFEB2B-B0F3-420D-B212-759D2D3AC99C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sldNum" idx="6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B780F5A2-DB6E-4475-9DAF-85720A5CCB32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Hvezdicka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float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X, Y, Rychlost;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Hvezdicka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&gt; hvezdy =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Hvezdicka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&gt;();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timer1_Tick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sender,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EventArgs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e)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foreach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(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Hvezdicka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h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hvezdy)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h.Y += h.Rychlost;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(h.Y &gt; ClientSize.Height) h.Y = 0;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Invalidate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Code review – co je špatně?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Animaci míčku vygeneroval AI asistent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Míček se nehýbe a okno bliká. Proč?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Najděte všechny problémy: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kde se kreslí a kde je stav?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co se děje při každém Ticku?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jsou uvolňovány prostředky?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Navrhněte opravený kód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6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58CDE10F-F1E6-43FB-8D84-8B990F681325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6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91EB538E-DACD-427D-B623-ED6EACD73B22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timer1_Tick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sender,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EventArgs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e)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x = 0;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x += 5;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(x &gt;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this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.Width) x = 0;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Graphics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g =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this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CreateGraphics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Clear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Color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.White);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Image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pozadi =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Image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FromFile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a31515"/>
                </a:solidFill>
                <a:latin typeface="Consolas"/>
              </a:rPr>
              <a:t>"les.png"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DrawImage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(pozadi, 0, 0);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Pen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p =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Pen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Color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.Red, 2);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g.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DrawEllipse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(p, x, 100, 30, 30);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Application>LibreOffice/24.2.7.2$Linux_X86_64 LibreOffice_project/420$Build-2</Application>
  <AppVersion>15.0000</AppVersion>
  <Words>171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2022-09-21T15:44:15Z</dcterms:created>
  <dc:creator>Sládeček David</dc:creator>
  <dc:description/>
  <dc:language>cs-CZ</dc:language>
  <cp:lastModifiedBy>David Sládeček</cp:lastModifiedBy>
  <dcterms:modified xsi:type="dcterms:W3CDTF">2026-10-02T13:21:54Z</dcterms:modified>
  <cp:revision>43</cp:revision>
  <dc:subject/>
  <dc:title>Programování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0x0101001551E01F061E674F96D9948F82E90CC0</vt:lpwstr>
  </property>
  <property fmtid="{D5CDD505-2E9C-101B-9397-08002B2CF9AE}" pid="4" name="Notes">
    <vt:i4>1</vt:i4>
  </property>
  <property fmtid="{D5CDD505-2E9C-101B-9397-08002B2CF9AE}" pid="5" name="Order">
    <vt:r8>5200</vt:r8>
  </property>
  <property fmtid="{D5CDD505-2E9C-101B-9397-08002B2CF9AE}" pid="6" name="PresentationFormat">
    <vt:lpwstr>Širokoúhlá obrazovka</vt:lpwstr>
  </property>
  <property fmtid="{D5CDD505-2E9C-101B-9397-08002B2CF9AE}" pid="7" name="Slides">
    <vt:i4>7</vt:i4>
  </property>
  <property fmtid="{D5CDD505-2E9C-101B-9397-08002B2CF9AE}" pid="8" name="TemplateUrl">
    <vt:lpwstr/>
  </property>
  <property fmtid="{D5CDD505-2E9C-101B-9397-08002B2CF9AE}" pid="9" name="TriggerFlowInfo">
    <vt:lpwstr/>
  </property>
  <property fmtid="{D5CDD505-2E9C-101B-9397-08002B2CF9AE}" pid="10" name="_ExtendedDescription">
    <vt:lpwstr/>
  </property>
  <property fmtid="{D5CDD505-2E9C-101B-9397-08002B2CF9AE}" pid="11" name="_SharedFileIndex">
    <vt:lpwstr/>
  </property>
  <property fmtid="{D5CDD505-2E9C-101B-9397-08002B2CF9AE}" pid="12" name="_SourceUrl">
    <vt:lpwstr/>
  </property>
  <property fmtid="{D5CDD505-2E9C-101B-9397-08002B2CF9AE}" pid="13" name="xd_ProgID">
    <vt:lpwstr/>
  </property>
  <property fmtid="{D5CDD505-2E9C-101B-9397-08002B2CF9AE}" pid="14" name="xd_Signature">
    <vt:bool>0</vt:bool>
  </property>
</Properties>
</file>