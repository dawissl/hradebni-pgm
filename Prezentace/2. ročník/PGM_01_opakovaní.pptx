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08.09.2025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08.09.2025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Obdélní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Letem světem programkem</a:t>
            </a:r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0DF41B-4E8C-29A6-23C0-674102BB8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témat k opakování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D6CF06-9793-3113-32F8-18B3F35E9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Deklarace, inicializace proměnné</a:t>
            </a:r>
          </a:p>
          <a:p>
            <a:r>
              <a:rPr lang="cs-CZ" dirty="0"/>
              <a:t>Datové typy</a:t>
            </a:r>
          </a:p>
          <a:p>
            <a:r>
              <a:rPr lang="cs-CZ" dirty="0"/>
              <a:t>Operátory</a:t>
            </a:r>
          </a:p>
          <a:p>
            <a:r>
              <a:rPr lang="cs-CZ" dirty="0"/>
              <a:t>Programové konstrukce</a:t>
            </a:r>
          </a:p>
          <a:p>
            <a:r>
              <a:rPr lang="cs-CZ" dirty="0"/>
              <a:t>Kolekce </a:t>
            </a:r>
          </a:p>
          <a:p>
            <a:r>
              <a:rPr lang="cs-CZ" dirty="0"/>
              <a:t>Vlastní a předdefinované metody</a:t>
            </a:r>
          </a:p>
          <a:p>
            <a:r>
              <a:rPr lang="cs-CZ" dirty="0"/>
              <a:t>Ošetření běhu programu</a:t>
            </a:r>
          </a:p>
          <a:p>
            <a:r>
              <a:rPr lang="cs-CZ" dirty="0"/>
              <a:t>Datový typ struktura, enumerace</a:t>
            </a:r>
          </a:p>
          <a:p>
            <a:r>
              <a:rPr lang="cs-CZ" dirty="0"/>
              <a:t>OOP</a:t>
            </a:r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631222-4091-6844-69BE-7ADE41FD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78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3B5791-8131-05E1-A2D9-F7F0266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Deklarace a inicializace proměnné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9EA40B-A798-CFF2-54E7-74CA46618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5710425" cy="3633047"/>
          </a:xfrm>
        </p:spPr>
        <p:txBody>
          <a:bodyPr anchor="ctr">
            <a:normAutofit/>
          </a:bodyPr>
          <a:lstStyle/>
          <a:p>
            <a:r>
              <a:rPr lang="cs-CZ" dirty="0"/>
              <a:t>Proměnná je pojmenované místo v paměti</a:t>
            </a:r>
          </a:p>
          <a:p>
            <a:r>
              <a:rPr lang="cs-CZ" dirty="0"/>
              <a:t>Pravidla a doporučení pro pojmenování proměnné</a:t>
            </a:r>
          </a:p>
          <a:p>
            <a:r>
              <a:rPr lang="cs-CZ" dirty="0"/>
              <a:t>Výchozí hodnota a </a:t>
            </a:r>
            <a:r>
              <a:rPr lang="cs-CZ" i="1" dirty="0" err="1"/>
              <a:t>null</a:t>
            </a:r>
            <a:r>
              <a:rPr lang="cs-CZ" dirty="0"/>
              <a:t> hodnota</a:t>
            </a: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B14470B3-EF5B-71C0-B76A-5F644F674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568" y="2228003"/>
            <a:ext cx="2649710" cy="3633047"/>
          </a:xfrm>
          <a:prstGeom prst="rect">
            <a:avLst/>
          </a:prstGeom>
          <a:noFill/>
        </p:spPr>
      </p:pic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A0C0F974-248A-B4A3-05D7-1FD667EE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0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25B3A6-63C9-48B8-928E-187872AF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Datové typy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A292462-3B98-E95D-0C31-A31D3297C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r>
              <a:rPr lang="cs-CZ" dirty="0"/>
              <a:t>Datový typ určuje, jaká hodnota je v proměnné uložena</a:t>
            </a:r>
          </a:p>
          <a:p>
            <a:r>
              <a:rPr lang="cs-CZ" dirty="0"/>
              <a:t>Při návrhu řešíme jaký datový typ je nejvhodnější</a:t>
            </a:r>
          </a:p>
          <a:p>
            <a:r>
              <a:rPr lang="cs-CZ" dirty="0"/>
              <a:t>Konverze a přetypování hodnot</a:t>
            </a:r>
          </a:p>
          <a:p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73B613A6-22CA-3BBE-1631-D7CBE2C5A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39" y="2582069"/>
            <a:ext cx="5194769" cy="2924914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0A682F6-A297-96D7-7BE8-6A62F3AF5E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78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26A236-7554-87C7-AC9A-7F2467D3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operátory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E320387-9342-E3CD-C3A5-24B522ED4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r>
              <a:rPr lang="cs-CZ" dirty="0"/>
              <a:t>Operátor = klíčové slovo nebo symbol, který udává akci s příslušnými operandy</a:t>
            </a:r>
          </a:p>
          <a:p>
            <a:r>
              <a:rPr lang="cs-CZ" dirty="0"/>
              <a:t>Operand = proměnná nebo hodnota, se kterou operátor provádí akci</a:t>
            </a:r>
          </a:p>
          <a:p>
            <a:r>
              <a:rPr lang="cs-CZ" dirty="0"/>
              <a:t>Kombinace operátorů a operandů nám dává výraz</a:t>
            </a:r>
          </a:p>
          <a:p>
            <a:r>
              <a:rPr lang="cs-CZ" dirty="0"/>
              <a:t>Vyhodnocení výrazů dle priority operátorů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FFB2002-F70E-3F73-CC27-9D248E92C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39" y="3122455"/>
            <a:ext cx="5194769" cy="1844143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1FF78F4-90A3-DFB4-7E41-6BC7762530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171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8E8656F2-5695-8AAA-B8AF-FEA94FCC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Rozhodovací bloky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5A95786C-FDCF-3A8C-93DC-47AD9A7D2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u="sng" dirty="0" err="1"/>
              <a:t>If</a:t>
            </a:r>
            <a:r>
              <a:rPr lang="cs-CZ" u="sng" dirty="0"/>
              <a:t> </a:t>
            </a:r>
            <a:r>
              <a:rPr lang="cs-CZ" u="sng" dirty="0" err="1"/>
              <a:t>else</a:t>
            </a:r>
            <a:endParaRPr lang="cs-CZ" u="sng" dirty="0"/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BD5A2825-7CB4-947C-682F-AA61D304A5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/>
              <a:t>Rozhodovacím kritériem je podmínka</a:t>
            </a:r>
          </a:p>
          <a:p>
            <a:r>
              <a:rPr lang="cs-CZ" dirty="0"/>
              <a:t>Zanoření rozhodování vs využití logických operátorů</a:t>
            </a:r>
          </a:p>
          <a:p>
            <a:r>
              <a:rPr lang="cs-CZ" dirty="0"/>
              <a:t>Ternární operátor</a:t>
            </a:r>
          </a:p>
          <a:p>
            <a:endParaRPr lang="cs-CZ" dirty="0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B4CA1A0A-C504-CA2A-485F-87E208E33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u="sng" dirty="0"/>
              <a:t>Switch case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A607F088-4FB7-3C47-370F-084F800D08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/>
              <a:t>Rozhodovacím kritériem je hodnota</a:t>
            </a:r>
          </a:p>
          <a:p>
            <a:r>
              <a:rPr lang="cs-CZ" dirty="0"/>
              <a:t>Výčet hodnot (case) pro jednotlivé případy</a:t>
            </a:r>
          </a:p>
          <a:p>
            <a:r>
              <a:rPr lang="cs-CZ" dirty="0" err="1"/>
              <a:t>Break</a:t>
            </a:r>
            <a:endParaRPr lang="cs-CZ" dirty="0"/>
          </a:p>
          <a:p>
            <a:r>
              <a:rPr lang="cs-CZ" dirty="0"/>
              <a:t>Default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D24B70E-787E-D8B8-18E5-BBF80A4F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87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8EDE0E-C1AD-D42F-F8DE-4731FD71A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cykly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3F3F2744-695E-D82F-1CEA-0803BED94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u="sng" dirty="0"/>
              <a:t>Neznámý počet opakování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4581CF-1018-6961-04E8-91953556B5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 err="1"/>
              <a:t>While</a:t>
            </a:r>
            <a:r>
              <a:rPr lang="cs-CZ" dirty="0"/>
              <a:t>, do </a:t>
            </a:r>
            <a:r>
              <a:rPr lang="cs-CZ" dirty="0" err="1"/>
              <a:t>while</a:t>
            </a:r>
            <a:endParaRPr lang="cs-CZ" dirty="0"/>
          </a:p>
          <a:p>
            <a:r>
              <a:rPr lang="cs-CZ" dirty="0"/>
              <a:t>Odlišení, kdy se ověřuje podmínka pro běh cyklu</a:t>
            </a:r>
          </a:p>
          <a:p>
            <a:r>
              <a:rPr lang="cs-CZ" dirty="0"/>
              <a:t>Podmínka musí být typu </a:t>
            </a:r>
            <a:r>
              <a:rPr lang="cs-CZ" i="1" dirty="0" err="1"/>
              <a:t>bool</a:t>
            </a:r>
            <a:endParaRPr lang="cs-CZ" i="1" dirty="0"/>
          </a:p>
          <a:p>
            <a:endParaRPr lang="cs-CZ" dirty="0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7EE8AB9F-189E-EFFB-C79F-A301F6F11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u="sng" dirty="0"/>
              <a:t>Pevný počet opakování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F04DB6B7-D605-6E62-E628-DAA01A51FE8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 err="1"/>
              <a:t>For</a:t>
            </a:r>
            <a:r>
              <a:rPr lang="cs-CZ" dirty="0"/>
              <a:t>, </a:t>
            </a:r>
            <a:r>
              <a:rPr lang="cs-CZ" dirty="0" err="1"/>
              <a:t>foreach</a:t>
            </a:r>
            <a:endParaRPr lang="cs-CZ" dirty="0"/>
          </a:p>
          <a:p>
            <a:r>
              <a:rPr lang="cs-CZ" dirty="0"/>
              <a:t>Procházení kolekcí</a:t>
            </a:r>
          </a:p>
          <a:p>
            <a:r>
              <a:rPr lang="cs-CZ" dirty="0"/>
              <a:t>Řídící proměnná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3551120-B69A-0679-9903-98C1D3FB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06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6C27-058B-5461-B71A-70C0F066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83D923-92E0-858A-C732-1453489C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kolekce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31300471-EFA7-3E77-9EF2-E922105CB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u="sng" dirty="0"/>
              <a:t>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D958D6-DDEF-6CD1-B0BA-2D49584014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/>
              <a:t>Pevný počet prvků po celou dobu běhu</a:t>
            </a:r>
          </a:p>
          <a:p>
            <a:r>
              <a:rPr lang="cs-CZ" dirty="0"/>
              <a:t>Přístup k editaci a čtení pomocí indexu</a:t>
            </a:r>
          </a:p>
          <a:p>
            <a:r>
              <a:rPr lang="cs-CZ" dirty="0"/>
              <a:t>Využívání přiřazovacího operátoru</a:t>
            </a:r>
          </a:p>
          <a:p>
            <a:r>
              <a:rPr lang="cs-CZ" dirty="0" err="1"/>
              <a:t>Length</a:t>
            </a:r>
            <a:r>
              <a:rPr lang="cs-CZ" dirty="0"/>
              <a:t> udává počet prvků</a:t>
            </a:r>
          </a:p>
          <a:p>
            <a:endParaRPr lang="cs-CZ" dirty="0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F0F64DCB-BB10-ED74-C18B-EAA51093C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u="sng" dirty="0"/>
              <a:t>List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B711F80B-5CFC-5B49-1DFD-5312AB6161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/>
              <a:t>Dynamická velikost</a:t>
            </a:r>
          </a:p>
          <a:p>
            <a:r>
              <a:rPr lang="cs-CZ" dirty="0"/>
              <a:t>Vkládání a odebírání pomocí předdefinovaných funkcí</a:t>
            </a:r>
          </a:p>
          <a:p>
            <a:r>
              <a:rPr lang="cs-CZ" dirty="0"/>
              <a:t>Při přístupu na prvky používáme syntax jako pro pole</a:t>
            </a:r>
          </a:p>
          <a:p>
            <a:r>
              <a:rPr lang="cs-CZ" dirty="0" err="1"/>
              <a:t>Size</a:t>
            </a:r>
            <a:r>
              <a:rPr lang="cs-CZ" dirty="0"/>
              <a:t> udává počet prvků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253FE57-B5E3-705B-3D24-E5748283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2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576BDCFA-461E-BF8D-EA2F-8B59C3A13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Vlastní a předdefinované metody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DB1DFC5-2E38-85A7-11B7-BFB1D4B5D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r>
              <a:rPr lang="cs-CZ" dirty="0"/>
              <a:t>Přístup k metodám tříd pomocí tečkové notace</a:t>
            </a:r>
          </a:p>
          <a:p>
            <a:r>
              <a:rPr lang="cs-CZ" dirty="0"/>
              <a:t>Návrat hodnoty z každé části kódu</a:t>
            </a:r>
          </a:p>
          <a:p>
            <a:r>
              <a:rPr lang="cs-CZ" dirty="0"/>
              <a:t>Přetížení metod</a:t>
            </a:r>
          </a:p>
          <a:p>
            <a:r>
              <a:rPr lang="cs-CZ" dirty="0"/>
              <a:t>Rekurzivní funkce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019B4C52-39EF-257B-89CC-671B521EF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625" y="2228003"/>
            <a:ext cx="5171596" cy="3633047"/>
          </a:xfrm>
          <a:prstGeom prst="rect">
            <a:avLst/>
          </a:prstGeom>
          <a:noFill/>
        </p:spPr>
      </p:pic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502D6090-B56F-49D8-C905-42DD7C6A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521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22D550-7220-2CD0-E4EF-A35BAB90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Ošetření běhu programu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A765546-04E0-F5AB-D73F-BBBEF1BD7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r>
              <a:rPr lang="cs-CZ" dirty="0"/>
              <a:t>Try </a:t>
            </a:r>
            <a:r>
              <a:rPr lang="cs-CZ" dirty="0" err="1"/>
              <a:t>catch</a:t>
            </a:r>
            <a:endParaRPr lang="cs-CZ" dirty="0"/>
          </a:p>
          <a:p>
            <a:r>
              <a:rPr lang="cs-CZ" dirty="0"/>
              <a:t>Odchytávání specifických </a:t>
            </a:r>
            <a:r>
              <a:rPr lang="cs-CZ" dirty="0" err="1"/>
              <a:t>vyjímek</a:t>
            </a:r>
            <a:endParaRPr lang="cs-CZ" dirty="0"/>
          </a:p>
          <a:p>
            <a:r>
              <a:rPr lang="cs-CZ" dirty="0" err="1"/>
              <a:t>Finally</a:t>
            </a:r>
            <a:r>
              <a:rPr lang="cs-CZ" dirty="0"/>
              <a:t> blok</a:t>
            </a:r>
          </a:p>
          <a:p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7C0468E-6489-94EF-6A3A-DC43DCE46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696" y="2228003"/>
            <a:ext cx="4751455" cy="3633047"/>
          </a:xfrm>
          <a:prstGeom prst="rect">
            <a:avLst/>
          </a:prstGeom>
          <a:noFill/>
        </p:spPr>
      </p:pic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D6F10E8F-6963-AA13-3878-ED499ABD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93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A304BD9D-116E-7DCA-06B5-B016E9F1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datové typy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9E3BBDD-4339-6D76-2B4E-0B0F2012D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Struktura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09A23B96-532A-8E23-0967-3FE434AE08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 err="1"/>
              <a:t>Properties</a:t>
            </a:r>
            <a:r>
              <a:rPr lang="cs-CZ" dirty="0"/>
              <a:t> umožňují přístup k hodnotám</a:t>
            </a:r>
          </a:p>
          <a:p>
            <a:r>
              <a:rPr lang="cs-CZ" dirty="0"/>
              <a:t>Konstruktor pro vytváření 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98BF50F5-4204-503C-C790-DC9C9750D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Enumerace</a:t>
            </a:r>
          </a:p>
        </p:txBody>
      </p:sp>
      <p:sp>
        <p:nvSpPr>
          <p:cNvPr id="10" name="Zástupný obsah 9">
            <a:extLst>
              <a:ext uri="{FF2B5EF4-FFF2-40B4-BE49-F238E27FC236}">
                <a16:creationId xmlns:a16="http://schemas.microsoft.com/office/drawing/2014/main" id="{9EC27458-697A-552D-842E-890B4845E48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/>
              <a:t>Výčtový datový typ</a:t>
            </a:r>
          </a:p>
          <a:p>
            <a:r>
              <a:rPr lang="cs-CZ" dirty="0"/>
              <a:t>Přetypování zástupné hodnoty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E0BFDC-9E15-25B2-9779-ADCD3A4C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B6701DD1-E548-74F4-7992-DE21B80D7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770" y="4049585"/>
            <a:ext cx="5194771" cy="430007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4F2DDEBE-1CBD-8078-2BA3-D7B2BB818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51" y="3776971"/>
            <a:ext cx="3587043" cy="27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18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D0A4AEB5-92D2-DE7A-85D8-C7D7471AF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OOP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BBA8DDEC-82CA-3C61-32D8-709BF47AF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r>
              <a:rPr lang="cs-CZ" dirty="0"/>
              <a:t>Paradigmata objektového programování</a:t>
            </a:r>
          </a:p>
          <a:p>
            <a:r>
              <a:rPr lang="cs-CZ" dirty="0"/>
              <a:t>Objekt vs Třída</a:t>
            </a:r>
          </a:p>
          <a:p>
            <a:endParaRPr lang="cs-CZ" dirty="0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5C27C588-B7AB-91F7-E227-DB057DADD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233" y="843342"/>
            <a:ext cx="4469642" cy="5712004"/>
          </a:xfrm>
          <a:prstGeom prst="rect">
            <a:avLst/>
          </a:prstGeom>
          <a:noFill/>
        </p:spPr>
      </p:pic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73514DEE-485A-1E1E-1361-31B67430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2460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60</TotalTime>
  <Words>279</Words>
  <Application>Microsoft Office PowerPoint</Application>
  <PresentationFormat>Širokoúhlá obrazovka</PresentationFormat>
  <Paragraphs>74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Calibri</vt:lpstr>
      <vt:lpstr>Franklin Gothic Book</vt:lpstr>
      <vt:lpstr>Franklin Gothic Demi</vt:lpstr>
      <vt:lpstr>Wingdings 2</vt:lpstr>
      <vt:lpstr>DividendVTI</vt:lpstr>
      <vt:lpstr>Programování</vt:lpstr>
      <vt:lpstr>Přehled témat k opakování</vt:lpstr>
      <vt:lpstr>Deklarace a inicializace proměnné</vt:lpstr>
      <vt:lpstr>Datové typy</vt:lpstr>
      <vt:lpstr>operátory</vt:lpstr>
      <vt:lpstr>Rozhodovací bloky</vt:lpstr>
      <vt:lpstr>cykly</vt:lpstr>
      <vt:lpstr>kolekce</vt:lpstr>
      <vt:lpstr>Vlastní a předdefinované metody</vt:lpstr>
      <vt:lpstr>Ošetření běhu programu</vt:lpstr>
      <vt:lpstr>Vlastní datové typy</vt:lpstr>
      <vt:lpstr>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Sládeček David</dc:creator>
  <cp:lastModifiedBy>Sládeček David</cp:lastModifiedBy>
  <cp:revision>6</cp:revision>
  <dcterms:created xsi:type="dcterms:W3CDTF">2025-09-08T04:51:09Z</dcterms:created>
  <dcterms:modified xsi:type="dcterms:W3CDTF">2025-09-08T05:51:10Z</dcterms:modified>
</cp:coreProperties>
</file>