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s-CZ" sz="1800" spc="-1" strike="noStrike">
                <a:solidFill>
                  <a:srgbClr val="000000"/>
                </a:solidFill>
                <a:latin typeface="Calibri"/>
              </a:rPr>
              <a:t>Klikněte pro přesun </a:t>
            </a:r>
            <a:r>
              <a:rPr b="0" lang="cs-CZ" sz="1800" spc="-1" strike="noStrike">
                <a:solidFill>
                  <a:srgbClr val="000000"/>
                </a:solidFill>
                <a:latin typeface="Calibri"/>
              </a:rPr>
              <a:t>snímku</a:t>
            </a:r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cs-CZ" sz="2000" spc="-1" strike="noStrike">
                <a:latin typeface="Arial"/>
              </a:rPr>
              <a:t>Klikněte pro úpravu </a:t>
            </a:r>
            <a:r>
              <a:rPr b="0" lang="cs-CZ" sz="2000" spc="-1" strike="noStrike">
                <a:latin typeface="Arial"/>
              </a:rPr>
              <a:t>formátu komentářů</a:t>
            </a:r>
            <a:endParaRPr b="0" lang="cs-CZ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cs-CZ" sz="1400" spc="-1" strike="noStrike">
                <a:latin typeface="Times New Roman"/>
              </a:rPr>
              <a:t>&lt;záhlaví&gt;</a:t>
            </a:r>
            <a:endParaRPr b="0" lang="cs-CZ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cs-CZ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cs-CZ" sz="1400" spc="-1" strike="noStrike">
                <a:latin typeface="Times New Roman"/>
              </a:rPr>
              <a:t>&lt;datum/čas&gt;</a:t>
            </a:r>
            <a:endParaRPr b="0" lang="cs-CZ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cs-CZ" sz="1400" spc="-1" strike="noStrike">
                <a:latin typeface="Times New Roman"/>
              </a:defRPr>
            </a:lvl1pPr>
          </a:lstStyle>
          <a:p>
            <a:r>
              <a:rPr b="0" lang="cs-CZ" sz="1400" spc="-1" strike="noStrike">
                <a:latin typeface="Times New Roman"/>
              </a:rPr>
              <a:t>&lt;zápatí&gt;</a:t>
            </a:r>
            <a:endParaRPr b="0" lang="cs-CZ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cs-CZ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07B6653-15FB-4D56-98D2-48CAEEC52C2B}" type="slidenum">
              <a:rPr b="0" lang="cs-CZ" sz="1400" spc="-1" strike="noStrike">
                <a:latin typeface="Times New Roman"/>
              </a:rPr>
              <a:t>&lt;číslo&gt;</a:t>
            </a:fld>
            <a:endParaRPr b="0" lang="cs-CZ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DC90ED-0955-459F-A5A3-844A3D3EEDD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8F6789-AEC9-43C7-A067-366D666A88E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CB53C0-E1BB-4E70-9996-4C5CCB08BAE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D571B8-555A-408C-8D16-AED5E8177F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5AE8D1-008E-45A3-8DFE-F1AF8467691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21BBE7-9969-49E0-AC45-F856F5941D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65C34F-B6BD-4DB9-9983-1882286DB0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5E9DAD-5FDC-4114-A1CB-B83BF46797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C8B5AD-AC1E-4C0F-AB70-524D0EA877F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30F311-CCF3-4BF4-B0C6-9F289A2AB9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A0BF94-09B9-45F4-A15F-70741E55E0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893179-83DE-421B-977C-4BD030C1E4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cs-CZ" sz="2000" spc="-1" strike="noStrike"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5FF8A2-B26D-4569-A90A-661FADA7455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&lt;číslo&gt;</a:t>
            </a:fld>
            <a:endParaRPr b="0" lang="cs-CZ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cs-CZ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cs-CZ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s-CZ" sz="1800" spc="-1" strike="noStrike">
                <a:solidFill>
                  <a:srgbClr val="000000"/>
                </a:solidFill>
                <a:latin typeface="Calibri"/>
              </a:rPr>
              <a:t>Klikněte pro úpravu </a:t>
            </a:r>
            <a:r>
              <a:rPr b="0" lang="cs-CZ" sz="1800" spc="-1" strike="noStrike">
                <a:solidFill>
                  <a:srgbClr val="000000"/>
                </a:solidFill>
                <a:latin typeface="Calibri"/>
              </a:rPr>
              <a:t>formátu textu nadpisu</a:t>
            </a:r>
            <a:endParaRPr b="0" lang="cs-CZ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Calibri"/>
              </a:rPr>
              <a:t>Klikněte pro úpravu formátu textu osnovy</a:t>
            </a:r>
            <a:endParaRPr b="0" lang="cs-CZ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400" spc="-1" strike="noStrike">
                <a:solidFill>
                  <a:srgbClr val="000000"/>
                </a:solidFill>
                <a:latin typeface="Calibri"/>
              </a:rPr>
              <a:t>Druhá úroveň</a:t>
            </a:r>
            <a:endParaRPr b="0" lang="cs-CZ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Calibri"/>
              </a:rPr>
              <a:t>Třetí úroveň</a:t>
            </a:r>
            <a:endParaRPr b="0" lang="cs-CZ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000" spc="-1" strike="noStrike">
                <a:solidFill>
                  <a:srgbClr val="000000"/>
                </a:solidFill>
                <a:latin typeface="Calibri"/>
              </a:rPr>
              <a:t>Čtvrtá úroveň osnovy</a:t>
            </a:r>
            <a:endParaRPr b="0" lang="cs-CZ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Calibri"/>
              </a:rPr>
              <a:t>Pátá úroveň osnovy</a:t>
            </a:r>
            <a:endParaRPr b="0" lang="cs-CZ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Calibri"/>
              </a:rPr>
              <a:t>Šestá úroveň</a:t>
            </a:r>
            <a:endParaRPr b="0" lang="cs-CZ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Calibri"/>
              </a:rPr>
              <a:t>Sedmá úroveň</a:t>
            </a:r>
            <a:endParaRPr b="0" lang="cs-CZ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3657600"/>
            <a:ext cx="9143640" cy="1485720"/>
          </a:xfrm>
          <a:prstGeom prst="rect">
            <a:avLst/>
          </a:prstGeom>
          <a:solidFill>
            <a:srgbClr val="0f1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5" name="Image 0" descr="preencoded.png"/>
          <p:cNvPicPr/>
          <p:nvPr/>
        </p:nvPicPr>
        <p:blipFill>
          <a:blip r:embed="rId1"/>
          <a:stretch/>
        </p:blipFill>
        <p:spPr>
          <a:xfrm>
            <a:off x="640080" y="128016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46" name="Text 1"/>
          <p:cNvSpPr/>
          <p:nvPr/>
        </p:nvSpPr>
        <p:spPr>
          <a:xfrm>
            <a:off x="457200" y="2011680"/>
            <a:ext cx="5943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Trebuchet MS"/>
                <a:ea typeface="Trebuchet MS"/>
              </a:rPr>
              <a:t>Dekompozice problému</a:t>
            </a:r>
            <a:endParaRPr b="0" lang="cs-CZ" sz="3600" spc="-1" strike="noStrike">
              <a:latin typeface="Arial"/>
            </a:endParaRPr>
          </a:p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Trebuchet MS"/>
                <a:ea typeface="Trebuchet MS"/>
              </a:rPr>
              <a:t>a návrh řešení</a:t>
            </a:r>
            <a:endParaRPr b="0" lang="cs-CZ" sz="36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33375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Jak rozložit zadání na zvládnutelné části</a:t>
            </a:r>
            <a:endParaRPr b="0" lang="cs-CZ" sz="1600" spc="-1" strike="noStrike"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457200" y="41148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b95a5"/>
                </a:solidFill>
                <a:latin typeface="Calibri"/>
                <a:ea typeface="Calibri"/>
              </a:rPr>
              <a:t>Programování v C# | WFA aplikace</a:t>
            </a:r>
            <a:endParaRPr b="0" lang="cs-CZ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Trebuchet MS"/>
                <a:ea typeface="Trebuchet MS"/>
              </a:rPr>
              <a:t>Proč potřebujeme dekompozici?</a:t>
            </a:r>
            <a:endParaRPr b="0" lang="cs-CZ" sz="2800" spc="-1" strike="noStrike"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457200" y="1051560"/>
            <a:ext cx="3931560" cy="3382920"/>
          </a:xfrm>
          <a:prstGeom prst="rect">
            <a:avLst/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Shape 2"/>
          <p:cNvSpPr/>
          <p:nvPr/>
        </p:nvSpPr>
        <p:spPr>
          <a:xfrm>
            <a:off x="457200" y="1051560"/>
            <a:ext cx="3931560" cy="456840"/>
          </a:xfrm>
          <a:prstGeom prst="rect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3"/>
          <p:cNvSpPr/>
          <p:nvPr/>
        </p:nvSpPr>
        <p:spPr>
          <a:xfrm>
            <a:off x="457200" y="105156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Bez dekompozice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640080" y="1645920"/>
            <a:ext cx="35658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7f8c9b"/>
                </a:solidFill>
                <a:latin typeface="Calibri"/>
              </a:rPr>
              <a:t>Potřebuji aplikaci pro správu knihovny.</a:t>
            </a:r>
            <a:endParaRPr b="0" lang="cs-CZ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cs-CZ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</a:rPr>
              <a:t>Sednu a začnu psát kód...</a:t>
            </a:r>
            <a:endParaRPr b="0" lang="cs-CZ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cs-CZ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7f8c9b"/>
                </a:solidFill>
                <a:latin typeface="Calibri"/>
              </a:rPr>
              <a:t>Po 2 hodinách:</a:t>
            </a:r>
            <a:endParaRPr b="0" lang="cs-CZ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96167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f96167"/>
                </a:solidFill>
                <a:latin typeface="Calibri"/>
              </a:rPr>
              <a:t>Mám formulář, ale nevím kam dál</a:t>
            </a:r>
            <a:endParaRPr b="0" lang="cs-CZ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96167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f96167"/>
                </a:solidFill>
                <a:latin typeface="Calibri"/>
              </a:rPr>
              <a:t>Kód je nepřehledný a rostoucí</a:t>
            </a:r>
            <a:endParaRPr b="0" lang="cs-CZ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96167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f96167"/>
                </a:solidFill>
                <a:latin typeface="Calibri"/>
              </a:rPr>
              <a:t>Přidání nové funkce rozbije starou</a:t>
            </a:r>
            <a:endParaRPr b="0" lang="cs-CZ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96167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f96167"/>
                </a:solidFill>
                <a:latin typeface="Calibri"/>
              </a:rPr>
              <a:t>Nevím, co vlastně klient chtěl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4754880" y="1051560"/>
            <a:ext cx="3931560" cy="3382920"/>
          </a:xfrm>
          <a:prstGeom prst="rect">
            <a:avLst/>
          </a:prstGeom>
          <a:solidFill>
            <a:srgbClr val="f0f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Shape 6"/>
          <p:cNvSpPr/>
          <p:nvPr/>
        </p:nvSpPr>
        <p:spPr>
          <a:xfrm>
            <a:off x="4754880" y="1051560"/>
            <a:ext cx="3931560" cy="456840"/>
          </a:xfrm>
          <a:prstGeom prst="rect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7"/>
          <p:cNvSpPr/>
          <p:nvPr/>
        </p:nvSpPr>
        <p:spPr>
          <a:xfrm>
            <a:off x="4754880" y="105156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 dekompozicí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4937760" y="1645920"/>
            <a:ext cx="35658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7f8c9b"/>
                </a:solidFill>
                <a:latin typeface="Calibri"/>
              </a:rPr>
              <a:t>Potřebuji aplikaci pro správu knihovny.</a:t>
            </a:r>
            <a:endParaRPr b="0" lang="cs-CZ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cs-CZ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</a:rPr>
              <a:t>Nejprve analyzuji a rozložím...</a:t>
            </a:r>
            <a:endParaRPr b="0" lang="cs-CZ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cs-CZ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7f8c9b"/>
                </a:solidFill>
                <a:latin typeface="Calibri"/>
              </a:rPr>
              <a:t>Po 2 hodinách:</a:t>
            </a:r>
            <a:endParaRPr b="0" lang="cs-CZ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ecc7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2ecc71"/>
                </a:solidFill>
                <a:latin typeface="Calibri"/>
              </a:rPr>
              <a:t>Mám jasný plán s prioritami</a:t>
            </a:r>
            <a:endParaRPr b="0" lang="cs-CZ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ecc7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2ecc71"/>
                </a:solidFill>
                <a:latin typeface="Calibri"/>
              </a:rPr>
              <a:t>Vím, jaké třídy potřebuji</a:t>
            </a:r>
            <a:endParaRPr b="0" lang="cs-CZ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ecc7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2ecc71"/>
                </a:solidFill>
                <a:latin typeface="Calibri"/>
              </a:rPr>
              <a:t>Každá část je nezávislá</a:t>
            </a:r>
            <a:endParaRPr b="0" lang="cs-CZ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ecc7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2ecc71"/>
                </a:solidFill>
                <a:latin typeface="Calibri"/>
              </a:rPr>
              <a:t>Můžu dodávat po částech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457200" y="4617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a90d9"/>
                </a:solidFill>
                <a:latin typeface="Calibri"/>
                <a:ea typeface="Calibri"/>
              </a:rPr>
              <a:t>Dekompozice = rozložení složitého problému na menší, zvládnutelné části</a:t>
            </a:r>
            <a:endParaRPr b="0" lang="cs-CZ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Trebuchet MS"/>
                <a:ea typeface="Trebuchet MS"/>
              </a:rPr>
              <a:t>Jak číst zadání – metoda podtrhávání</a:t>
            </a:r>
            <a:endParaRPr b="0" lang="cs-CZ" sz="2800" spc="-1" strike="noStrike"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457200" y="868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f8c9b"/>
                </a:solidFill>
                <a:latin typeface="Calibri"/>
                <a:ea typeface="Calibri"/>
              </a:rPr>
              <a:t>V zadání se skrývají klíčové informace. Naučte se je systematicky hledat: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457200" y="1371600"/>
            <a:ext cx="72720" cy="5940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Shape 3"/>
          <p:cNvSpPr/>
          <p:nvPr/>
        </p:nvSpPr>
        <p:spPr>
          <a:xfrm>
            <a:off x="530280" y="1371600"/>
            <a:ext cx="8229240" cy="594000"/>
          </a:xfrm>
          <a:prstGeom prst="rect">
            <a:avLst/>
          </a:prstGeom>
          <a:solidFill>
            <a:srgbClr val="f0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4"/>
          <p:cNvSpPr/>
          <p:nvPr/>
        </p:nvSpPr>
        <p:spPr>
          <a:xfrm>
            <a:off x="685800" y="13716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Podstatná jména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2834640" y="137160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→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kandidáti na třídy a data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5394960" y="137160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kniha, čtenář, výpůjčka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457200" y="2103120"/>
            <a:ext cx="72720" cy="594000"/>
          </a:xfrm>
          <a:prstGeom prst="rect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Shape 8"/>
          <p:cNvSpPr/>
          <p:nvPr/>
        </p:nvSpPr>
        <p:spPr>
          <a:xfrm>
            <a:off x="530280" y="2103120"/>
            <a:ext cx="8229240" cy="594000"/>
          </a:xfrm>
          <a:prstGeom prst="rect">
            <a:avLst/>
          </a:prstGeom>
          <a:solidFill>
            <a:srgbClr val="f0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9"/>
          <p:cNvSpPr/>
          <p:nvPr/>
        </p:nvSpPr>
        <p:spPr>
          <a:xfrm>
            <a:off x="685800" y="210312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Slovesa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2834640" y="210312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→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kandidáti na metody a akce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5394960" y="210312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vypůjčit, vrátit, vyhledat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457200" y="2834640"/>
            <a:ext cx="72720" cy="59400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Shape 13"/>
          <p:cNvSpPr/>
          <p:nvPr/>
        </p:nvSpPr>
        <p:spPr>
          <a:xfrm>
            <a:off x="530280" y="2834640"/>
            <a:ext cx="8229240" cy="594000"/>
          </a:xfrm>
          <a:prstGeom prst="rect">
            <a:avLst/>
          </a:prstGeom>
          <a:solidFill>
            <a:srgbClr val="f0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4"/>
          <p:cNvSpPr/>
          <p:nvPr/>
        </p:nvSpPr>
        <p:spPr>
          <a:xfrm>
            <a:off x="685800" y="283464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Přídavná jména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2834640" y="283464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→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kandidáti na vlastnosti (atributy)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5394960" y="283464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dostupná, půjčená, po termínu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457200" y="3566160"/>
            <a:ext cx="72720" cy="594000"/>
          </a:xfrm>
          <a:prstGeom prst="rect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Shape 18"/>
          <p:cNvSpPr/>
          <p:nvPr/>
        </p:nvSpPr>
        <p:spPr>
          <a:xfrm>
            <a:off x="530280" y="3566160"/>
            <a:ext cx="8229240" cy="594000"/>
          </a:xfrm>
          <a:prstGeom prst="rect">
            <a:avLst/>
          </a:prstGeom>
          <a:solidFill>
            <a:srgbClr val="f0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9"/>
          <p:cNvSpPr/>
          <p:nvPr/>
        </p:nvSpPr>
        <p:spPr>
          <a:xfrm>
            <a:off x="685800" y="35661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Číslovky a omezení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2834640" y="356616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→ </a:t>
            </a: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pravidla a validace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5394960" y="356616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max. 5 knih, do 30 dnů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81" name="Shape 22"/>
          <p:cNvSpPr/>
          <p:nvPr/>
        </p:nvSpPr>
        <p:spPr>
          <a:xfrm>
            <a:off x="457200" y="4343400"/>
            <a:ext cx="8229240" cy="548280"/>
          </a:xfrm>
          <a:prstGeom prst="rect">
            <a:avLst/>
          </a:prstGeom>
          <a:solidFill>
            <a:srgbClr val="ebf3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2" name="Image 0" descr="preencoded.png"/>
          <p:cNvPicPr/>
          <p:nvPr/>
        </p:nvPicPr>
        <p:blipFill>
          <a:blip r:embed="rId1"/>
          <a:stretch/>
        </p:blipFill>
        <p:spPr>
          <a:xfrm>
            <a:off x="640080" y="440748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83" name="Text 23"/>
          <p:cNvSpPr/>
          <p:nvPr/>
        </p:nvSpPr>
        <p:spPr>
          <a:xfrm>
            <a:off x="1097280" y="4343400"/>
            <a:ext cx="7406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90d9"/>
                </a:solidFill>
                <a:latin typeface="Calibri"/>
                <a:ea typeface="Calibri"/>
              </a:rPr>
              <a:t>Tip: reálné zadání nikdy nepřijde jako čistý seznam. Přijde jako rozhovor, e-mail nebo chaotická schůzka.</a:t>
            </a:r>
            <a:endParaRPr b="0" lang="cs-CZ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Trebuchet MS"/>
                <a:ea typeface="Trebuchet MS"/>
              </a:rPr>
              <a:t>Ukázka: podtrhávání v praxi</a:t>
            </a:r>
            <a:endParaRPr b="0" lang="cs-CZ" sz="2800" spc="-1" strike="noStrike"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457200" y="1005840"/>
            <a:ext cx="8229240" cy="1828440"/>
          </a:xfrm>
          <a:prstGeom prst="rect">
            <a:avLst/>
          </a:prstGeom>
          <a:solidFill>
            <a:srgbClr val="f0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2"/>
          <p:cNvSpPr/>
          <p:nvPr/>
        </p:nvSpPr>
        <p:spPr>
          <a:xfrm>
            <a:off x="640080" y="1097280"/>
            <a:ext cx="7863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Potřebuji aplikaci, kde </a:t>
            </a:r>
            <a:r>
              <a:rPr b="1" lang="en-US" sz="1500" spc="-1" strike="noStrike" u="sng">
                <a:solidFill>
                  <a:srgbClr val="4a90d9"/>
                </a:solidFill>
                <a:uFillTx/>
                <a:latin typeface="Calibri"/>
              </a:rPr>
              <a:t>učitel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 může </a:t>
            </a:r>
            <a:r>
              <a:rPr b="1" lang="en-US" sz="1500" spc="-1" strike="noStrike" u="sng">
                <a:solidFill>
                  <a:srgbClr val="2ecc71"/>
                </a:solidFill>
                <a:uFillTx/>
                <a:latin typeface="Calibri"/>
              </a:rPr>
              <a:t>zadat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 </a:t>
            </a:r>
            <a:r>
              <a:rPr b="1" lang="en-US" sz="1500" spc="-1" strike="noStrike" u="sng">
                <a:solidFill>
                  <a:srgbClr val="4a90d9"/>
                </a:solidFill>
                <a:uFillTx/>
                <a:latin typeface="Calibri"/>
              </a:rPr>
              <a:t>domácí úkol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 a </a:t>
            </a:r>
            <a:r>
              <a:rPr b="1" lang="en-US" sz="1500" spc="-1" strike="noStrike" u="sng">
                <a:solidFill>
                  <a:srgbClr val="4a90d9"/>
                </a:solidFill>
                <a:uFillTx/>
                <a:latin typeface="Calibri"/>
              </a:rPr>
              <a:t>žák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 ho </a:t>
            </a:r>
            <a:r>
              <a:rPr b="1" lang="en-US" sz="1500" spc="-1" strike="noStrike" u="sng">
                <a:solidFill>
                  <a:srgbClr val="2ecc71"/>
                </a:solidFill>
                <a:uFillTx/>
                <a:latin typeface="Calibri"/>
              </a:rPr>
              <a:t>odevzdá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 do </a:t>
            </a:r>
            <a:r>
              <a:rPr b="1" lang="en-US" sz="1500" spc="-1" strike="noStrike" u="sng">
                <a:solidFill>
                  <a:srgbClr val="f39c12"/>
                </a:solidFill>
                <a:uFillTx/>
                <a:latin typeface="Calibri"/>
              </a:rPr>
              <a:t>termínu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. Každý </a:t>
            </a:r>
            <a:r>
              <a:rPr b="1" lang="en-US" sz="1500" spc="-1" strike="noStrike" u="sng">
                <a:solidFill>
                  <a:srgbClr val="4a90d9"/>
                </a:solidFill>
                <a:uFillTx/>
                <a:latin typeface="Calibri"/>
              </a:rPr>
              <a:t>úkol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 má </a:t>
            </a:r>
            <a:r>
              <a:rPr b="1" lang="en-US" sz="1500" spc="-1" strike="noStrike" u="sng">
                <a:solidFill>
                  <a:srgbClr val="f39c12"/>
                </a:solidFill>
                <a:uFillTx/>
                <a:latin typeface="Calibri"/>
              </a:rPr>
              <a:t>název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, </a:t>
            </a:r>
            <a:r>
              <a:rPr b="1" lang="en-US" sz="1500" spc="-1" strike="noStrike" u="sng">
                <a:solidFill>
                  <a:srgbClr val="f39c12"/>
                </a:solidFill>
                <a:uFillTx/>
                <a:latin typeface="Calibri"/>
              </a:rPr>
              <a:t>popis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 a </a:t>
            </a:r>
            <a:r>
              <a:rPr b="1" lang="en-US" sz="1500" spc="-1" strike="noStrike" u="sng">
                <a:solidFill>
                  <a:srgbClr val="f96167"/>
                </a:solidFill>
                <a:uFillTx/>
                <a:latin typeface="Calibri"/>
              </a:rPr>
              <a:t>maximální počet bodů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. Učitel </a:t>
            </a:r>
            <a:r>
              <a:rPr b="1" lang="en-US" sz="1500" spc="-1" strike="noStrike" u="sng">
                <a:solidFill>
                  <a:srgbClr val="2ecc71"/>
                </a:solidFill>
                <a:uFillTx/>
                <a:latin typeface="Calibri"/>
              </a:rPr>
              <a:t>hodnotí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 </a:t>
            </a:r>
            <a:r>
              <a:rPr b="1" lang="en-US" sz="1500" spc="-1" strike="noStrike" u="sng">
                <a:solidFill>
                  <a:srgbClr val="4a90d9"/>
                </a:solidFill>
                <a:uFillTx/>
                <a:latin typeface="Calibri"/>
              </a:rPr>
              <a:t>odevzdání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 a přidá </a:t>
            </a:r>
            <a:r>
              <a:rPr b="1" lang="en-US" sz="1500" spc="-1" strike="noStrike" u="sng">
                <a:solidFill>
                  <a:srgbClr val="f39c12"/>
                </a:solidFill>
                <a:uFillTx/>
                <a:latin typeface="Calibri"/>
              </a:rPr>
              <a:t>komentář</a:t>
            </a:r>
            <a:r>
              <a:rPr b="0" lang="en-US" sz="1500" spc="-1" strike="noStrike">
                <a:solidFill>
                  <a:srgbClr val="7f8c9b"/>
                </a:solidFill>
                <a:latin typeface="Calibri"/>
              </a:rPr>
              <a:t>.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457200" y="3017520"/>
            <a:ext cx="228240" cy="22824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4"/>
          <p:cNvSpPr/>
          <p:nvPr/>
        </p:nvSpPr>
        <p:spPr>
          <a:xfrm>
            <a:off x="777240" y="30175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Třídy / data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2560320" y="3017520"/>
            <a:ext cx="228240" cy="228240"/>
          </a:xfrm>
          <a:prstGeom prst="rect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6"/>
          <p:cNvSpPr/>
          <p:nvPr/>
        </p:nvSpPr>
        <p:spPr>
          <a:xfrm>
            <a:off x="2880360" y="30175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Metody / akce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4663440" y="3017520"/>
            <a:ext cx="228240" cy="22824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8"/>
          <p:cNvSpPr/>
          <p:nvPr/>
        </p:nvSpPr>
        <p:spPr>
          <a:xfrm>
            <a:off x="4983480" y="30175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Vlastnosti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6766560" y="3017520"/>
            <a:ext cx="228240" cy="228240"/>
          </a:xfrm>
          <a:prstGeom prst="rect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0"/>
          <p:cNvSpPr/>
          <p:nvPr/>
        </p:nvSpPr>
        <p:spPr>
          <a:xfrm>
            <a:off x="7086600" y="30175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Pravidla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457200" y="34747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Calibri"/>
              </a:rPr>
              <a:t>Výsledek analýzy:</a:t>
            </a:r>
            <a:endParaRPr b="0" lang="cs-CZ" sz="1400" spc="-1" strike="noStrike">
              <a:latin typeface="Arial"/>
            </a:endParaRPr>
          </a:p>
        </p:txBody>
      </p:sp>
      <p:graphicFrame>
        <p:nvGraphicFramePr>
          <p:cNvPr id="96" name="Table 0"/>
          <p:cNvGraphicFramePr/>
          <p:nvPr/>
        </p:nvGraphicFramePr>
        <p:xfrm>
          <a:off x="457200" y="3840480"/>
          <a:ext cx="8229240" cy="10969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Třídy</a:t>
                      </a:r>
                      <a:endParaRPr b="0" lang="cs-CZ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7ef"/>
                      </a:solidFill>
                    </a:lnL>
                    <a:lnR w="6480">
                      <a:solidFill>
                        <a:srgbClr val="e2e7ef"/>
                      </a:solidFill>
                    </a:lnR>
                    <a:lnT w="6480">
                      <a:solidFill>
                        <a:srgbClr val="e2e7ef"/>
                      </a:solidFill>
                    </a:lnT>
                    <a:lnB w="6480">
                      <a:solidFill>
                        <a:srgbClr val="e2e7ef"/>
                      </a:solidFill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Metody</a:t>
                      </a:r>
                      <a:endParaRPr b="0" lang="cs-CZ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7ef"/>
                      </a:solidFill>
                    </a:lnL>
                    <a:lnR w="6480">
                      <a:solidFill>
                        <a:srgbClr val="e2e7ef"/>
                      </a:solidFill>
                    </a:lnR>
                    <a:lnT w="6480">
                      <a:solidFill>
                        <a:srgbClr val="e2e7ef"/>
                      </a:solidFill>
                    </a:lnT>
                    <a:lnB w="6480">
                      <a:solidFill>
                        <a:srgbClr val="e2e7ef"/>
                      </a:solidFill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Vlastnosti</a:t>
                      </a:r>
                      <a:endParaRPr b="0" lang="cs-CZ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7ef"/>
                      </a:solidFill>
                    </a:lnL>
                    <a:lnR w="6480">
                      <a:solidFill>
                        <a:srgbClr val="e2e7ef"/>
                      </a:solidFill>
                    </a:lnR>
                    <a:lnT w="6480">
                      <a:solidFill>
                        <a:srgbClr val="e2e7ef"/>
                      </a:solidFill>
                    </a:lnT>
                    <a:lnB w="6480">
                      <a:solidFill>
                        <a:srgbClr val="e2e7ef"/>
                      </a:solidFill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Pravidla</a:t>
                      </a:r>
                      <a:endParaRPr b="0" lang="cs-CZ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7ef"/>
                      </a:solidFill>
                    </a:lnL>
                    <a:lnR w="6480">
                      <a:solidFill>
                        <a:srgbClr val="e2e7ef"/>
                      </a:solidFill>
                    </a:lnR>
                    <a:lnT w="6480">
                      <a:solidFill>
                        <a:srgbClr val="e2e7ef"/>
                      </a:solidFill>
                    </a:lnT>
                    <a:lnB w="6480">
                      <a:solidFill>
                        <a:srgbClr val="e2e7ef"/>
                      </a:solidFill>
                    </a:lnB>
                    <a:solidFill>
                      <a:srgbClr val="f96167"/>
                    </a:solidFill>
                  </a:tcPr>
                </a:tc>
              </a:tr>
              <a:tr h="777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Učitel</a:t>
                      </a:r>
                      <a:endParaRPr b="0" lang="cs-CZ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Žák</a:t>
                      </a:r>
                      <a:endParaRPr b="0" lang="cs-CZ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Úkol</a:t>
                      </a:r>
                      <a:endParaRPr b="0" lang="cs-CZ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Odevzdání</a:t>
                      </a:r>
                      <a:endParaRPr b="0" lang="cs-CZ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7ef"/>
                      </a:solidFill>
                    </a:lnL>
                    <a:lnR w="6480">
                      <a:solidFill>
                        <a:srgbClr val="e2e7ef"/>
                      </a:solidFill>
                    </a:lnR>
                    <a:lnT w="6480">
                      <a:solidFill>
                        <a:srgbClr val="e2e7ef"/>
                      </a:solidFill>
                    </a:lnT>
                    <a:lnB w="6480">
                      <a:solidFill>
                        <a:srgbClr val="e2e7ef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Zadat úkol</a:t>
                      </a:r>
                      <a:endParaRPr b="0" lang="cs-CZ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Odevzdat</a:t>
                      </a:r>
                      <a:endParaRPr b="0" lang="cs-CZ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Hodnotit</a:t>
                      </a:r>
                      <a:endParaRPr b="0" lang="cs-CZ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7ef"/>
                      </a:solidFill>
                    </a:lnL>
                    <a:lnR w="6480">
                      <a:solidFill>
                        <a:srgbClr val="e2e7ef"/>
                      </a:solidFill>
                    </a:lnR>
                    <a:lnT w="6480">
                      <a:solidFill>
                        <a:srgbClr val="e2e7ef"/>
                      </a:solidFill>
                    </a:lnT>
                    <a:lnB w="6480">
                      <a:solidFill>
                        <a:srgbClr val="e2e7ef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Název</a:t>
                      </a:r>
                      <a:endParaRPr b="0" lang="cs-CZ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Popis</a:t>
                      </a:r>
                      <a:endParaRPr b="0" lang="cs-CZ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Termín</a:t>
                      </a:r>
                      <a:endParaRPr b="0" lang="cs-CZ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Komentář</a:t>
                      </a:r>
                      <a:endParaRPr b="0" lang="cs-CZ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7ef"/>
                      </a:solidFill>
                    </a:lnL>
                    <a:lnR w="6480">
                      <a:solidFill>
                        <a:srgbClr val="e2e7ef"/>
                      </a:solidFill>
                    </a:lnR>
                    <a:lnT w="6480">
                      <a:solidFill>
                        <a:srgbClr val="e2e7ef"/>
                      </a:solidFill>
                    </a:lnT>
                    <a:lnB w="6480">
                      <a:solidFill>
                        <a:srgbClr val="e2e7ef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Max. počet bodů</a:t>
                      </a:r>
                      <a:endParaRPr b="0" lang="cs-CZ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Do termínu</a:t>
                      </a:r>
                      <a:endParaRPr b="0" lang="cs-CZ" sz="11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7ef"/>
                      </a:solidFill>
                    </a:lnL>
                    <a:lnR w="6480">
                      <a:solidFill>
                        <a:srgbClr val="e2e7ef"/>
                      </a:solidFill>
                    </a:lnR>
                    <a:lnT w="6480">
                      <a:solidFill>
                        <a:srgbClr val="e2e7ef"/>
                      </a:solidFill>
                    </a:lnT>
                    <a:lnB w="6480">
                      <a:solidFill>
                        <a:srgbClr val="e2e7e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Trebuchet MS"/>
                <a:ea typeface="Trebuchet MS"/>
              </a:rPr>
              <a:t>Dekompozice shora dolů</a:t>
            </a:r>
            <a:endParaRPr b="0" lang="cs-CZ" sz="2800" spc="-1" strike="noStrike"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f8c9b"/>
                </a:solidFill>
                <a:latin typeface="Calibri"/>
                <a:ea typeface="Calibri"/>
              </a:rPr>
              <a:t>Od celku k částem – nejprve identifikuji hlavní bloky, pak řeším detaily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2743200" y="1371600"/>
            <a:ext cx="3657240" cy="5482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3"/>
          <p:cNvSpPr/>
          <p:nvPr/>
        </p:nvSpPr>
        <p:spPr>
          <a:xfrm>
            <a:off x="2743200" y="137160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Aplikace</a:t>
            </a:r>
            <a:endParaRPr b="0" lang="cs-CZ" sz="1600" spc="-1" strike="noStrike"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457200" y="2377440"/>
            <a:ext cx="2285640" cy="8226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5"/>
          <p:cNvSpPr/>
          <p:nvPr/>
        </p:nvSpPr>
        <p:spPr>
          <a:xfrm>
            <a:off x="457200" y="23774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UI vrstva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457200" y="27889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formuláře, komponenty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3429000" y="2377440"/>
            <a:ext cx="2285640" cy="8226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8"/>
          <p:cNvSpPr/>
          <p:nvPr/>
        </p:nvSpPr>
        <p:spPr>
          <a:xfrm>
            <a:off x="3429000" y="23774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Logika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3429000" y="27889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třídy, metody, výpočty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07" name="Shape 10"/>
          <p:cNvSpPr/>
          <p:nvPr/>
        </p:nvSpPr>
        <p:spPr>
          <a:xfrm>
            <a:off x="6400800" y="2377440"/>
            <a:ext cx="2285640" cy="8226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1"/>
          <p:cNvSpPr/>
          <p:nvPr/>
        </p:nvSpPr>
        <p:spPr>
          <a:xfrm>
            <a:off x="6400800" y="237744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Data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6400800" y="27889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soubory, kolekce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10" name="Shape 13"/>
          <p:cNvSpPr/>
          <p:nvPr/>
        </p:nvSpPr>
        <p:spPr>
          <a:xfrm>
            <a:off x="4572000" y="1920240"/>
            <a:ext cx="360" cy="457200"/>
          </a:xfrm>
          <a:prstGeom prst="line">
            <a:avLst/>
          </a:prstGeom>
          <a:ln w="1905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hape 14"/>
          <p:cNvSpPr/>
          <p:nvPr/>
        </p:nvSpPr>
        <p:spPr>
          <a:xfrm>
            <a:off x="1600200" y="2148840"/>
            <a:ext cx="2971800" cy="360"/>
          </a:xfrm>
          <a:prstGeom prst="line">
            <a:avLst/>
          </a:prstGeom>
          <a:ln w="1905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hape 15"/>
          <p:cNvSpPr/>
          <p:nvPr/>
        </p:nvSpPr>
        <p:spPr>
          <a:xfrm>
            <a:off x="1600200" y="2148840"/>
            <a:ext cx="360" cy="228600"/>
          </a:xfrm>
          <a:prstGeom prst="line">
            <a:avLst/>
          </a:prstGeom>
          <a:ln w="1905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Shape 16"/>
          <p:cNvSpPr/>
          <p:nvPr/>
        </p:nvSpPr>
        <p:spPr>
          <a:xfrm>
            <a:off x="4572000" y="2148840"/>
            <a:ext cx="2971800" cy="360"/>
          </a:xfrm>
          <a:prstGeom prst="line">
            <a:avLst/>
          </a:prstGeom>
          <a:ln w="1905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17"/>
          <p:cNvSpPr/>
          <p:nvPr/>
        </p:nvSpPr>
        <p:spPr>
          <a:xfrm>
            <a:off x="7543800" y="2148840"/>
            <a:ext cx="360" cy="228600"/>
          </a:xfrm>
          <a:prstGeom prst="line">
            <a:avLst/>
          </a:prstGeom>
          <a:ln w="1905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Shape 18"/>
          <p:cNvSpPr/>
          <p:nvPr/>
        </p:nvSpPr>
        <p:spPr>
          <a:xfrm>
            <a:off x="2286000" y="3657600"/>
            <a:ext cx="1737000" cy="502560"/>
          </a:xfrm>
          <a:prstGeom prst="rect">
            <a:avLst/>
          </a:prstGeom>
          <a:solidFill>
            <a:srgbClr val="f0f3f8"/>
          </a:solidFill>
          <a:ln w="6350">
            <a:solidFill>
              <a:srgbClr val="e2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9"/>
          <p:cNvSpPr/>
          <p:nvPr/>
        </p:nvSpPr>
        <p:spPr>
          <a:xfrm>
            <a:off x="228600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Třída Úkol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117" name="Shape 20"/>
          <p:cNvSpPr/>
          <p:nvPr/>
        </p:nvSpPr>
        <p:spPr>
          <a:xfrm>
            <a:off x="4251960" y="3657600"/>
            <a:ext cx="1737000" cy="502560"/>
          </a:xfrm>
          <a:prstGeom prst="rect">
            <a:avLst/>
          </a:prstGeom>
          <a:solidFill>
            <a:srgbClr val="f0f3f8"/>
          </a:solidFill>
          <a:ln w="6350">
            <a:solidFill>
              <a:srgbClr val="e2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21"/>
          <p:cNvSpPr/>
          <p:nvPr/>
        </p:nvSpPr>
        <p:spPr>
          <a:xfrm>
            <a:off x="425196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Třída Učitel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119" name="Shape 22"/>
          <p:cNvSpPr/>
          <p:nvPr/>
        </p:nvSpPr>
        <p:spPr>
          <a:xfrm>
            <a:off x="6217920" y="3657600"/>
            <a:ext cx="1737000" cy="502560"/>
          </a:xfrm>
          <a:prstGeom prst="rect">
            <a:avLst/>
          </a:prstGeom>
          <a:solidFill>
            <a:srgbClr val="f0f3f8"/>
          </a:solidFill>
          <a:ln w="6350">
            <a:solidFill>
              <a:srgbClr val="e2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23"/>
          <p:cNvSpPr/>
          <p:nvPr/>
        </p:nvSpPr>
        <p:spPr>
          <a:xfrm>
            <a:off x="621792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Třída Žák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121" name="Shape 24"/>
          <p:cNvSpPr/>
          <p:nvPr/>
        </p:nvSpPr>
        <p:spPr>
          <a:xfrm>
            <a:off x="4572000" y="3200400"/>
            <a:ext cx="360" cy="457200"/>
          </a:xfrm>
          <a:prstGeom prst="line">
            <a:avLst/>
          </a:prstGeom>
          <a:ln w="1270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25"/>
          <p:cNvSpPr/>
          <p:nvPr/>
        </p:nvSpPr>
        <p:spPr>
          <a:xfrm>
            <a:off x="3154680" y="3429000"/>
            <a:ext cx="1965960" cy="360"/>
          </a:xfrm>
          <a:prstGeom prst="line">
            <a:avLst/>
          </a:prstGeom>
          <a:ln w="1270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26"/>
          <p:cNvSpPr/>
          <p:nvPr/>
        </p:nvSpPr>
        <p:spPr>
          <a:xfrm>
            <a:off x="3154680" y="3429000"/>
            <a:ext cx="360" cy="228600"/>
          </a:xfrm>
          <a:prstGeom prst="line">
            <a:avLst/>
          </a:prstGeom>
          <a:ln w="1270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27"/>
          <p:cNvSpPr/>
          <p:nvPr/>
        </p:nvSpPr>
        <p:spPr>
          <a:xfrm>
            <a:off x="5120640" y="3429000"/>
            <a:ext cx="1920240" cy="360"/>
          </a:xfrm>
          <a:prstGeom prst="line">
            <a:avLst/>
          </a:prstGeom>
          <a:ln w="1270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28"/>
          <p:cNvSpPr/>
          <p:nvPr/>
        </p:nvSpPr>
        <p:spPr>
          <a:xfrm>
            <a:off x="7040880" y="3429000"/>
            <a:ext cx="360" cy="228600"/>
          </a:xfrm>
          <a:prstGeom prst="line">
            <a:avLst/>
          </a:prstGeom>
          <a:ln w="1270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9"/>
          <p:cNvSpPr/>
          <p:nvPr/>
        </p:nvSpPr>
        <p:spPr>
          <a:xfrm>
            <a:off x="457200" y="4480560"/>
            <a:ext cx="8229240" cy="502560"/>
          </a:xfrm>
          <a:prstGeom prst="rect">
            <a:avLst/>
          </a:prstGeom>
          <a:solidFill>
            <a:srgbClr val="ebf3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7" name="Image 0" descr="preencoded.png"/>
          <p:cNvPicPr/>
          <p:nvPr/>
        </p:nvPicPr>
        <p:blipFill>
          <a:blip r:embed="rId1"/>
          <a:stretch/>
        </p:blipFill>
        <p:spPr>
          <a:xfrm>
            <a:off x="594360" y="453528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128" name="Text 30"/>
          <p:cNvSpPr/>
          <p:nvPr/>
        </p:nvSpPr>
        <p:spPr>
          <a:xfrm>
            <a:off x="1051560" y="448056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a90d9"/>
                </a:solidFill>
                <a:latin typeface="Calibri"/>
                <a:ea typeface="Calibri"/>
              </a:rPr>
              <a:t>Pravidlo: pokud neumím popsat funkci bloku jednou větou, je příliš velký – rozlož ho dál.</a:t>
            </a:r>
            <a:endParaRPr b="0" lang="cs-CZ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Trebuchet MS"/>
                <a:ea typeface="Trebuchet MS"/>
              </a:rPr>
              <a:t>Sdružování zdola nahoru</a:t>
            </a:r>
            <a:endParaRPr b="0" lang="cs-CZ" sz="2800" spc="-1" strike="noStrike"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f8c9b"/>
                </a:solidFill>
                <a:latin typeface="Calibri"/>
                <a:ea typeface="Calibri"/>
              </a:rPr>
              <a:t>Od detailů k celku – identifikuji malé funkce a skládám je do větších celků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274320" y="3657600"/>
            <a:ext cx="1371240" cy="456840"/>
          </a:xfrm>
          <a:prstGeom prst="rect">
            <a:avLst/>
          </a:prstGeom>
          <a:solidFill>
            <a:srgbClr val="f0f3f8"/>
          </a:solidFill>
          <a:ln w="6350">
            <a:solidFill>
              <a:srgbClr val="e2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3"/>
          <p:cNvSpPr/>
          <p:nvPr/>
        </p:nvSpPr>
        <p:spPr>
          <a:xfrm>
            <a:off x="274320" y="36576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nsolas"/>
                <a:ea typeface="Consolas"/>
              </a:rPr>
              <a:t>NačtiSoubor()</a:t>
            </a:r>
            <a:endParaRPr b="0" lang="cs-CZ" sz="1000" spc="-1" strike="noStrike"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1783080" y="3657600"/>
            <a:ext cx="1371240" cy="456840"/>
          </a:xfrm>
          <a:prstGeom prst="rect">
            <a:avLst/>
          </a:prstGeom>
          <a:solidFill>
            <a:srgbClr val="f0f3f8"/>
          </a:solidFill>
          <a:ln w="6350">
            <a:solidFill>
              <a:srgbClr val="e2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5"/>
          <p:cNvSpPr/>
          <p:nvPr/>
        </p:nvSpPr>
        <p:spPr>
          <a:xfrm>
            <a:off x="1783080" y="36576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nsolas"/>
                <a:ea typeface="Consolas"/>
              </a:rPr>
              <a:t>UložSoubor()</a:t>
            </a:r>
            <a:endParaRPr b="0" lang="cs-CZ" sz="1000" spc="-1" strike="noStrike"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3291840" y="3657600"/>
            <a:ext cx="1371240" cy="456840"/>
          </a:xfrm>
          <a:prstGeom prst="rect">
            <a:avLst/>
          </a:prstGeom>
          <a:solidFill>
            <a:srgbClr val="f0f3f8"/>
          </a:solidFill>
          <a:ln w="6350">
            <a:solidFill>
              <a:srgbClr val="e2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7"/>
          <p:cNvSpPr/>
          <p:nvPr/>
        </p:nvSpPr>
        <p:spPr>
          <a:xfrm>
            <a:off x="3291840" y="36576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nsolas"/>
                <a:ea typeface="Consolas"/>
              </a:rPr>
              <a:t>PřidejÚkol()</a:t>
            </a:r>
            <a:endParaRPr b="0" lang="cs-CZ" sz="1000" spc="-1" strike="noStrike"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4800600" y="3657600"/>
            <a:ext cx="1371240" cy="456840"/>
          </a:xfrm>
          <a:prstGeom prst="rect">
            <a:avLst/>
          </a:prstGeom>
          <a:solidFill>
            <a:srgbClr val="f0f3f8"/>
          </a:solidFill>
          <a:ln w="6350">
            <a:solidFill>
              <a:srgbClr val="e2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9"/>
          <p:cNvSpPr/>
          <p:nvPr/>
        </p:nvSpPr>
        <p:spPr>
          <a:xfrm>
            <a:off x="4800600" y="36576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nsolas"/>
                <a:ea typeface="Consolas"/>
              </a:rPr>
              <a:t>SmazÚkol()</a:t>
            </a:r>
            <a:endParaRPr b="0" lang="cs-CZ" sz="1000" spc="-1" strike="noStrike"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6309360" y="3657600"/>
            <a:ext cx="1371240" cy="456840"/>
          </a:xfrm>
          <a:prstGeom prst="rect">
            <a:avLst/>
          </a:prstGeom>
          <a:solidFill>
            <a:srgbClr val="f0f3f8"/>
          </a:solidFill>
          <a:ln w="6350">
            <a:solidFill>
              <a:srgbClr val="e2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11"/>
          <p:cNvSpPr/>
          <p:nvPr/>
        </p:nvSpPr>
        <p:spPr>
          <a:xfrm>
            <a:off x="6309360" y="36576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nsolas"/>
                <a:ea typeface="Consolas"/>
              </a:rPr>
              <a:t>VypočítejPrůměr()</a:t>
            </a:r>
            <a:endParaRPr b="0" lang="cs-CZ" sz="1000" spc="-1" strike="noStrike"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7818120" y="3657600"/>
            <a:ext cx="1371240" cy="456840"/>
          </a:xfrm>
          <a:prstGeom prst="rect">
            <a:avLst/>
          </a:prstGeom>
          <a:solidFill>
            <a:srgbClr val="f0f3f8"/>
          </a:solidFill>
          <a:ln w="6350">
            <a:solidFill>
              <a:srgbClr val="e2e7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3"/>
          <p:cNvSpPr/>
          <p:nvPr/>
        </p:nvSpPr>
        <p:spPr>
          <a:xfrm>
            <a:off x="7818120" y="36576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nsolas"/>
                <a:ea typeface="Consolas"/>
              </a:rPr>
              <a:t>ZobrazTabulku()</a:t>
            </a:r>
            <a:endParaRPr b="0" lang="cs-CZ" sz="1000" spc="-1" strike="noStrike">
              <a:latin typeface="Arial"/>
            </a:endParaRPr>
          </a:p>
        </p:txBody>
      </p:sp>
      <p:sp>
        <p:nvSpPr>
          <p:cNvPr id="143" name="Shape 14"/>
          <p:cNvSpPr/>
          <p:nvPr/>
        </p:nvSpPr>
        <p:spPr>
          <a:xfrm>
            <a:off x="640080" y="2560320"/>
            <a:ext cx="2559960" cy="54828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5"/>
          <p:cNvSpPr/>
          <p:nvPr/>
        </p:nvSpPr>
        <p:spPr>
          <a:xfrm>
            <a:off x="640080" y="256032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Správa souborů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145" name="Shape 16"/>
          <p:cNvSpPr/>
          <p:nvPr/>
        </p:nvSpPr>
        <p:spPr>
          <a:xfrm>
            <a:off x="3474720" y="2560320"/>
            <a:ext cx="2559960" cy="548280"/>
          </a:xfrm>
          <a:prstGeom prst="rect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7"/>
          <p:cNvSpPr/>
          <p:nvPr/>
        </p:nvSpPr>
        <p:spPr>
          <a:xfrm>
            <a:off x="3474720" y="256032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Správa úkolů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147" name="Shape 18"/>
          <p:cNvSpPr/>
          <p:nvPr/>
        </p:nvSpPr>
        <p:spPr>
          <a:xfrm>
            <a:off x="6309360" y="2560320"/>
            <a:ext cx="2285640" cy="5482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9"/>
          <p:cNvSpPr/>
          <p:nvPr/>
        </p:nvSpPr>
        <p:spPr>
          <a:xfrm>
            <a:off x="6309360" y="25603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Zobrazení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149" name="Shape 20"/>
          <p:cNvSpPr/>
          <p:nvPr/>
        </p:nvSpPr>
        <p:spPr>
          <a:xfrm>
            <a:off x="2743200" y="1371600"/>
            <a:ext cx="3657240" cy="594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1"/>
          <p:cNvSpPr/>
          <p:nvPr/>
        </p:nvSpPr>
        <p:spPr>
          <a:xfrm>
            <a:off x="2743200" y="137160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Aplikace pro správu úkolů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151" name="Shape 22"/>
          <p:cNvSpPr/>
          <p:nvPr/>
        </p:nvSpPr>
        <p:spPr>
          <a:xfrm>
            <a:off x="960120" y="3246120"/>
            <a:ext cx="360" cy="411480"/>
          </a:xfrm>
          <a:prstGeom prst="line">
            <a:avLst/>
          </a:prstGeom>
          <a:ln w="12700">
            <a:solidFill>
              <a:srgbClr val="8b9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23"/>
          <p:cNvSpPr/>
          <p:nvPr/>
        </p:nvSpPr>
        <p:spPr>
          <a:xfrm>
            <a:off x="2468880" y="3246120"/>
            <a:ext cx="360" cy="411480"/>
          </a:xfrm>
          <a:prstGeom prst="line">
            <a:avLst/>
          </a:prstGeom>
          <a:ln w="12700">
            <a:solidFill>
              <a:srgbClr val="8b9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Shape 24"/>
          <p:cNvSpPr/>
          <p:nvPr/>
        </p:nvSpPr>
        <p:spPr>
          <a:xfrm>
            <a:off x="3977640" y="3246120"/>
            <a:ext cx="360" cy="411480"/>
          </a:xfrm>
          <a:prstGeom prst="line">
            <a:avLst/>
          </a:prstGeom>
          <a:ln w="12700">
            <a:solidFill>
              <a:srgbClr val="8b9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25"/>
          <p:cNvSpPr/>
          <p:nvPr/>
        </p:nvSpPr>
        <p:spPr>
          <a:xfrm>
            <a:off x="5486400" y="3246120"/>
            <a:ext cx="360" cy="411480"/>
          </a:xfrm>
          <a:prstGeom prst="line">
            <a:avLst/>
          </a:prstGeom>
          <a:ln w="12700">
            <a:solidFill>
              <a:srgbClr val="8b9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26"/>
          <p:cNvSpPr/>
          <p:nvPr/>
        </p:nvSpPr>
        <p:spPr>
          <a:xfrm>
            <a:off x="6995160" y="3246120"/>
            <a:ext cx="360" cy="411480"/>
          </a:xfrm>
          <a:prstGeom prst="line">
            <a:avLst/>
          </a:prstGeom>
          <a:ln w="12700">
            <a:solidFill>
              <a:srgbClr val="8b9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Shape 27"/>
          <p:cNvSpPr/>
          <p:nvPr/>
        </p:nvSpPr>
        <p:spPr>
          <a:xfrm>
            <a:off x="8503920" y="3246120"/>
            <a:ext cx="360" cy="411480"/>
          </a:xfrm>
          <a:prstGeom prst="line">
            <a:avLst/>
          </a:prstGeom>
          <a:ln w="12700">
            <a:solidFill>
              <a:srgbClr val="8b95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Shape 28"/>
          <p:cNvSpPr/>
          <p:nvPr/>
        </p:nvSpPr>
        <p:spPr>
          <a:xfrm>
            <a:off x="1920240" y="2103120"/>
            <a:ext cx="360" cy="457200"/>
          </a:xfrm>
          <a:prstGeom prst="line">
            <a:avLst/>
          </a:prstGeom>
          <a:ln w="1905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hape 29"/>
          <p:cNvSpPr/>
          <p:nvPr/>
        </p:nvSpPr>
        <p:spPr>
          <a:xfrm>
            <a:off x="4754880" y="2103120"/>
            <a:ext cx="360" cy="457200"/>
          </a:xfrm>
          <a:prstGeom prst="line">
            <a:avLst/>
          </a:prstGeom>
          <a:ln w="1905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30"/>
          <p:cNvSpPr/>
          <p:nvPr/>
        </p:nvSpPr>
        <p:spPr>
          <a:xfrm>
            <a:off x="7452360" y="2103120"/>
            <a:ext cx="360" cy="457200"/>
          </a:xfrm>
          <a:prstGeom prst="line">
            <a:avLst/>
          </a:prstGeom>
          <a:ln w="19050">
            <a:solidFill>
              <a:srgbClr val="8b9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31"/>
          <p:cNvSpPr/>
          <p:nvPr/>
        </p:nvSpPr>
        <p:spPr>
          <a:xfrm>
            <a:off x="457200" y="4434840"/>
            <a:ext cx="3931560" cy="502560"/>
          </a:xfrm>
          <a:prstGeom prst="rect">
            <a:avLst/>
          </a:prstGeom>
          <a:solidFill>
            <a:srgbClr val="ebf3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32"/>
          <p:cNvSpPr/>
          <p:nvPr/>
        </p:nvSpPr>
        <p:spPr>
          <a:xfrm>
            <a:off x="457200" y="443484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a90d9"/>
                </a:solidFill>
                <a:latin typeface="Calibri"/>
                <a:ea typeface="Calibri"/>
              </a:rPr>
              <a:t>Shora dolů = co potřebuji?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162" name="Shape 33"/>
          <p:cNvSpPr/>
          <p:nvPr/>
        </p:nvSpPr>
        <p:spPr>
          <a:xfrm>
            <a:off x="4754880" y="4434840"/>
            <a:ext cx="3931560" cy="502560"/>
          </a:xfrm>
          <a:prstGeom prst="rect">
            <a:avLst/>
          </a:prstGeom>
          <a:solidFill>
            <a:srgbClr val="fff8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34"/>
          <p:cNvSpPr/>
          <p:nvPr/>
        </p:nvSpPr>
        <p:spPr>
          <a:xfrm>
            <a:off x="4754880" y="443484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39c12"/>
                </a:solidFill>
                <a:latin typeface="Calibri"/>
                <a:ea typeface="Calibri"/>
              </a:rPr>
              <a:t>Zdola nahoru = co už umím udělat?</a:t>
            </a:r>
            <a:endParaRPr b="0" lang="cs-CZ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Trebuchet MS"/>
                <a:ea typeface="Trebuchet MS"/>
              </a:rPr>
              <a:t>Pravidla dobré dekompozice</a:t>
            </a:r>
            <a:endParaRPr b="0" lang="cs-CZ" sz="2800" spc="-1" strike="noStrike"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548640" y="111564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Image 0" descr="preencoded.png"/>
          <p:cNvPicPr/>
          <p:nvPr/>
        </p:nvPicPr>
        <p:blipFill>
          <a:blip r:embed="rId1"/>
          <a:stretch/>
        </p:blipFill>
        <p:spPr>
          <a:xfrm>
            <a:off x="621720" y="11797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67" name="Text 2"/>
          <p:cNvSpPr/>
          <p:nvPr/>
        </p:nvSpPr>
        <p:spPr>
          <a:xfrm>
            <a:off x="1234440" y="10515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Jedna věc = jeden blok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1234440" y="137160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Každá třída/metoda dělá jednu věc a dělá ji dobře.</a:t>
            </a:r>
            <a:endParaRPr b="0" lang="cs-CZ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Pokud popis obsahuje slovo a zároveň, je to příliš.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548640" y="207576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0" name="Image 1" descr="preencoded.png"/>
          <p:cNvPicPr/>
          <p:nvPr/>
        </p:nvPicPr>
        <p:blipFill>
          <a:blip r:embed="rId2"/>
          <a:stretch/>
        </p:blipFill>
        <p:spPr>
          <a:xfrm>
            <a:off x="621720" y="21398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71" name="Text 5"/>
          <p:cNvSpPr/>
          <p:nvPr/>
        </p:nvSpPr>
        <p:spPr>
          <a:xfrm>
            <a:off x="1234440" y="2011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Nezávislost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1234440" y="23317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Změna v jednom bloku nesmí rozbít ostatní.</a:t>
            </a:r>
            <a:endParaRPr b="0" lang="cs-CZ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Bloky komunikují přes jasně definované rozhraní.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548640" y="303588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4" name="Image 2" descr="preencoded.png"/>
          <p:cNvPicPr/>
          <p:nvPr/>
        </p:nvPicPr>
        <p:blipFill>
          <a:blip r:embed="rId3"/>
          <a:stretch/>
        </p:blipFill>
        <p:spPr>
          <a:xfrm>
            <a:off x="621720" y="30999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75" name="Text 8"/>
          <p:cNvSpPr/>
          <p:nvPr/>
        </p:nvSpPr>
        <p:spPr>
          <a:xfrm>
            <a:off x="1234440" y="29718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Správná úroveň detailu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1234440" y="329184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Na nejvyšší úrovni: aplikace má 3 části.</a:t>
            </a:r>
            <a:endParaRPr b="0" lang="cs-CZ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Na nejnižší: metoda přijímá string a vrací int.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548640" y="399600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8" name="Image 3" descr="preencoded.png"/>
          <p:cNvPicPr/>
          <p:nvPr/>
        </p:nvPicPr>
        <p:blipFill>
          <a:blip r:embed="rId4"/>
          <a:stretch/>
        </p:blipFill>
        <p:spPr>
          <a:xfrm>
            <a:off x="621720" y="40600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79" name="Text 11"/>
          <p:cNvSpPr/>
          <p:nvPr/>
        </p:nvSpPr>
        <p:spPr>
          <a:xfrm>
            <a:off x="1234440" y="39319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Testovatelnost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1234440" y="42519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Pokud blok umím otestovat samostatně,</a:t>
            </a:r>
            <a:endParaRPr b="0" lang="cs-CZ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je správně oddělený od ostatních.</a:t>
            </a:r>
            <a:endParaRPr b="0" lang="cs-CZ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Image 0" descr="preencoded.png"/>
          <p:cNvPicPr/>
          <p:nvPr/>
        </p:nvPicPr>
        <p:blipFill>
          <a:blip r:embed="rId1"/>
          <a:stretch/>
        </p:blipFill>
        <p:spPr>
          <a:xfrm>
            <a:off x="3931920" y="914400"/>
            <a:ext cx="1096920" cy="1096920"/>
          </a:xfrm>
          <a:prstGeom prst="rect">
            <a:avLst/>
          </a:prstGeom>
          <a:ln w="0">
            <a:noFill/>
          </a:ln>
        </p:spPr>
      </p:pic>
      <p:sp>
        <p:nvSpPr>
          <p:cNvPr id="182" name="Text 0"/>
          <p:cNvSpPr/>
          <p:nvPr/>
        </p:nvSpPr>
        <p:spPr>
          <a:xfrm>
            <a:off x="457200" y="21945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Praktická úloha</a:t>
            </a:r>
            <a:endParaRPr b="0" lang="cs-CZ" sz="3600" spc="-1" strike="noStrike"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1371600" y="2926080"/>
            <a:ext cx="6400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Analyzujte přepis rozhovoru s klientem</a:t>
            </a:r>
            <a:endParaRPr b="0" lang="cs-CZ" sz="1600" spc="-1" strike="noStrike">
              <a:latin typeface="Arial"/>
            </a:endParaRPr>
          </a:p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a navrhněte řešení aplikace</a:t>
            </a:r>
            <a:endParaRPr b="0" lang="cs-CZ" sz="1600" spc="-1" strike="noStrike"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2286000" y="3931920"/>
            <a:ext cx="4571640" cy="456840"/>
          </a:xfrm>
          <a:prstGeom prst="rect">
            <a:avLst/>
          </a:prstGeom>
          <a:solidFill>
            <a:srgbClr val="0f1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3"/>
          <p:cNvSpPr/>
          <p:nvPr/>
        </p:nvSpPr>
        <p:spPr>
          <a:xfrm>
            <a:off x="2286000" y="39319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b95a5"/>
                </a:solidFill>
                <a:latin typeface="Calibri"/>
                <a:ea typeface="Calibri"/>
              </a:rPr>
              <a:t>Práce ve skupinách po 2–3 žácích  |  Na papíře</a:t>
            </a:r>
            <a:endParaRPr b="0" lang="cs-CZ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457200" y="1828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Trebuchet MS"/>
                <a:ea typeface="Trebuchet MS"/>
              </a:rPr>
              <a:t>Přepis rozhovoru s klientem (1/2)</a:t>
            </a:r>
            <a:endParaRPr b="0" lang="cs-CZ" sz="2200" spc="-1" strike="noStrike">
              <a:latin typeface="Arial"/>
            </a:endParaRPr>
          </a:p>
        </p:txBody>
      </p:sp>
      <p:sp>
        <p:nvSpPr>
          <p:cNvPr id="187" name="Shape 1"/>
          <p:cNvSpPr/>
          <p:nvPr/>
        </p:nvSpPr>
        <p:spPr>
          <a:xfrm>
            <a:off x="457200" y="685800"/>
            <a:ext cx="72720" cy="77688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2"/>
          <p:cNvSpPr/>
          <p:nvPr/>
        </p:nvSpPr>
        <p:spPr>
          <a:xfrm>
            <a:off x="685800" y="685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Klient: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685800" y="9144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Dobrý den, jsem trenér v malém fitness centru. Potřeboval bych aplikaci na evidenci členů a jejich tréninků. Máme asi 80 aktivních členů.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457200" y="1536120"/>
            <a:ext cx="72720" cy="776880"/>
          </a:xfrm>
          <a:prstGeom prst="rect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5"/>
          <p:cNvSpPr/>
          <p:nvPr/>
        </p:nvSpPr>
        <p:spPr>
          <a:xfrm>
            <a:off x="685800" y="15361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ecc71"/>
                </a:solidFill>
                <a:latin typeface="Calibri"/>
                <a:ea typeface="Calibri"/>
              </a:rPr>
              <a:t>Vy: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685800" y="176472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Rozumím. Co přesně si pod tím představujete? Jaké informace o členech potřebujete evidovat?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457200" y="2386440"/>
            <a:ext cx="72720" cy="95976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8"/>
          <p:cNvSpPr/>
          <p:nvPr/>
        </p:nvSpPr>
        <p:spPr>
          <a:xfrm>
            <a:off x="685800" y="23864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Klient: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685800" y="261504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Tak hlavně jméno, příjmení, telefon, e-mail a datum registrace. A taky typ členství – máme tři druhy: základní, premium a roční. Každý má jinou měsíční cenu a jiný počet vstupů za měsíc.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457200" y="3420000"/>
            <a:ext cx="72720" cy="776880"/>
          </a:xfrm>
          <a:prstGeom prst="rect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1"/>
          <p:cNvSpPr/>
          <p:nvPr/>
        </p:nvSpPr>
        <p:spPr>
          <a:xfrm>
            <a:off x="685800" y="3420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ecc71"/>
                </a:solidFill>
                <a:latin typeface="Calibri"/>
                <a:ea typeface="Calibri"/>
              </a:rPr>
              <a:t>Vy: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685800" y="36486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A co ty tréninky?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457200" y="4270320"/>
            <a:ext cx="72720" cy="95976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4"/>
          <p:cNvSpPr/>
          <p:nvPr/>
        </p:nvSpPr>
        <p:spPr>
          <a:xfrm>
            <a:off x="685800" y="4270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Klient: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685800" y="449892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To je vlastně to hlavní. Každý člen si může zarezervovat trénink. Trénink má datum, čas začátku, typ – jako silový, kardio, skupinový, individuální... A taky kdo ho vede, protože máme tři trenéry a každý se specializuje na něco jiného.</a:t>
            </a:r>
            <a:endParaRPr b="0" lang="cs-CZ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457200" y="1828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Trebuchet MS"/>
                <a:ea typeface="Trebuchet MS"/>
              </a:rPr>
              <a:t>Přepis rozhovoru s klientem (2/2)</a:t>
            </a:r>
            <a:endParaRPr b="0" lang="cs-CZ" sz="2200" spc="-1" strike="noStrike"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>
            <a:off x="457200" y="685800"/>
            <a:ext cx="72720" cy="776880"/>
          </a:xfrm>
          <a:prstGeom prst="rect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"/>
          <p:cNvSpPr/>
          <p:nvPr/>
        </p:nvSpPr>
        <p:spPr>
          <a:xfrm>
            <a:off x="685800" y="685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ecc71"/>
                </a:solidFill>
                <a:latin typeface="Calibri"/>
                <a:ea typeface="Calibri"/>
              </a:rPr>
              <a:t>Vy: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685800" y="9144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Kolik lidí může být na jednom tréninku?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457200" y="1536120"/>
            <a:ext cx="72720" cy="95976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5"/>
          <p:cNvSpPr/>
          <p:nvPr/>
        </p:nvSpPr>
        <p:spPr>
          <a:xfrm>
            <a:off x="685800" y="15361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Klient: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685800" y="176472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Záleží na typu. Individuální je 1 na 1 s trenérem, skupinový max 12 lidí. Jo a ještě – když má člen základní členství, může mít jen 8 vstupů za měsíc. Premium má neomezené. Roční taky neomezené, ale platí jednorázově na rok.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457200" y="2569320"/>
            <a:ext cx="72720" cy="776880"/>
          </a:xfrm>
          <a:prstGeom prst="rect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8"/>
          <p:cNvSpPr/>
          <p:nvPr/>
        </p:nvSpPr>
        <p:spPr>
          <a:xfrm>
            <a:off x="685800" y="2569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ecc71"/>
                </a:solidFill>
                <a:latin typeface="Calibri"/>
                <a:ea typeface="Calibri"/>
              </a:rPr>
              <a:t>Vy: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685800" y="279792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Potřebujete ještě něco dalšího?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12" name="Shape 10"/>
          <p:cNvSpPr/>
          <p:nvPr/>
        </p:nvSpPr>
        <p:spPr>
          <a:xfrm>
            <a:off x="457200" y="3420000"/>
            <a:ext cx="72720" cy="95976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1"/>
          <p:cNvSpPr/>
          <p:nvPr/>
        </p:nvSpPr>
        <p:spPr>
          <a:xfrm>
            <a:off x="685800" y="3420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Klient: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685800" y="364860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Chtěl bych vidět přehled – kolik tréninků každý člen absolvoval za měsíc, kolik mu zbývá vstupů. A taky přehled pro trenéry – kolik hodin odtrénovali. A možná by bylo fajn vyexportovat měsíční report do souboru, třeba CSV.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457200" y="4453200"/>
            <a:ext cx="72720" cy="776880"/>
          </a:xfrm>
          <a:prstGeom prst="rect">
            <a:avLst/>
          </a:prstGeom>
          <a:solidFill>
            <a:srgbClr val="2ecc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4"/>
          <p:cNvSpPr/>
          <p:nvPr/>
        </p:nvSpPr>
        <p:spPr>
          <a:xfrm>
            <a:off x="685800" y="44532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ecc71"/>
                </a:solidFill>
                <a:latin typeface="Calibri"/>
                <a:ea typeface="Calibri"/>
              </a:rPr>
              <a:t>Vy: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685800" y="46818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A co se stane, když si člen zarezervuje trénink a nepřijde?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457200" y="5303520"/>
            <a:ext cx="72720" cy="95976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17"/>
          <p:cNvSpPr/>
          <p:nvPr/>
        </p:nvSpPr>
        <p:spPr>
          <a:xfrm>
            <a:off x="685800" y="53035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Klient: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685800" y="553212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Dobrá otázka! Vstup se mu počítá, i když nepřijde – to je u nás pravidlo. Ale chtěl bych to vidět – rozlišit, jestli přišel nebo ne. A ještě mě napadlo – když je trénink skupinový a je plný, tak by to mělo jít na čekací listinu.</a:t>
            </a:r>
            <a:endParaRPr b="0" lang="cs-CZ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Trebuchet MS"/>
                <a:ea typeface="Trebuchet MS"/>
              </a:rPr>
              <a:t>Vaše úlohy</a:t>
            </a:r>
            <a:endParaRPr b="0" lang="cs-CZ" sz="2800" spc="-1" strike="noStrike"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548640" y="109728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2"/>
          <p:cNvSpPr/>
          <p:nvPr/>
        </p:nvSpPr>
        <p:spPr>
          <a:xfrm>
            <a:off x="548640" y="109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cs-CZ" sz="1800" spc="-1" strike="noStrike"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1188720" y="10058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Analýza rozhovoru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1188720" y="1325880"/>
            <a:ext cx="6583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Podtrhněte v textu: podstatná jména, slovesa, přídavná jména, číslovky a omezení. Použijte barevné odlišení.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7863840" y="1143000"/>
            <a:ext cx="822600" cy="365400"/>
          </a:xfrm>
          <a:prstGeom prst="rect">
            <a:avLst/>
          </a:prstGeom>
          <a:solidFill>
            <a:srgbClr val="f0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6"/>
          <p:cNvSpPr/>
          <p:nvPr/>
        </p:nvSpPr>
        <p:spPr>
          <a:xfrm>
            <a:off x="7863840" y="114300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10 min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548640" y="205740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8"/>
          <p:cNvSpPr/>
          <p:nvPr/>
        </p:nvSpPr>
        <p:spPr>
          <a:xfrm>
            <a:off x="548640" y="20574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cs-CZ" sz="1800" spc="-1" strike="noStrike"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1188720" y="19659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Návrh tříd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1188720" y="2286000"/>
            <a:ext cx="6583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Z analýzy vytvořte seznam tříd. Pro každou třídu vypište: název, atributy (s datovými typy) a metody (s parametry a návratovými typy).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7863840" y="2103120"/>
            <a:ext cx="822600" cy="365400"/>
          </a:xfrm>
          <a:prstGeom prst="rect">
            <a:avLst/>
          </a:prstGeom>
          <a:solidFill>
            <a:srgbClr val="f0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12"/>
          <p:cNvSpPr/>
          <p:nvPr/>
        </p:nvSpPr>
        <p:spPr>
          <a:xfrm>
            <a:off x="7863840" y="210312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15 min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548640" y="30175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4"/>
          <p:cNvSpPr/>
          <p:nvPr/>
        </p:nvSpPr>
        <p:spPr>
          <a:xfrm>
            <a:off x="548640" y="3017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cs-CZ" sz="1800" spc="-1" strike="noStrike"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1188720" y="29260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Vztahy mezi třídami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1188720" y="3246120"/>
            <a:ext cx="6583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Nakreslete diagram vztahů: kdo koho zná? Kde je dědičnost? Kde je kompozice (třída obsahuje jinou třídu)?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7863840" y="3063240"/>
            <a:ext cx="822600" cy="365400"/>
          </a:xfrm>
          <a:prstGeom prst="rect">
            <a:avLst/>
          </a:prstGeom>
          <a:solidFill>
            <a:srgbClr val="f0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8"/>
          <p:cNvSpPr/>
          <p:nvPr/>
        </p:nvSpPr>
        <p:spPr>
          <a:xfrm>
            <a:off x="7863840" y="306324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10 min</a:t>
            </a:r>
            <a:endParaRPr b="0" lang="cs-CZ" sz="1100" spc="-1" strike="noStrike">
              <a:latin typeface="Arial"/>
            </a:endParaRPr>
          </a:p>
        </p:txBody>
      </p:sp>
      <p:sp>
        <p:nvSpPr>
          <p:cNvPr id="240" name="Shape 19"/>
          <p:cNvSpPr/>
          <p:nvPr/>
        </p:nvSpPr>
        <p:spPr>
          <a:xfrm>
            <a:off x="548640" y="397764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0"/>
          <p:cNvSpPr/>
          <p:nvPr/>
        </p:nvSpPr>
        <p:spPr>
          <a:xfrm>
            <a:off x="548640" y="3977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cs-CZ" sz="1800" spc="-1" strike="noStrike"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1188720" y="3886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libri"/>
                <a:ea typeface="Calibri"/>
              </a:rPr>
              <a:t>Otázky pro klienta</a:t>
            </a:r>
            <a:endParaRPr b="0" lang="cs-CZ" sz="1500" spc="-1" strike="noStrike"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1188720" y="4206240"/>
            <a:ext cx="6583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9b"/>
                </a:solidFill>
                <a:latin typeface="Calibri"/>
                <a:ea typeface="Calibri"/>
              </a:rPr>
              <a:t>Co v rozhovoru chybí? Jaké informace vám klient neřekl, ale potřebujete je znát pro implementaci? Napište min. 3 otázky.</a:t>
            </a:r>
            <a:endParaRPr b="0" lang="cs-CZ" sz="1200" spc="-1" strike="noStrike"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7863840" y="4023360"/>
            <a:ext cx="822600" cy="365400"/>
          </a:xfrm>
          <a:prstGeom prst="rect">
            <a:avLst/>
          </a:prstGeom>
          <a:solidFill>
            <a:srgbClr val="f0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24"/>
          <p:cNvSpPr/>
          <p:nvPr/>
        </p:nvSpPr>
        <p:spPr>
          <a:xfrm>
            <a:off x="7863840" y="4023360"/>
            <a:ext cx="82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  <a:ea typeface="Calibri"/>
              </a:rPr>
              <a:t>5 min</a:t>
            </a:r>
            <a:endParaRPr b="0" lang="cs-CZ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e2761"/>
                </a:solidFill>
                <a:latin typeface="Trebuchet MS"/>
                <a:ea typeface="Trebuchet MS"/>
              </a:rPr>
              <a:t>Vodítka pro návrh</a:t>
            </a:r>
            <a:endParaRPr b="0" lang="cs-CZ" sz="2800" spc="-1" strike="noStrike"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7f8c9b"/>
                </a:solidFill>
                <a:latin typeface="Calibri"/>
                <a:ea typeface="Calibri"/>
              </a:rPr>
              <a:t>Otázky, které si při návrhu pokládejte: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457200" y="12801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a90d9"/>
                </a:solidFill>
                <a:latin typeface="Calibri"/>
                <a:ea typeface="Calibri"/>
              </a:rPr>
              <a:t>1.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914400" y="128016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Kdo jsou aktéři v systému? (kdo systém používá, kdo v něm figuruje)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457200" y="17190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a90d9"/>
                </a:solidFill>
                <a:latin typeface="Calibri"/>
                <a:ea typeface="Calibri"/>
              </a:rPr>
              <a:t>2.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914400" y="17190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Jaké věci systém eviduje? (to jsou kandidáti na třídy)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457200" y="2157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a90d9"/>
                </a:solidFill>
                <a:latin typeface="Calibri"/>
                <a:ea typeface="Calibri"/>
              </a:rPr>
              <a:t>3.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253" name="Text 7"/>
          <p:cNvSpPr/>
          <p:nvPr/>
        </p:nvSpPr>
        <p:spPr>
          <a:xfrm>
            <a:off x="914400" y="215784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Co mají tyto věci společného? (to je kandidát na dědičnost nebo rozhraní)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457200" y="2597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a90d9"/>
                </a:solidFill>
                <a:latin typeface="Calibri"/>
                <a:ea typeface="Calibri"/>
              </a:rPr>
              <a:t>4.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914400" y="259704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Co se s každou věcí dá dělat? (to jsou metody)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457200" y="30358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a90d9"/>
                </a:solidFill>
                <a:latin typeface="Calibri"/>
                <a:ea typeface="Calibri"/>
              </a:rPr>
              <a:t>5.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914400" y="303588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Jaká data si musím o každé věci pamatovat? (to jsou atributy)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457200" y="3474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a90d9"/>
                </a:solidFill>
                <a:latin typeface="Calibri"/>
                <a:ea typeface="Calibri"/>
              </a:rPr>
              <a:t>6.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914400" y="34747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Kde jsou omezení a pravidla? (to je validační logika)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457200" y="39135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a90d9"/>
                </a:solidFill>
                <a:latin typeface="Calibri"/>
                <a:ea typeface="Calibri"/>
              </a:rPr>
              <a:t>7.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914400" y="391356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Která třída vlastní kterou? (člen má výpůjčky, ne naopak)</a:t>
            </a:r>
            <a:endParaRPr b="0" lang="cs-CZ" sz="1300" spc="-1" strike="noStrike"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457200" y="43524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a90d9"/>
                </a:solidFill>
                <a:latin typeface="Calibri"/>
                <a:ea typeface="Calibri"/>
              </a:rPr>
              <a:t>8.</a:t>
            </a:r>
            <a:endParaRPr b="0" lang="cs-CZ" sz="1400" spc="-1" strike="noStrike"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914400" y="43524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Umím každou třídu popsat jednou větou? (pokud ne, rozděl ji)</a:t>
            </a:r>
            <a:endParaRPr b="0" lang="cs-CZ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rebuchet MS"/>
                <a:ea typeface="Trebuchet MS"/>
              </a:rPr>
              <a:t>Co si odnášíme</a:t>
            </a:r>
            <a:endParaRPr b="0" lang="cs-CZ" sz="3200" spc="-1" strike="noStrike">
              <a:latin typeface="Arial"/>
            </a:endParaRPr>
          </a:p>
        </p:txBody>
      </p:sp>
      <p:pic>
        <p:nvPicPr>
          <p:cNvPr id="265" name="Image 0" descr="preencoded.png"/>
          <p:cNvPicPr/>
          <p:nvPr/>
        </p:nvPicPr>
        <p:blipFill>
          <a:blip r:embed="rId1"/>
          <a:stretch/>
        </p:blipFill>
        <p:spPr>
          <a:xfrm>
            <a:off x="548640" y="141732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266" name="Text 1"/>
          <p:cNvSpPr/>
          <p:nvPr/>
        </p:nvSpPr>
        <p:spPr>
          <a:xfrm>
            <a:off x="1051560" y="137160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Zadání nikdy nepřijde čisté – musíte ho analyzovat</a:t>
            </a:r>
            <a:endParaRPr b="0" lang="cs-CZ" sz="1600" spc="-1" strike="noStrike">
              <a:latin typeface="Arial"/>
            </a:endParaRPr>
          </a:p>
        </p:txBody>
      </p:sp>
      <p:pic>
        <p:nvPicPr>
          <p:cNvPr id="267" name="Image 1" descr="preencoded.png"/>
          <p:cNvPicPr/>
          <p:nvPr/>
        </p:nvPicPr>
        <p:blipFill>
          <a:blip r:embed="rId2"/>
          <a:stretch/>
        </p:blipFill>
        <p:spPr>
          <a:xfrm>
            <a:off x="548640" y="20574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268" name="Text 2"/>
          <p:cNvSpPr/>
          <p:nvPr/>
        </p:nvSpPr>
        <p:spPr>
          <a:xfrm>
            <a:off x="1051560" y="201168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Podstatná jména = třídy, slovesa = metody</a:t>
            </a:r>
            <a:endParaRPr b="0" lang="cs-CZ" sz="1600" spc="-1" strike="noStrike">
              <a:latin typeface="Arial"/>
            </a:endParaRPr>
          </a:p>
        </p:txBody>
      </p:sp>
      <p:pic>
        <p:nvPicPr>
          <p:cNvPr id="269" name="Image 2" descr="preencoded.png"/>
          <p:cNvPicPr/>
          <p:nvPr/>
        </p:nvPicPr>
        <p:blipFill>
          <a:blip r:embed="rId3"/>
          <a:stretch/>
        </p:blipFill>
        <p:spPr>
          <a:xfrm>
            <a:off x="548640" y="269748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270" name="Text 3"/>
          <p:cNvSpPr/>
          <p:nvPr/>
        </p:nvSpPr>
        <p:spPr>
          <a:xfrm>
            <a:off x="1051560" y="265176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Dekompozice shora dolů i zdola nahoru jsou komplementární</a:t>
            </a:r>
            <a:endParaRPr b="0" lang="cs-CZ" sz="1600" spc="-1" strike="noStrike">
              <a:latin typeface="Arial"/>
            </a:endParaRPr>
          </a:p>
        </p:txBody>
      </p:sp>
      <p:pic>
        <p:nvPicPr>
          <p:cNvPr id="271" name="Image 3" descr="preencoded.png"/>
          <p:cNvPicPr/>
          <p:nvPr/>
        </p:nvPicPr>
        <p:blipFill>
          <a:blip r:embed="rId4"/>
          <a:stretch/>
        </p:blipFill>
        <p:spPr>
          <a:xfrm>
            <a:off x="548640" y="333756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272" name="Text 4"/>
          <p:cNvSpPr/>
          <p:nvPr/>
        </p:nvSpPr>
        <p:spPr>
          <a:xfrm>
            <a:off x="1051560" y="329184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Jedna třída = jeden důvod ke změně</a:t>
            </a:r>
            <a:endParaRPr b="0" lang="cs-CZ" sz="1600" spc="-1" strike="noStrike">
              <a:latin typeface="Arial"/>
            </a:endParaRPr>
          </a:p>
        </p:txBody>
      </p:sp>
      <p:pic>
        <p:nvPicPr>
          <p:cNvPr id="273" name="Image 4" descr="preencoded.png"/>
          <p:cNvPicPr/>
          <p:nvPr/>
        </p:nvPicPr>
        <p:blipFill>
          <a:blip r:embed="rId5"/>
          <a:stretch/>
        </p:blipFill>
        <p:spPr>
          <a:xfrm>
            <a:off x="548640" y="397764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274" name="Text 5"/>
          <p:cNvSpPr/>
          <p:nvPr/>
        </p:nvSpPr>
        <p:spPr>
          <a:xfrm>
            <a:off x="1051560" y="3931920"/>
            <a:ext cx="7589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cadcfc"/>
                </a:solidFill>
                <a:latin typeface="Calibri"/>
                <a:ea typeface="Calibri"/>
              </a:rPr>
              <a:t>Ptejte se na to, co klient neřekl – tam bývají největší problémy</a:t>
            </a:r>
            <a:endParaRPr b="0" lang="cs-CZ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2026-04-20T04:56:11Z</dcterms:created>
  <dc:creator>Programovani</dc:creator>
  <dc:description/>
  <dc:language>cs-CZ</dc:language>
  <cp:lastModifiedBy/>
  <dcterms:modified xsi:type="dcterms:W3CDTF">2026-04-20T07:01:42Z</dcterms:modified>
  <cp:revision>2</cp:revision>
  <dc:subject>PptxGenJS Presentation</dc:subject>
  <dc:title>Dekompozice problemu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